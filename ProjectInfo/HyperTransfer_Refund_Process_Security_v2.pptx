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b663ebdc9b46c3" /><Relationship Type="http://schemas.openxmlformats.org/officeDocument/2006/relationships/extended-properties" Target="/docProps/app.xml" Id="Re3a86b06953b4a97" /><Relationship Type="http://schemas.openxmlformats.org/officeDocument/2006/relationships/officeDocument" Target="/ppt/presentation.xml" Id="R4171913cf17c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57c2a2ad634ab4"/>
  </p:sldMasterIdLst>
  <p:notesMasterIdLst>
    <p:notesMasterId xmlns:r="http://schemas.openxmlformats.org/officeDocument/2006/relationships" r:id="Rec166ed0a745480e"/>
  </p:notesMasterIdLst>
  <p:sldIdLst>
    <p:sldId xmlns:r="http://schemas.openxmlformats.org/officeDocument/2006/relationships" id="256" r:id="Rce566406cf2341d7"/>
    <p:sldId xmlns:r="http://schemas.openxmlformats.org/officeDocument/2006/relationships" id="257" r:id="R6eab6b69fd4e4e62"/>
    <p:sldId xmlns:r="http://schemas.openxmlformats.org/officeDocument/2006/relationships" id="258" r:id="R229a869bd6c74769"/>
    <p:sldId xmlns:r="http://schemas.openxmlformats.org/officeDocument/2006/relationships" id="259" r:id="Rdb4bf33f17d64e24"/>
    <p:sldId xmlns:r="http://schemas.openxmlformats.org/officeDocument/2006/relationships" id="260" r:id="Re27af10f5afe40b6"/>
    <p:sldId xmlns:r="http://schemas.openxmlformats.org/officeDocument/2006/relationships" id="261" r:id="R9a07751fafb44a7b"/>
    <p:sldId xmlns:r="http://schemas.openxmlformats.org/officeDocument/2006/relationships" id="262" r:id="Rf961c5ed2b7c49d3"/>
    <p:sldId xmlns:r="http://schemas.openxmlformats.org/officeDocument/2006/relationships" id="263" r:id="Rece5aa4e6ab648d6"/>
    <p:sldId xmlns:r="http://schemas.openxmlformats.org/officeDocument/2006/relationships" id="264" r:id="Rf3ca495e1dd743b0"/>
    <p:sldId xmlns:r="http://schemas.openxmlformats.org/officeDocument/2006/relationships" id="265" r:id="R510ea49b2704404a"/>
    <p:sldId xmlns:r="http://schemas.openxmlformats.org/officeDocument/2006/relationships" id="266" r:id="R63acfc5f706048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d665b1bc3d4bbf" /><Relationship Type="http://schemas.openxmlformats.org/officeDocument/2006/relationships/slideMaster" Target="/ppt/slideMasters/slideMaster1.xml" Id="R5557c2a2ad634ab4" /><Relationship Type="http://schemas.openxmlformats.org/officeDocument/2006/relationships/notesMaster" Target="/ppt/notesMasters/notesMaster1.xml" Id="Rec166ed0a745480e" /><Relationship Type="http://schemas.openxmlformats.org/officeDocument/2006/relationships/presProps" Target="/ppt/presProps.xml" Id="R3b5f1490d25646a0" /><Relationship Type="http://schemas.openxmlformats.org/officeDocument/2006/relationships/tableStyles" Target="/ppt/tableStyles.xml" Id="R4a770b5c1a2a4c75" /><Relationship Type="http://schemas.openxmlformats.org/officeDocument/2006/relationships/slide" Target="/ppt/slides/slide1.xml" Id="Rce566406cf2341d7" /><Relationship Type="http://schemas.openxmlformats.org/officeDocument/2006/relationships/slide" Target="/ppt/slides/slide2.xml" Id="R6eab6b69fd4e4e62" /><Relationship Type="http://schemas.openxmlformats.org/officeDocument/2006/relationships/slide" Target="/ppt/slides/slide3.xml" Id="R229a869bd6c74769" /><Relationship Type="http://schemas.openxmlformats.org/officeDocument/2006/relationships/slide" Target="/ppt/slides/slide4.xml" Id="Rdb4bf33f17d64e24" /><Relationship Type="http://schemas.openxmlformats.org/officeDocument/2006/relationships/slide" Target="/ppt/slides/slide5.xml" Id="Re27af10f5afe40b6" /><Relationship Type="http://schemas.openxmlformats.org/officeDocument/2006/relationships/slide" Target="/ppt/slides/slide6.xml" Id="R9a07751fafb44a7b" /><Relationship Type="http://schemas.openxmlformats.org/officeDocument/2006/relationships/slide" Target="/ppt/slides/slide7.xml" Id="Rf961c5ed2b7c49d3" /><Relationship Type="http://schemas.openxmlformats.org/officeDocument/2006/relationships/slide" Target="/ppt/slides/slide8.xml" Id="Rece5aa4e6ab648d6" /><Relationship Type="http://schemas.openxmlformats.org/officeDocument/2006/relationships/slide" Target="/ppt/slides/slide9.xml" Id="Rf3ca495e1dd743b0" /><Relationship Type="http://schemas.openxmlformats.org/officeDocument/2006/relationships/slide" Target="/ppt/slides/slide10.xml" Id="R510ea49b2704404a" /><Relationship Type="http://schemas.openxmlformats.org/officeDocument/2006/relationships/slide" Target="/ppt/slides/slide11.xml" Id="R63acfc5f706048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f62f5d463441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b2dff49ab64143" /><Relationship Type="http://schemas.openxmlformats.org/officeDocument/2006/relationships/notesMaster" Target="/ppt/notesMasters/notesMaster1.xml" Id="Rddc13372b2684e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0df82ceed84409" /><Relationship Type="http://schemas.openxmlformats.org/officeDocument/2006/relationships/notesMaster" Target="/ppt/notesMasters/notesMaster1.xml" Id="Rdc57285a101e46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bdffba449e4708" /><Relationship Type="http://schemas.openxmlformats.org/officeDocument/2006/relationships/notesMaster" Target="/ppt/notesMasters/notesMaster1.xml" Id="R8b699f3e6bdf48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01b23dd5df4036" /><Relationship Type="http://schemas.openxmlformats.org/officeDocument/2006/relationships/notesMaster" Target="/ppt/notesMasters/notesMaster1.xml" Id="Rd3cbfcf9536645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2e49a1187e4002" /><Relationship Type="http://schemas.openxmlformats.org/officeDocument/2006/relationships/notesMaster" Target="/ppt/notesMasters/notesMaster1.xml" Id="Racc1f990938540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f7e515cc42461b" /><Relationship Type="http://schemas.openxmlformats.org/officeDocument/2006/relationships/notesMaster" Target="/ppt/notesMasters/notesMaster1.xml" Id="R1c02b5473a1e41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742166ab874b5d" /><Relationship Type="http://schemas.openxmlformats.org/officeDocument/2006/relationships/notesMaster" Target="/ppt/notesMasters/notesMaster1.xml" Id="R5f976e1534dc48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672fb2544847a4" /><Relationship Type="http://schemas.openxmlformats.org/officeDocument/2006/relationships/notesMaster" Target="/ppt/notesMasters/notesMaster1.xml" Id="R180b3d2479db4a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0f123db1a0454d" /><Relationship Type="http://schemas.openxmlformats.org/officeDocument/2006/relationships/notesMaster" Target="/ppt/notesMasters/notesMaster1.xml" Id="Rff6b4f40776544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43102b2c0e4c34" /><Relationship Type="http://schemas.openxmlformats.org/officeDocument/2006/relationships/notesMaster" Target="/ppt/notesMasters/notesMaster1.xml" Id="R1c692df241e641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be7bc13c9d4423" /><Relationship Type="http://schemas.openxmlformats.org/officeDocument/2006/relationships/notesMaster" Target="/ppt/notesMasters/notesMaster1.xml" Id="Rb733341c8c6446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dd02241a243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fc2111effe47e3" /><Relationship Type="http://schemas.openxmlformats.org/officeDocument/2006/relationships/slideLayout" Target="/ppt/slideLayouts/slideLayout1.xml" Id="R5459e6bd84bb45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59e6bd84bb45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0d83c29ee45a3" /><Relationship Type="http://schemas.openxmlformats.org/officeDocument/2006/relationships/notesSlide" Target="/ppt/notesSlides/notesSlide1.xml" Id="R611aa1fa4c3c4e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9eceeca8049b0" /><Relationship Type="http://schemas.openxmlformats.org/officeDocument/2006/relationships/notesSlide" Target="/ppt/notesSlides/notesSlide2.xml" Id="Rc25838f0145940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02e9e56ca4f4b" /><Relationship Type="http://schemas.openxmlformats.org/officeDocument/2006/relationships/notesSlide" Target="/ppt/notesSlides/notesSlide3.xml" Id="Rc95fcea232b344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1d21bf3ef4d03" /><Relationship Type="http://schemas.openxmlformats.org/officeDocument/2006/relationships/notesSlide" Target="/ppt/notesSlides/notesSlide4.xml" Id="R59ee8c943fed4f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74ec6119d4b96" /><Relationship Type="http://schemas.openxmlformats.org/officeDocument/2006/relationships/notesSlide" Target="/ppt/notesSlides/notesSlide5.xml" Id="R45c1cf15271248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c85722c8844b7" /><Relationship Type="http://schemas.openxmlformats.org/officeDocument/2006/relationships/notesSlide" Target="/ppt/notesSlides/notesSlide6.xml" Id="R8f0097c8b3a44a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656b90c874163" /><Relationship Type="http://schemas.openxmlformats.org/officeDocument/2006/relationships/notesSlide" Target="/ppt/notesSlides/notesSlide7.xml" Id="R8dadcfd4a96d4f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8477b3af742a6" /><Relationship Type="http://schemas.openxmlformats.org/officeDocument/2006/relationships/notesSlide" Target="/ppt/notesSlides/notesSlide8.xml" Id="R1feb0471e51c4e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b710c92544a3d" /><Relationship Type="http://schemas.openxmlformats.org/officeDocument/2006/relationships/notesSlide" Target="/ppt/notesSlides/notesSlide9.xml" Id="Rb64eb0916a5e46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1c32d9dcf4573" /><Relationship Type="http://schemas.openxmlformats.org/officeDocument/2006/relationships/notesSlide" Target="/ppt/notesSlides/notesSlide10.xml" Id="R12af5ba9b3d54e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6fe9689344106" /><Relationship Type="http://schemas.openxmlformats.org/officeDocument/2006/relationships/notesSlide" Target="/ppt/notesSlides/notesSlide11.xml" Id="R520be99d054b4f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ABE99A-A35A-4A86-B506-23ED6F1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66514-5F49-4856-B7BD-E8ACA608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C0774-7F60-4C9F-BC99-3ACEE0A6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C8EFC-6437-4822-B1A9-3AD0E01A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6A53A"/>
                </a:solidFill>
              </a:defRPr>
            </a:pPr>
            <a:r>
              <a:rPr sz="1950" b="1">
                <a:solidFill>
                  <a:srgbClr val="D6A53A"/>
                </a:solidFill>
              </a:rPr>
              <a:t>HyperTransfer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9AB21-5338-424E-A2F4-B786D892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8E9"/>
                </a:solidFill>
              </a:defRPr>
            </a:pPr>
            <a:r>
              <a:rPr sz="4350" b="1">
                <a:solidFill>
                  <a:srgbClr val="FFF8E9"/>
                </a:solidFill>
              </a:rPr>
              <a:t>Refund Process</a:t>
            </a:r>
          </a:p>
          <a:p xmlns:a="http://schemas.openxmlformats.org/drawingml/2006/main">
            <a:pPr>
              <a:defRPr sz="4350" b="1">
                <a:solidFill>
                  <a:srgbClr val="FFF8E9"/>
                </a:solidFill>
              </a:defRPr>
            </a:pPr>
            <a:r>
              <a:rPr sz="4350" b="1">
                <a:solidFill>
                  <a:srgbClr val="FFF8E9"/>
                </a:solidFill>
              </a:rPr>
              <a:t>Security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F672A-7FFA-4380-AA5F-97E613C0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5CBB8"/>
                </a:solidFill>
              </a:defRPr>
            </a:pPr>
            <a:r>
              <a:rPr sz="1800" b="0">
                <a:solidFill>
                  <a:srgbClr val="D5CBB8"/>
                </a:solidFill>
              </a:rPr>
              <a:t>Client-ready security flow for Phase 1 stablecoin refunds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1DD31-E958-4E26-8EA1-C9673D2F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C2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CFACF-15C1-4C23-8C40-4256634E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AF0B0"/>
                </a:solidFill>
              </a:defRPr>
            </a:pPr>
            <a:r>
              <a:rPr sz="1200" b="1">
                <a:solidFill>
                  <a:srgbClr val="7AF0B0"/>
                </a:solidFill>
              </a:rPr>
              <a:t>USDT / USDC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578FB-EC26-484F-84F3-B803F402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B40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91612-E543-4123-AAAF-B4B719E7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43350"/>
            <a:ext cx="2209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7EDF0"/>
                </a:solidFill>
              </a:defRPr>
            </a:pPr>
            <a:r>
              <a:rPr sz="1200" b="1">
                <a:solidFill>
                  <a:srgbClr val="87EDF0"/>
                </a:solidFill>
              </a:rPr>
              <a:t>ERC-20 / TRC-20 rails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A7680-7470-4F6A-B804-D1BBFE85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71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2C10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77A9D-BA44-455D-A1D5-32B1875B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433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C660"/>
                </a:solidFill>
              </a:defRPr>
            </a:pPr>
            <a:r>
              <a:rPr sz="1200" b="1">
                <a:solidFill>
                  <a:srgbClr val="F3C660"/>
                </a:solidFill>
              </a:rPr>
              <a:t>Controlled payout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31CB5-9BC4-4159-83EE-1AFB338C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3429000" cy="3667125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8E9"/>
          </a:solidFill>
          <a:ln xmlns:a="http://schemas.openxmlformats.org/drawingml/2006/main" w="9525">
            <a:solidFill>
              <a:srgbClr val="5B4C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D6EFB-D2FC-4583-9AE8-0E648F20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512"/>
                </a:solidFill>
              </a:defRPr>
            </a:pPr>
            <a:r>
              <a:rPr sz="2100" b="1">
                <a:solidFill>
                  <a:srgbClr val="171512"/>
                </a:solidFill>
              </a:rPr>
              <a:t>Core stance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C334C-8A2E-4A4C-A575-56C48E05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5A50"/>
                </a:solidFill>
              </a:defRPr>
            </a:pPr>
            <a:r>
              <a:rPr sz="1425" b="0">
                <a:solidFill>
                  <a:srgbClr val="5F5A50"/>
                </a:solidFill>
              </a:rPr>
              <a:t>A refund is not a blockchain reversal.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5F5A50"/>
                </a:solidFill>
              </a:defRPr>
            </a:pPr>
            <a:r>
              <a:rPr sz="1425" b="0">
                <a:solidFill>
                  <a:srgbClr val="5F5A50"/>
                </a:solidFill>
              </a:rPr>
              <a:t>It is a controlled custody payout gated by customer-confirmed destination, KYT, staff approval, Hex Safe execution, and reconciliation.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8DFAA-66F0-4BA5-8866-D29ED631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58B7D"/>
                </a:solidFill>
              </a:defRPr>
            </a:pPr>
            <a:r>
              <a:rPr sz="1200" b="0">
                <a:solidFill>
                  <a:srgbClr val="958B7D"/>
                </a:solidFill>
              </a:rPr>
              <a:t>2026-06-21 · v2</a:t>
            </a:r>
          </a:p>
        </p:txBody>
      </p:sp>
    </p:spTree>
    <p:extLst>
      <p:ext uri="{BB962C8B-B14F-4D97-AF65-F5344CB8AC3E}">
        <p14:creationId xmlns:p14="http://schemas.microsoft.com/office/powerpoint/2010/main" val="1992615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6E2891-3D3A-4650-84F1-7E3B6D10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5333E-D602-4F52-88AE-4621AAD4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63A58-4C9D-401D-A629-091FD656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275BD-4B20-4982-B6D3-E583160F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A53A"/>
                </a:solidFill>
              </a:defRPr>
            </a:pPr>
            <a:r>
              <a:rPr sz="1200" b="1">
                <a:solidFill>
                  <a:srgbClr val="D6A53A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A4FC5-BDD4-400D-B9C2-C19D6641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1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9488"/>
                </a:solidFill>
              </a:defRPr>
            </a:pPr>
            <a:r>
              <a:rPr sz="1200" b="1">
                <a:solidFill>
                  <a:srgbClr val="9C948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09900-4685-4369-A28B-2C4D8937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512"/>
                </a:solidFill>
              </a:defRPr>
            </a:pPr>
            <a:r>
              <a:rPr sz="3150" b="1">
                <a:solidFill>
                  <a:srgbClr val="171512"/>
                </a:solidFill>
              </a:rPr>
              <a:t>Security 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A9953-92AA-4AF6-B948-EC969A5C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0"/>
                </a:solidFill>
              </a:defRPr>
            </a:pPr>
            <a:r>
              <a:rPr sz="1500" b="0">
                <a:solidFill>
                  <a:srgbClr val="5F5A50"/>
                </a:solidFill>
              </a:rPr>
              <a:t>A refund is handled as an outbound value-transfer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57745-C587-4545-8008-3B886A69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476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A3648-A35B-49E8-81E7-28A22A1D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4949"/>
                </a:solidFill>
              </a:defRPr>
            </a:pPr>
            <a:r>
              <a:rPr sz="1350" b="1">
                <a:solidFill>
                  <a:srgbClr val="B94949"/>
                </a:solidFill>
              </a:rPr>
              <a:t>No blind reversal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AE4D7-6A11-4901-A615-53FE0851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512"/>
                </a:solidFill>
              </a:defRPr>
            </a:pPr>
            <a:r>
              <a:rPr sz="1350" b="0">
                <a:solidFill>
                  <a:srgbClr val="171512"/>
                </a:solidFill>
              </a:rPr>
              <a:t>Do not auto-return to source address; exchange pooled wallets can break attribution.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CCDC4-8DAF-4FD7-B618-FC36518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2476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BDADC-629D-4AE7-8393-1D74332F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E86"/>
                </a:solidFill>
              </a:defRPr>
            </a:pPr>
            <a:r>
              <a:rPr sz="1350" b="1">
                <a:solidFill>
                  <a:srgbClr val="007E86"/>
                </a:solidFill>
              </a:rPr>
              <a:t>Verified destination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2F76B-DF0C-49B8-9A6C-D83BF076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512"/>
                </a:solidFill>
              </a:defRPr>
            </a:pPr>
            <a:r>
              <a:rPr sz="1350" b="0">
                <a:solidFill>
                  <a:srgbClr val="171512"/>
                </a:solidFill>
              </a:rPr>
              <a:t>Customer must confirm the refund wallet in an authenticated 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7A5C5-7E78-46C2-87FE-2258A277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2476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C4762-700A-4361-897F-D7FD6492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5F9E"/>
                </a:solidFill>
              </a:defRPr>
            </a:pPr>
            <a:r>
              <a:rPr sz="1350" b="1">
                <a:solidFill>
                  <a:srgbClr val="265F9E"/>
                </a:solidFill>
              </a:rPr>
              <a:t>KYT before 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C6214-3081-4B4D-BF74-1FB28F73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512"/>
                </a:solidFill>
              </a:defRPr>
            </a:pPr>
            <a:r>
              <a:rPr sz="1350" b="0">
                <a:solidFill>
                  <a:srgbClr val="171512"/>
                </a:solidFill>
              </a:rPr>
              <a:t>Destination wallet risk is screened before treasury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5AF52-FD03-4532-B76D-4A8E0F4B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05000"/>
            <a:ext cx="2476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0B636-F76F-4043-BCCD-4485F3C7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D8F23"/>
                </a:solidFill>
              </a:defRPr>
            </a:pPr>
            <a:r>
              <a:rPr sz="1350" b="1">
                <a:solidFill>
                  <a:srgbClr val="BD8F23"/>
                </a:solidFill>
              </a:rPr>
              <a:t>Staff-controlled payout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00D22-C8CD-45CD-9C03-66A7F195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512"/>
                </a:solidFill>
              </a:defRPr>
            </a:pPr>
            <a:r>
              <a:rPr sz="1350" b="0">
                <a:solidFill>
                  <a:srgbClr val="171512"/>
                </a:solidFill>
              </a:rPr>
              <a:t>Treasury/compliance approve before custody transfer.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6B90C-7943-43E7-8DBE-388E71D5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0363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BD8F2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FCC59-896D-4F2E-96FD-C1FF2645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A53A"/>
                </a:solidFill>
              </a:defRPr>
            </a:pPr>
            <a:r>
              <a:rPr sz="1800" b="1">
                <a:solidFill>
                  <a:srgbClr val="D6A53A"/>
                </a:solidFill>
              </a:rPr>
              <a:t>Safe refund equation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BAC06-6AAF-4299-B523-5AEDE007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43425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8E9"/>
                </a:solidFill>
              </a:defRPr>
            </a:pPr>
            <a:r>
              <a:rPr sz="1425" b="1">
                <a:solidFill>
                  <a:srgbClr val="FFF8E9"/>
                </a:solidFill>
              </a:rPr>
              <a:t>eligible deposit + customer-confirmed destination + KYT pass + maker-checker approval + custody completion</a:t>
            </a:r>
          </a:p>
        </p:txBody>
      </p:sp>
    </p:spTree>
    <p:extLst>
      <p:ext uri="{BB962C8B-B14F-4D97-AF65-F5344CB8AC3E}">
        <p14:creationId xmlns:p14="http://schemas.microsoft.com/office/powerpoint/2010/main" val="1241037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609574-B9C9-4250-97D1-C42C5B1D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6793F-46C0-4B7A-BA76-313DBA0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0D195-1D59-4541-B4B0-C74E8732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9267D-7075-40E7-92FE-5E54ABFE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A53A"/>
                </a:solidFill>
              </a:defRPr>
            </a:pPr>
            <a:r>
              <a:rPr sz="1200" b="1">
                <a:solidFill>
                  <a:srgbClr val="D6A53A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06922-7429-40B5-9D14-6DAD1951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1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9488"/>
                </a:solidFill>
              </a:defRPr>
            </a:pPr>
            <a:r>
              <a:rPr sz="1200" b="1">
                <a:solidFill>
                  <a:srgbClr val="9C948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17344-035E-4E1C-93F0-E1967A95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512"/>
                </a:solidFill>
              </a:defRPr>
            </a:pPr>
            <a:r>
              <a:rPr sz="3150" b="1">
                <a:solidFill>
                  <a:srgbClr val="171512"/>
                </a:solidFill>
              </a:rPr>
              <a:t>End-to-end control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39788-A646-4FA6-8A6E-BA4D2BBA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0"/>
                </a:solidFill>
              </a:defRPr>
            </a:pPr>
            <a:r>
              <a:rPr sz="1500" b="0">
                <a:solidFill>
                  <a:srgbClr val="5F5A50"/>
                </a:solidFill>
              </a:rPr>
              <a:t>Nine gates from refund request to audit-ready closeout.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F52D6-949F-4317-91C4-A58BBAF8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8D6"/>
          </a:solidFill>
          <a:ln xmlns:a="http://schemas.openxmlformats.org/drawingml/2006/main" w="11430">
            <a:solidFill>
              <a:srgbClr val="BD8F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A59A5-1C75-4D46-A10F-3A4B0CC2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8F23"/>
                </a:solidFill>
              </a:defRPr>
            </a:pPr>
            <a:r>
              <a:rPr sz="1500" b="1">
                <a:solidFill>
                  <a:srgbClr val="BD8F23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75231-A12F-4AB4-A0B4-B9601E1E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335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512"/>
                </a:solidFill>
              </a:defRPr>
            </a:pPr>
            <a:r>
              <a:rPr sz="1350" b="1">
                <a:solidFill>
                  <a:srgbClr val="171512"/>
                </a:solidFill>
              </a:rPr>
              <a:t>Refund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FD980-A3B7-4A02-B7FB-EAD0DA62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5A50"/>
                </a:solidFill>
              </a:defRPr>
            </a:pPr>
            <a:r>
              <a:rPr sz="1050" b="0">
                <a:solidFill>
                  <a:srgbClr val="5F5A50"/>
                </a:solidFill>
              </a:rPr>
              <a:t>Customer H5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2BE21-469D-4D48-AEA2-F7D93557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002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F5A50"/>
                </a:solidFill>
              </a:defRPr>
            </a:pPr>
            <a:r>
              <a:rPr sz="1950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0E051-DB77-4124-9698-0046D738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14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8D6"/>
          </a:solidFill>
          <a:ln xmlns:a="http://schemas.openxmlformats.org/drawingml/2006/main" w="11430">
            <a:solidFill>
              <a:srgbClr val="BD8F2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01101-2778-4576-B3FA-D015B728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52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8F23"/>
                </a:solidFill>
              </a:defRPr>
            </a:pPr>
            <a:r>
              <a:rPr sz="1500" b="1">
                <a:solidFill>
                  <a:srgbClr val="BD8F2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64481-D167-489D-948E-3377D6D1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335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512"/>
                </a:solidFill>
              </a:defRPr>
            </a:pPr>
            <a:r>
              <a:rPr sz="1350" b="1">
                <a:solidFill>
                  <a:srgbClr val="171512"/>
                </a:solidFill>
              </a:rPr>
              <a:t>Eligibility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5F680-4AC9-44C6-9D74-EFA4186A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5A50"/>
                </a:solidFill>
              </a:defRPr>
            </a:pPr>
            <a:r>
              <a:rPr sz="1050" b="0">
                <a:solidFill>
                  <a:srgbClr val="5F5A50"/>
                </a:solidFill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F4504-4511-4FB0-905B-4B190A18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002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F5A50"/>
                </a:solidFill>
              </a:defRPr>
            </a:pPr>
            <a:r>
              <a:rPr sz="1950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8827E-181F-4F54-8425-5AE8D373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FEFF0"/>
          </a:solidFill>
          <a:ln xmlns:a="http://schemas.openxmlformats.org/drawingml/2006/main" w="11430">
            <a:solidFill>
              <a:srgbClr val="007E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63EB3-BF12-4CF4-8AE2-2A59A03D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E86"/>
                </a:solidFill>
              </a:defRPr>
            </a:pPr>
            <a:r>
              <a:rPr sz="1500" b="1">
                <a:solidFill>
                  <a:srgbClr val="007E86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B6477-2B17-46CF-86D8-830FE8EC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335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512"/>
                </a:solidFill>
              </a:defRPr>
            </a:pPr>
            <a:r>
              <a:rPr sz="1350" b="1">
                <a:solidFill>
                  <a:srgbClr val="171512"/>
                </a:solidFill>
              </a:rPr>
              <a:t>Address collection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8A5DD-C335-4E37-81FC-C0FD922B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5A50"/>
                </a:solidFill>
              </a:defRPr>
            </a:pPr>
            <a:r>
              <a:rPr sz="1050" b="0">
                <a:solidFill>
                  <a:srgbClr val="5F5A50"/>
                </a:solidFill>
              </a:rPr>
              <a:t>Customer H5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F6B7A-DC87-4D38-A534-056545A4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14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FEFF0"/>
          </a:solidFill>
          <a:ln xmlns:a="http://schemas.openxmlformats.org/drawingml/2006/main" w="11430">
            <a:solidFill>
              <a:srgbClr val="007E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9FE7F-2DBA-4D65-8189-7EB9056D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E86"/>
                </a:solidFill>
              </a:defRPr>
            </a:pPr>
            <a:r>
              <a:rPr sz="1500" b="1">
                <a:solidFill>
                  <a:srgbClr val="007E86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B2AE2-5A4A-46E4-9935-17C18A80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47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512"/>
                </a:solidFill>
              </a:defRPr>
            </a:pPr>
            <a:r>
              <a:rPr sz="1350" b="1">
                <a:solidFill>
                  <a:srgbClr val="171512"/>
                </a:solidFill>
              </a:rPr>
              <a:t>Format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3E30A5-1CDB-416E-9386-C0EFF07D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24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5A50"/>
                </a:solidFill>
              </a:defRPr>
            </a:pPr>
            <a:r>
              <a:rPr sz="1050" b="0">
                <a:solidFill>
                  <a:srgbClr val="5F5A50"/>
                </a:solidFill>
              </a:rPr>
              <a:t>Backend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C53B2-0ED8-4F8F-8B2F-F1405871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F5A50"/>
                </a:solidFill>
              </a:defRPr>
            </a:pPr>
            <a:r>
              <a:rPr sz="1950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7BE8F4-6663-42B1-BFE9-25FC62D9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314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2EBF6"/>
          </a:solidFill>
          <a:ln xmlns:a="http://schemas.openxmlformats.org/drawingml/2006/main" w="11430">
            <a:solidFill>
              <a:srgbClr val="265F9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CD282B-C8E6-46E3-9B62-2DB0DD4F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67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5F9E"/>
                </a:solidFill>
              </a:defRPr>
            </a:pPr>
            <a:r>
              <a:rPr sz="1500" b="1">
                <a:solidFill>
                  <a:srgbClr val="265F9E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CEB954-9D07-40A1-8B8C-2A4A5542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47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512"/>
                </a:solidFill>
              </a:defRPr>
            </a:pPr>
            <a:r>
              <a:rPr sz="1350" b="1">
                <a:solidFill>
                  <a:srgbClr val="171512"/>
                </a:solidFill>
              </a:rPr>
              <a:t>Destination KYT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7DB1E-EBB5-47E2-AD6E-829B8324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24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5A50"/>
                </a:solidFill>
              </a:defRPr>
            </a:pPr>
            <a:r>
              <a:rPr sz="1050" b="0">
                <a:solidFill>
                  <a:srgbClr val="5F5A50"/>
                </a:solidFill>
              </a:rPr>
              <a:t>Provider adapter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FBA883-CEAA-4ED2-8744-7EB6B19F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146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F5A50"/>
                </a:solidFill>
              </a:defRPr>
            </a:pPr>
            <a:r>
              <a:rPr sz="1950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4A0423-7642-44F7-B41F-FCC5ECEA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14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8D6"/>
          </a:solidFill>
          <a:ln xmlns:a="http://schemas.openxmlformats.org/drawingml/2006/main" w="11430">
            <a:solidFill>
              <a:srgbClr val="B16A1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572132-BB93-4602-A105-D3AD05EA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16A12"/>
                </a:solidFill>
              </a:defRPr>
            </a:pPr>
            <a:r>
              <a:rPr sz="1500" b="1">
                <a:solidFill>
                  <a:srgbClr val="B16A12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079B1E-EDAC-40C7-985A-6D3FAB91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47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512"/>
                </a:solidFill>
              </a:defRPr>
            </a:pPr>
            <a:r>
              <a:rPr sz="1350" b="1">
                <a:solidFill>
                  <a:srgbClr val="171512"/>
                </a:solidFill>
              </a:rPr>
              <a:t>Staff approval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C71C6B-F0CF-4029-B965-5B4DE8B3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5A50"/>
                </a:solidFill>
              </a:defRPr>
            </a:pPr>
            <a:r>
              <a:rPr sz="1050" b="0">
                <a:solidFill>
                  <a:srgbClr val="5F5A50"/>
                </a:solidFill>
              </a:rPr>
              <a:t>Casino Ops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0B30BD-A6CF-4D11-9FBC-DFE899AD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314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8D6"/>
          </a:solidFill>
          <a:ln xmlns:a="http://schemas.openxmlformats.org/drawingml/2006/main" w="11430">
            <a:solidFill>
              <a:srgbClr val="BD8F2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E18D42-5E89-4290-8528-2FE767B0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8F23"/>
                </a:solidFill>
              </a:defRPr>
            </a:pPr>
            <a:r>
              <a:rPr sz="1500" b="1">
                <a:solidFill>
                  <a:srgbClr val="BD8F23"/>
                </a:solidFill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DA8A5A-1B26-457A-A093-F6D0B668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62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512"/>
                </a:solidFill>
              </a:defRPr>
            </a:pPr>
            <a:r>
              <a:rPr sz="1350" b="1">
                <a:solidFill>
                  <a:srgbClr val="171512"/>
                </a:solidFill>
              </a:rPr>
              <a:t>Custody payout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A1F850-7CA6-4A59-A487-4530BF9B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38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5A50"/>
                </a:solidFill>
              </a:defRPr>
            </a:pPr>
            <a:r>
              <a:rPr sz="1050" b="0">
                <a:solidFill>
                  <a:srgbClr val="5F5A50"/>
                </a:solidFill>
              </a:rPr>
              <a:t>Hex Safe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243E05-1D06-4D07-BBAE-E22B8796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290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F5A50"/>
                </a:solidFill>
              </a:defRPr>
            </a:pPr>
            <a:r>
              <a:rPr sz="1950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B333EC-87F3-4D08-AC06-5A8B8032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14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2E7"/>
          </a:solidFill>
          <a:ln xmlns:a="http://schemas.openxmlformats.org/drawingml/2006/main" w="11430">
            <a:solidFill>
              <a:srgbClr val="157F4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CC031F-3FA8-42D0-B12C-ADF90CDF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81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7F4B"/>
                </a:solidFill>
              </a:defRPr>
            </a:pPr>
            <a:r>
              <a:rPr sz="1500" b="1">
                <a:solidFill>
                  <a:srgbClr val="157F4B"/>
                </a:solidFill>
              </a:rPr>
              <a:t>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8C1B63-E5BA-4B46-BEF4-3FB2840A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62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512"/>
                </a:solidFill>
              </a:defRPr>
            </a:pPr>
            <a:r>
              <a:rPr sz="1350" b="1">
                <a:solidFill>
                  <a:srgbClr val="171512"/>
                </a:solidFill>
              </a:rPr>
              <a:t>Webhook complete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955229-6F87-466F-948F-B6F25DB7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38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5A50"/>
                </a:solidFill>
              </a:defRPr>
            </a:pPr>
            <a:r>
              <a:rPr sz="1050" b="0">
                <a:solidFill>
                  <a:srgbClr val="5F5A50"/>
                </a:solidFill>
              </a:rPr>
              <a:t>Custody/API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16D4D5-5714-4553-9FAF-BA8CF55F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F5A50"/>
                </a:solidFill>
              </a:defRPr>
            </a:pPr>
            <a:r>
              <a:rPr sz="1950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A48ED0-5B4A-4E8B-AD55-8C3A9C69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314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2E7"/>
          </a:solidFill>
          <a:ln xmlns:a="http://schemas.openxmlformats.org/drawingml/2006/main" w="11430">
            <a:solidFill>
              <a:srgbClr val="157F4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D3CC4F-238D-4CFD-BE29-32EFA1C2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814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7F4B"/>
                </a:solidFill>
              </a:defRPr>
            </a:pPr>
            <a:r>
              <a:rPr sz="1500" b="1">
                <a:solidFill>
                  <a:srgbClr val="157F4B"/>
                </a:solidFill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B5F732-5DFD-4BC9-BAC7-3C9D5544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62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512"/>
                </a:solidFill>
              </a:defRPr>
            </a:pPr>
            <a:r>
              <a:rPr sz="1350" b="1">
                <a:solidFill>
                  <a:srgbClr val="171512"/>
                </a:solidFill>
              </a:rPr>
              <a:t>Reconciliation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6AD443-694B-4CD4-9323-0222723D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5A50"/>
                </a:solidFill>
              </a:defRPr>
            </a:pPr>
            <a:r>
              <a:rPr sz="1050" b="0">
                <a:solidFill>
                  <a:srgbClr val="5F5A50"/>
                </a:solidFill>
              </a:rPr>
              <a:t>Finance/Audit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566F25-829F-4D81-942D-9B55D1B2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66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48652D-DA1D-40BF-8F61-DE33F1E7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512"/>
                </a:solidFill>
              </a:defRPr>
            </a:pPr>
            <a:r>
              <a:rPr sz="1650" b="1">
                <a:solidFill>
                  <a:srgbClr val="171512"/>
                </a:solidFill>
              </a:rPr>
              <a:t>Ownership split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89DE56-93B9-4495-BB38-90937557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00650"/>
            <a:ext cx="790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5A50"/>
                </a:solidFill>
              </a:defRPr>
            </a:pPr>
            <a:r>
              <a:rPr sz="1350" b="0">
                <a:solidFill>
                  <a:srgbClr val="5F5A50"/>
                </a:solidFill>
              </a:rPr>
              <a:t>Customer submits the request and destination. HyperTransfer orchestrates gates. Casino staff approve. Hex Safe executes custody transfer.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97C44D-60A4-4722-82E9-B0C0A886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E7669"/>
                </a:solidFill>
              </a:defRPr>
            </a:pPr>
            <a:r>
              <a:rPr sz="1125" b="0">
                <a:solidFill>
                  <a:srgbClr val="7E7669"/>
                </a:solidFill>
              </a:rPr>
              <a:t>Basis: HyperTransfer project docs + BitPay / Crypto.com Pay / Cobo / BVNK / Coinbase public refund guidance.</a:t>
            </a:r>
          </a:p>
        </p:txBody>
      </p:sp>
    </p:spTree>
    <p:extLst>
      <p:ext uri="{BB962C8B-B14F-4D97-AF65-F5344CB8AC3E}">
        <p14:creationId xmlns:p14="http://schemas.microsoft.com/office/powerpoint/2010/main" val="1699118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745D1D-4E58-41BC-B6C6-D8327ECB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4D5C1-7206-4900-B403-3CFED4B8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45166-4E7A-409C-948E-89EC027A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0FF2F-9C7B-4016-A568-C971E307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A53A"/>
                </a:solidFill>
              </a:defRPr>
            </a:pPr>
            <a:r>
              <a:rPr sz="1200" b="1">
                <a:solidFill>
                  <a:srgbClr val="D6A53A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A9974-D0D8-4AF3-AD22-A8368374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1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9488"/>
                </a:solidFill>
              </a:defRPr>
            </a:pPr>
            <a:r>
              <a:rPr sz="1200" b="1">
                <a:solidFill>
                  <a:srgbClr val="9C948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31DC6-9782-456B-87FB-BC461C8F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512"/>
                </a:solidFill>
              </a:defRPr>
            </a:pPr>
            <a:r>
              <a:rPr sz="3150" b="1">
                <a:solidFill>
                  <a:srgbClr val="171512"/>
                </a:solidFill>
              </a:rPr>
              <a:t>Request and eligibility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8B269-A21F-430C-8FD6-558A96E7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0"/>
                </a:solidFill>
              </a:defRPr>
            </a:pPr>
            <a:r>
              <a:rPr sz="1500" b="0">
                <a:solidFill>
                  <a:srgbClr val="5F5A50"/>
                </a:solidFill>
              </a:rPr>
              <a:t>The refund case must be anchored to a real, owned deposit.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34227-0DDA-4BA6-902F-B0DE6D45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1C2C8-5C9C-4F4F-ADC7-58D9A99B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512"/>
                </a:solidFill>
              </a:defRPr>
            </a:pPr>
            <a:r>
              <a:rPr sz="2100" b="1">
                <a:solidFill>
                  <a:srgbClr val="171512"/>
                </a:solidFill>
              </a:rPr>
              <a:t>Case binding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F9123-05B1-438D-B3F6-80D35800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F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15EF7-9FE3-4AA2-841E-7CE72930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5A50"/>
                </a:solidFill>
              </a:defRPr>
            </a:pPr>
            <a:r>
              <a:rPr sz="1425" b="0">
                <a:solidFill>
                  <a:srgbClr val="5F5A50"/>
                </a:solidFill>
              </a:rPr>
              <a:t>Original DepositRequest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D0797-54C6-40EB-8140-7E6FC6C9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F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17583-EE8D-49E0-86CF-98DDACB0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5A50"/>
                </a:solidFill>
              </a:defRPr>
            </a:pPr>
            <a:r>
              <a:rPr sz="1425" b="0">
                <a:solidFill>
                  <a:srgbClr val="5F5A50"/>
                </a:solidFill>
              </a:rPr>
              <a:t>Customer account ownership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BE89A-F9AA-4ACC-AB15-BE00813E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57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F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22E44-4AD8-4846-940B-0F9AF72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5A50"/>
                </a:solidFill>
              </a:defRPr>
            </a:pPr>
            <a:r>
              <a:rPr sz="1425" b="0">
                <a:solidFill>
                  <a:srgbClr val="5F5A50"/>
                </a:solidFill>
              </a:rPr>
              <a:t>sessionId and txHash 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94006-AC6F-4FA0-94F5-1816CA39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F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1A8C6-8AFC-4D83-AC37-3D05DC4E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5A50"/>
                </a:solidFill>
              </a:defRPr>
            </a:pPr>
            <a:r>
              <a:rPr sz="1425" b="0">
                <a:solidFill>
                  <a:srgbClr val="5F5A50"/>
                </a:solidFill>
              </a:rPr>
              <a:t>not already refunded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DD44A-037C-401F-AF0A-0B5FD6E1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05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F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530B9-26E3-4627-8260-C1E47327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5A50"/>
                </a:solidFill>
              </a:defRPr>
            </a:pPr>
            <a:r>
              <a:rPr sz="1425" b="0">
                <a:solidFill>
                  <a:srgbClr val="5F5A50"/>
                </a:solidFill>
              </a:rPr>
              <a:t>eligible WTA / custody balance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836E4-0E5A-4F68-BD73-DDB11AEE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70672-DFFD-4F2D-A77B-C131650A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1512"/>
                </a:solidFill>
              </a:defRPr>
            </a:pPr>
            <a:r>
              <a:rPr sz="2100" b="1">
                <a:solidFill>
                  <a:srgbClr val="171512"/>
                </a:solidFill>
              </a:rPr>
              <a:t>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43666-07DC-46A2-87EA-A0B3C4B2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542E5-B7D7-43FC-8F2A-6F2653C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5A50"/>
                </a:solidFill>
              </a:defRPr>
            </a:pPr>
            <a:r>
              <a:rPr sz="1425" b="0">
                <a:solidFill>
                  <a:srgbClr val="5F5A50"/>
                </a:solidFill>
              </a:rPr>
              <a:t>Block unrelated txHash entry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7FE5E-7CA0-4C98-B279-B79CECB1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21CD73-A746-4683-993F-0AB083B8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5A50"/>
                </a:solidFill>
              </a:defRPr>
            </a:pPr>
            <a:r>
              <a:rPr sz="1425" b="0">
                <a:solidFill>
                  <a:srgbClr val="5F5A50"/>
                </a:solidFill>
              </a:rPr>
              <a:t>Reject duplicate or closed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826BA-E9DE-4B0D-B7D5-3E897114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57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DB17E7-AC89-4020-8650-386E625C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7185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5A50"/>
                </a:solidFill>
              </a:defRPr>
            </a:pPr>
            <a:r>
              <a:rPr sz="1425" b="0">
                <a:solidFill>
                  <a:srgbClr val="5F5A50"/>
                </a:solidFill>
              </a:rPr>
              <a:t>Capture reason code and case narrative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0F655C-EC1B-455F-8B61-44EB8FC1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8CE74-84D4-4CAA-AB10-CC8F122F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957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5A50"/>
                </a:solidFill>
              </a:defRPr>
            </a:pPr>
            <a:r>
              <a:rPr sz="1425" b="0">
                <a:solidFill>
                  <a:srgbClr val="5F5A50"/>
                </a:solidFill>
              </a:rPr>
              <a:t>Store request timestamp and actor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3B0A4-FF26-4C4F-9EE9-29D5318F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05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65DC75-5CEB-4FC0-A5B9-184EB0EC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5A50"/>
                </a:solidFill>
              </a:defRPr>
            </a:pPr>
            <a:r>
              <a:rPr sz="1425" b="0">
                <a:solidFill>
                  <a:srgbClr val="5F5A50"/>
                </a:solidFill>
              </a:rPr>
              <a:t>Stop if unsupported asset or 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A3E565-A455-4203-BE6B-240949A2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00625"/>
            <a:ext cx="857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BD8F2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D2085B-A0E2-42AE-B308-D5B6612A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720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A53A"/>
                </a:solidFill>
              </a:defRPr>
            </a:pPr>
            <a:r>
              <a:rPr sz="1500" b="1">
                <a:solidFill>
                  <a:srgbClr val="D6A53A"/>
                </a:solidFill>
              </a:rPr>
              <a:t>Phase 1 asset guardrail: USDT / USDC only; BTC and ETH are excluded.</a:t>
            </a:r>
          </a:p>
        </p:txBody>
      </p:sp>
    </p:spTree>
    <p:extLst>
      <p:ext uri="{BB962C8B-B14F-4D97-AF65-F5344CB8AC3E}">
        <p14:creationId xmlns:p14="http://schemas.microsoft.com/office/powerpoint/2010/main" val="465948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DD8E5-BD86-4368-A079-4B24BC13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D51C1-3078-4F8D-8EFE-25622001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33DBE-1BE3-47BB-B09C-6784B4C8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F62FD-0B42-4E02-9CA6-C33BE51E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A53A"/>
                </a:solidFill>
              </a:defRPr>
            </a:pPr>
            <a:r>
              <a:rPr sz="1200" b="1">
                <a:solidFill>
                  <a:srgbClr val="D6A53A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88390-ADA2-482F-B18B-9F5F6AD1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1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9488"/>
                </a:solidFill>
              </a:defRPr>
            </a:pPr>
            <a:r>
              <a:rPr sz="1200" b="1">
                <a:solidFill>
                  <a:srgbClr val="9C9488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CDB17-4DC6-4A55-B18C-C4740EA1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512"/>
                </a:solidFill>
              </a:defRPr>
            </a:pPr>
            <a:r>
              <a:rPr sz="3150" b="1">
                <a:solidFill>
                  <a:srgbClr val="171512"/>
                </a:solidFill>
              </a:rPr>
              <a:t>Customer-confirmed refund destination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995E9-2F5F-45AE-B2C7-C8042F56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0"/>
                </a:solidFill>
              </a:defRPr>
            </a:pPr>
            <a:r>
              <a:rPr sz="1500" b="0">
                <a:solidFill>
                  <a:srgbClr val="5F5A50"/>
                </a:solidFill>
              </a:rPr>
              <a:t>The destination wallet is collected through a controlled customer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98361-5BE6-48F0-A8D1-447C34DD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429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571DB-D0CA-436F-806C-3863A2A0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7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76147-7B0F-4369-AEDA-40AE9458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Customer 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1DCD2-6C8A-435B-B12C-513250E5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3009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Authenticated customer session or one-time refund link. High-risk cases can require step-up MFA before destination submission.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703F8-E0CB-455F-9242-A3EFE190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B0935-D8CD-400C-9B4F-41EEDA03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57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F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A6F32-D7E5-4227-8270-82FC4739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Address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17199-F486-4D27-938B-4102F95A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3009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Validate rail and format: ERC-20 0x address or TRC-20 T address. Block wrong-network submissions.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6B252-25D7-45D8-96CE-315AAA7B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28800"/>
            <a:ext cx="3429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85E85-0606-43F8-8FBE-62552523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28800"/>
            <a:ext cx="571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F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8CF7B-5494-405B-A0AB-F0FD93D5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Customer attestation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85688-66DA-4F99-BB4A-E302BE91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3009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Store that the customer confirmed the destination. Never ask for private keys, seed phrases, exchange passwords, or OTP forwarding.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AE310-B4F3-461E-B43C-79283029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FEFF0"/>
          </a:solidFill>
          <a:ln xmlns:a="http://schemas.openxmlformats.org/drawingml/2006/main" w="9525">
            <a:solidFill>
              <a:srgbClr val="007E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7AA03-6269-4114-B284-619DC164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81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E86"/>
                </a:solidFill>
              </a:defRPr>
            </a:pPr>
            <a:r>
              <a:rPr sz="1500" b="1">
                <a:solidFill>
                  <a:srgbClr val="007E86"/>
                </a:solidFill>
              </a:rPr>
              <a:t>Design choice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26590-074A-408D-A5B1-A5AC9C57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911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512"/>
                </a:solidFill>
              </a:defRPr>
            </a:pPr>
            <a:r>
              <a:rPr sz="1350" b="0">
                <a:solidFill>
                  <a:srgbClr val="171512"/>
                </a:solidFill>
              </a:rPr>
              <a:t>No blind auto-return to the original source address because CEX pooled wallets can break attribution.</a:t>
            </a:r>
          </a:p>
        </p:txBody>
      </p:sp>
    </p:spTree>
    <p:extLst>
      <p:ext uri="{BB962C8B-B14F-4D97-AF65-F5344CB8AC3E}">
        <p14:creationId xmlns:p14="http://schemas.microsoft.com/office/powerpoint/2010/main" val="5306170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640BD2-0D24-4E05-8A5D-B947AA4B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FDECB-1FDE-40FC-B9A0-C4269CB2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295B7-369C-4D44-8EC4-69DA683B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496B3-FF04-44D8-9C19-B79248B2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A53A"/>
                </a:solidFill>
              </a:defRPr>
            </a:pPr>
            <a:r>
              <a:rPr sz="1200" b="1">
                <a:solidFill>
                  <a:srgbClr val="D6A53A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7E5D1-0447-4106-B285-43A25E45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1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9488"/>
                </a:solidFill>
              </a:defRPr>
            </a:pPr>
            <a:r>
              <a:rPr sz="1200" b="1">
                <a:solidFill>
                  <a:srgbClr val="9C948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2C721-1747-49CF-B45B-D38EA784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512"/>
                </a:solidFill>
              </a:defRPr>
            </a:pPr>
            <a:r>
              <a:rPr sz="3150" b="1">
                <a:solidFill>
                  <a:srgbClr val="171512"/>
                </a:solidFill>
              </a:rPr>
              <a:t>Destination-wallet KYT decisioning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5ED0F-9F75-44CE-8FDF-A7FED543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0"/>
                </a:solidFill>
              </a:defRPr>
            </a:pPr>
            <a:r>
              <a:rPr sz="1500" b="0">
                <a:solidFill>
                  <a:srgbClr val="5F5A50"/>
                </a:solidFill>
              </a:rPr>
              <a:t>Refund wallets are screened before payout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29319-45B9-44F2-8EE3-9CDF7AF4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0"/>
                </a:solidFill>
              </a:defRPr>
            </a:pPr>
            <a:r>
              <a:rPr sz="1350" b="1">
                <a:solidFill>
                  <a:srgbClr val="5F5A50"/>
                </a:solidFill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DF957-C494-40F0-897C-EFBA7C5B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0"/>
                </a:solidFill>
              </a:defRPr>
            </a:pPr>
            <a:r>
              <a:rPr sz="1350" b="1">
                <a:solidFill>
                  <a:srgbClr val="5F5A50"/>
                </a:solidFill>
              </a:rPr>
              <a:t>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214E6-0570-4611-85AF-D58341BB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66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0"/>
                </a:solidFill>
              </a:defRPr>
            </a:pPr>
            <a:r>
              <a:rPr sz="1350" b="1">
                <a:solidFill>
                  <a:srgbClr val="5F5A50"/>
                </a:solidFill>
              </a:rPr>
              <a:t>System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30CB1-9B73-49EC-8EE1-C3A78ED0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0E3AD-C977-42DE-BE73-889C7CDC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F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87CED-833C-48A0-9597-63D27AD4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512"/>
                </a:solidFill>
              </a:defRPr>
            </a:pPr>
            <a:r>
              <a:rPr sz="1425" b="1">
                <a:solidFill>
                  <a:srgbClr val="171512"/>
                </a:solidFill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752FC-0B78-485A-9DA6-6AF2C04D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Clean sanctions, exposure and typology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3DE7E-4DEF-4D60-B3B0-F4781742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431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Proceed to treasury/compliance 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481D2-0237-4451-9769-18320487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BA27F-80B4-482F-AD67-3B5BAFB1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6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0D542-AA71-4C91-A54C-E64FA3AE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62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512"/>
                </a:solidFill>
              </a:defRPr>
            </a:pPr>
            <a:r>
              <a:rPr sz="1425" b="1">
                <a:solidFill>
                  <a:srgbClr val="171512"/>
                </a:solidFill>
              </a:rPr>
              <a:t>Manual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E322B-4507-4695-A96F-31F2DB98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Risk score or wallet pattern needs analyst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63B66-6BF4-4403-9089-FBCF1365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623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Open case; block payout until cleared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3281B-B1DE-4367-9637-EC2A889E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66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2394C-78E6-4E2C-92EB-0BDDB5F9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7AE74-78F2-420B-8771-3A90470D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1512"/>
                </a:solidFill>
              </a:defRPr>
            </a:pPr>
            <a:r>
              <a:rPr sz="1425" b="1">
                <a:solidFill>
                  <a:srgbClr val="171512"/>
                </a:solidFill>
              </a:rPr>
              <a:t>Reject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F009D-6734-405B-8C32-FE4905A6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814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Sanctions, scam, mixer, fraud, or high-risk hit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FC43F-29D3-4BDB-8656-AD83C7F0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Reject destination; request alternative or escalate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4185E9-E88B-4D45-AEC7-54CA1D0E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952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BF6"/>
          </a:solidFill>
          <a:ln xmlns:a="http://schemas.openxmlformats.org/drawingml/2006/main" w="9525">
            <a:solidFill>
              <a:srgbClr val="265F9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30858-6E49-455C-A566-59382E99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244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5F9E"/>
                </a:solidFill>
              </a:defRPr>
            </a:pPr>
            <a:r>
              <a:rPr sz="1575" b="1">
                <a:solidFill>
                  <a:srgbClr val="265F9E"/>
                </a:solidFill>
              </a:rPr>
              <a:t>Mandatory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124C24-4C0C-4912-B50B-D4762960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43525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1512"/>
                </a:solidFill>
              </a:defRPr>
            </a:pPr>
            <a:r>
              <a:rPr sz="1425" b="0">
                <a:solidFill>
                  <a:srgbClr val="171512"/>
                </a:solidFill>
              </a:rPr>
              <a:t>provider reference · decision · risk score · screenedAt · analyst notes</a:t>
            </a:r>
          </a:p>
        </p:txBody>
      </p:sp>
    </p:spTree>
    <p:extLst>
      <p:ext uri="{BB962C8B-B14F-4D97-AF65-F5344CB8AC3E}">
        <p14:creationId xmlns:p14="http://schemas.microsoft.com/office/powerpoint/2010/main" val="542657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FF9DB7-B07D-4DD1-B095-C85EF04F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350D2-8CB5-479A-9111-A85D7DE5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5F1D5-8F85-4D70-BCFA-142BF0F7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E1128-1572-4444-9409-5FEC2518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A53A"/>
                </a:solidFill>
              </a:defRPr>
            </a:pPr>
            <a:r>
              <a:rPr sz="1200" b="1">
                <a:solidFill>
                  <a:srgbClr val="D6A53A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863D4-89D9-4EF0-90F8-76656A17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1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9488"/>
                </a:solidFill>
              </a:defRPr>
            </a:pPr>
            <a:r>
              <a:rPr sz="1200" b="1">
                <a:solidFill>
                  <a:srgbClr val="9C948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5C782-AEDF-4220-9922-45F12926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512"/>
                </a:solidFill>
              </a:defRPr>
            </a:pPr>
            <a:r>
              <a:rPr sz="3150" b="1">
                <a:solidFill>
                  <a:srgbClr val="171512"/>
                </a:solidFill>
              </a:rPr>
              <a:t>Treasury and compliance approval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CA18B-8137-4484-952A-C3395990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0"/>
                </a:solidFill>
              </a:defRPr>
            </a:pPr>
            <a:r>
              <a:rPr sz="1500" b="0">
                <a:solidFill>
                  <a:srgbClr val="5F5A50"/>
                </a:solidFill>
              </a:rPr>
              <a:t>Customer action stops here; staff own the payout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E1406-B6FD-4A49-8C18-2075FE38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0CD34-735D-4EBB-8F59-B5DE3BF5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28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D8F23"/>
                </a:solidFill>
              </a:defRPr>
            </a:pPr>
            <a:r>
              <a:rPr sz="1425" b="1">
                <a:solidFill>
                  <a:srgbClr val="BD8F23"/>
                </a:solidFill>
              </a:rPr>
              <a:t>Original deposit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F06AA-3D80-4606-B203-639A7FBC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28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DepositRequest, sessionId, txHash, amount, rail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6B49E-9549-47CB-B383-A6ACC399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08E8D-0FD6-41D6-9D35-DF1DB106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33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D8F23"/>
                </a:solidFill>
              </a:defRPr>
            </a:pPr>
            <a:r>
              <a:rPr sz="1425" b="1">
                <a:solidFill>
                  <a:srgbClr val="BD8F23"/>
                </a:solidFill>
              </a:rPr>
              <a:t>Customer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B9BC2-D269-4B8D-A3C3-986BC920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336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reason code, attestation, destination wallet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4DCCE-A767-408C-B6FC-A5008B51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95B0B-7763-4389-B854-5DBCA57D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38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D8F23"/>
                </a:solidFill>
              </a:defRPr>
            </a:pPr>
            <a:r>
              <a:rPr sz="1425" b="1">
                <a:solidFill>
                  <a:srgbClr val="BD8F23"/>
                </a:solidFill>
              </a:rPr>
              <a:t>Risk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910F9-D5F4-4D68-87AB-BDEB5767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385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KYC status, source-wallet history, destination KYT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EFEC7-131B-4D9A-970B-38DCCBFB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3DF58-A9A6-4635-BF46-B6057D74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D8F23"/>
                </a:solidFill>
              </a:defRPr>
            </a:pPr>
            <a:r>
              <a:rPr sz="1425" b="1">
                <a:solidFill>
                  <a:srgbClr val="BD8F23"/>
                </a:solidFill>
              </a:rPr>
              <a:t>Operational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5BB4E-589E-4DCF-87DE-AC90BBAA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433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WTA/vault balance, duplicate-refund check, case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D11FA-252E-48AE-981E-3473B2C0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1910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384BB-BA18-43E1-A094-E6E0394B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6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A3B40-727B-4134-B075-ED164375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57400"/>
            <a:ext cx="377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Approval 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85B70-8CDE-4348-9BFF-38C027B6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19350"/>
            <a:ext cx="37719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RBAC, maker-checker, quorum for high-value or exception cases, Macau access exclusion, operator device/location policy, and immutable action logs.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26470-B5AF-4339-A9E8-E1C6AC59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191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BD8F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C98E0-CEAE-4B5B-B792-AA77BD2B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244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A53A"/>
                </a:solidFill>
              </a:defRPr>
            </a:pPr>
            <a:r>
              <a:rPr sz="1650" b="1">
                <a:solidFill>
                  <a:srgbClr val="D6A53A"/>
                </a:solidFill>
              </a:rPr>
              <a:t>Approval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A62B7C-9615-48B7-B2BF-D6C574C1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8E9"/>
                </a:solidFill>
              </a:defRPr>
            </a:pPr>
            <a:r>
              <a:rPr sz="1275" b="0">
                <a:solidFill>
                  <a:srgbClr val="FFF8E9"/>
                </a:solidFill>
              </a:rPr>
              <a:t>approved / rejected / manual_review</a:t>
            </a:r>
          </a:p>
          <a:p xmlns:a="http://schemas.openxmlformats.org/drawingml/2006/main">
            <a:pPr>
              <a:defRPr sz="1275" b="0">
                <a:solidFill>
                  <a:srgbClr val="FFF8E9"/>
                </a:solidFill>
              </a:defRPr>
            </a:pPr>
            <a:r>
              <a:rPr sz="1275" b="0">
                <a:solidFill>
                  <a:srgbClr val="FFF8E9"/>
                </a:solidFill>
              </a:rPr>
              <a:t>with approver IDs and timestamp</a:t>
            </a:r>
          </a:p>
        </p:txBody>
      </p:sp>
    </p:spTree>
    <p:extLst>
      <p:ext uri="{BB962C8B-B14F-4D97-AF65-F5344CB8AC3E}">
        <p14:creationId xmlns:p14="http://schemas.microsoft.com/office/powerpoint/2010/main" val="705935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13C0BA-196A-4687-B2CB-AE3CD8FC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D93F9-FCC8-40EA-AD40-E6E86E5C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F3CB7-EC0F-4DBF-93D7-1AE4F240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AC968-37C0-48E5-AC59-4AC4661D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A53A"/>
                </a:solidFill>
              </a:defRPr>
            </a:pPr>
            <a:r>
              <a:rPr sz="1200" b="1">
                <a:solidFill>
                  <a:srgbClr val="D6A53A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8BBE1-443D-4BE1-871A-BA53DAEC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1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9488"/>
                </a:solidFill>
              </a:defRPr>
            </a:pPr>
            <a:r>
              <a:rPr sz="1200" b="1">
                <a:solidFill>
                  <a:srgbClr val="9C948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16451-F36C-42AE-B35F-7B4FAA7F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512"/>
                </a:solidFill>
              </a:defRPr>
            </a:pPr>
            <a:r>
              <a:rPr sz="3150" b="1">
                <a:solidFill>
                  <a:srgbClr val="171512"/>
                </a:solidFill>
              </a:rPr>
              <a:t>Hex Safe custody payout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2BC3B-508D-40FB-988D-177A89DA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0"/>
                </a:solidFill>
              </a:defRPr>
            </a:pPr>
            <a:r>
              <a:rPr sz="1500" b="0">
                <a:solidFill>
                  <a:srgbClr val="5F5A50"/>
                </a:solidFill>
              </a:rPr>
              <a:t>The backend adapter submits the transfer; customer H5 never touches custody APIs.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40D54-C477-4FCF-9485-23AD388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7E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8918E-F059-4694-B407-7EC887FC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E86"/>
                </a:solidFill>
              </a:defRPr>
            </a:pPr>
            <a:r>
              <a:rPr sz="1650" b="1">
                <a:solidFill>
                  <a:srgbClr val="007E86"/>
                </a:solidFill>
              </a:rPr>
              <a:t>Backend adapter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6A525-C08B-449D-869D-20AB72E8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creates payout transfer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0D60A-D989-404C-A754-62BE12B5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F5A50"/>
                </a:solidFill>
              </a:defRPr>
            </a:pPr>
            <a:r>
              <a:rPr sz="2100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EC2F3-F19A-4706-869F-9496B2DF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02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D8F2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44D7B-7D55-46BF-8FB9-D9431049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D8F23"/>
                </a:solidFill>
              </a:defRPr>
            </a:pPr>
            <a:r>
              <a:rPr sz="1650" b="1">
                <a:solidFill>
                  <a:srgbClr val="BD8F23"/>
                </a:solidFill>
              </a:rPr>
              <a:t>Hex Safe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B4718-A9E7-4A2D-95D0-888F2D74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860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whitelist, roles, limits, quorum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CCA2F-9479-481F-B9C1-ACDBCAC8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F5A50"/>
                </a:solidFill>
              </a:defRPr>
            </a:pPr>
            <a:r>
              <a:rPr sz="2100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D4CE5-7BBE-461D-B7F6-D2F64D7A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65F9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8AC24-DD4F-4888-8430-D1370C27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5F9E"/>
                </a:solidFill>
              </a:defRPr>
            </a:pPr>
            <a:r>
              <a:rPr sz="1650" b="1">
                <a:solidFill>
                  <a:srgbClr val="265F9E"/>
                </a:solidFill>
              </a:rPr>
              <a:t>Signing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E9411-CCB5-4068-BCE4-9E3FEDC6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custody-controlled signature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FFC9F-BD39-435A-BDB9-74BD2C84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F5A50"/>
                </a:solidFill>
              </a:defRPr>
            </a:pPr>
            <a:r>
              <a:rPr sz="2100" b="1">
                <a:solidFill>
                  <a:srgbClr val="5F5A5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91152-3B25-48BA-ABD8-0663E70A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57F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41966-E4A4-4747-9F76-4ED05AEE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7F4B"/>
                </a:solidFill>
              </a:defRPr>
            </a:pPr>
            <a:r>
              <a:rPr sz="1650" b="1">
                <a:solidFill>
                  <a:srgbClr val="157F4B"/>
                </a:solidFill>
              </a:rPr>
              <a:t>Broadcast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BB613-E9A0-4D15-9012-FA9E4068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txHash and chain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F424A-5E46-496E-8BE6-DB01AE97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90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BD8F2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6A93E-CDFA-4E21-9ACD-42600D36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A53A"/>
                </a:solidFill>
              </a:defRPr>
            </a:pPr>
            <a:r>
              <a:rPr sz="1800" b="1">
                <a:solidFill>
                  <a:srgbClr val="D6A53A"/>
                </a:solidFill>
              </a:rPr>
              <a:t>Evidence captured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0FD1D1-CFDD-4E3F-BB98-DB2E2D7A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719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8E9"/>
                </a:solidFill>
              </a:defRPr>
            </a:pPr>
            <a:r>
              <a:rPr sz="1500" b="0">
                <a:solidFill>
                  <a:srgbClr val="FFF8E9"/>
                </a:solidFill>
              </a:rPr>
              <a:t>transferId · txHash · fee · asset · rail · amount · status · confirmation count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D797DB-41E0-48F6-9F5E-CD379A80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435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512"/>
                </a:solidFill>
              </a:defRPr>
            </a:pPr>
            <a:r>
              <a:rPr sz="1425" b="1">
                <a:solidFill>
                  <a:srgbClr val="171512"/>
                </a:solidFill>
              </a:rPr>
              <a:t>Production rule: the frontend displays status only. It never stores keys, signs transactions, or calls provider secrets.</a:t>
            </a:r>
          </a:p>
        </p:txBody>
      </p:sp>
    </p:spTree>
    <p:extLst>
      <p:ext uri="{BB962C8B-B14F-4D97-AF65-F5344CB8AC3E}">
        <p14:creationId xmlns:p14="http://schemas.microsoft.com/office/powerpoint/2010/main" val="1455798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F8826F-43A3-4A21-B7C9-5194F129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87D8D-590F-44E9-97F0-36FBE8F2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78721-FCDD-40E5-A144-A1AF278F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D105F-B39C-4ACC-8FE4-0AA4580D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A53A"/>
                </a:solidFill>
              </a:defRPr>
            </a:pPr>
            <a:r>
              <a:rPr sz="1200" b="1">
                <a:solidFill>
                  <a:srgbClr val="D6A53A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DBA6D-492A-4A6E-A48E-A0F6F3E6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1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9488"/>
                </a:solidFill>
              </a:defRPr>
            </a:pPr>
            <a:r>
              <a:rPr sz="1200" b="1">
                <a:solidFill>
                  <a:srgbClr val="9C9488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FAB58-A525-47C4-BD59-792147F7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512"/>
                </a:solidFill>
              </a:defRPr>
            </a:pPr>
            <a:r>
              <a:rPr sz="3150" b="1">
                <a:solidFill>
                  <a:srgbClr val="171512"/>
                </a:solidFill>
              </a:rPr>
              <a:t>Webhook, reconciliation and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0CD86-5E92-431F-8DDE-1B9791A8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0"/>
                </a:solidFill>
              </a:defRPr>
            </a:pPr>
            <a:r>
              <a:rPr sz="1500" b="0">
                <a:solidFill>
                  <a:srgbClr val="5F5A50"/>
                </a:solidFill>
              </a:rPr>
              <a:t>A refund is complete only when custody status and books agree.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E7E3B-1375-495C-88CD-A4DCAE6E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1432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0B0AD-F87B-459F-9065-3B50B5B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CFA7E-8406-41F7-90B5-23F10652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Webhook / polling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24D27-A0DD-4D7E-9EC7-9C451F1C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724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Verify broadcasted, completed, failed, confirmation count, and provider status. Failed or stuck transfers become exception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DBD1F-7DFE-4954-B74A-BD8B9B3E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A6C35-0A8B-4006-AB7D-1DFDE34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F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4A97A-CF3E-4894-A50A-DE8B402A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812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Reconciliation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247AB-45B7-48DB-B2CC-F55C8F49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43150"/>
            <a:ext cx="2724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Match the refund case with custody transaction logs, WTA balance movement, monthly statement, and internal ledger.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4943C-10D6-4D84-A1E6-7C35C4B2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1432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CE899-2418-4A3A-AD0C-F0990569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2C33D-E83A-4DA5-B97F-BA89DB53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812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Customer closeout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616869-23CC-4E68-9CE7-5791BE83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3150"/>
            <a:ext cx="2724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Notify the customer only after completion evidence is stored and case status is closed.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56E2A-4A73-4D81-B25D-65E54C1E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9791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1F2E7"/>
          </a:solidFill>
          <a:ln xmlns:a="http://schemas.openxmlformats.org/drawingml/2006/main" w="9525">
            <a:solidFill>
              <a:srgbClr val="157F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C76BA-F733-4C76-8F17-7E38F80B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7F4B"/>
                </a:solidFill>
              </a:defRPr>
            </a:pPr>
            <a:r>
              <a:rPr sz="1650" b="1">
                <a:solidFill>
                  <a:srgbClr val="157F4B"/>
                </a:solidFill>
              </a:rPr>
              <a:t>Audit pack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426AA-9F8A-43EE-A80B-FD6B37EE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578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1512"/>
                </a:solidFill>
              </a:defRPr>
            </a:pPr>
            <a:r>
              <a:rPr sz="1275" b="0">
                <a:solidFill>
                  <a:srgbClr val="171512"/>
                </a:solidFill>
              </a:rPr>
              <a:t>original txHash · refund destination · KYT reference · approval · transferId · payout txHash · statement match</a:t>
            </a:r>
          </a:p>
        </p:txBody>
      </p:sp>
    </p:spTree>
    <p:extLst>
      <p:ext uri="{BB962C8B-B14F-4D97-AF65-F5344CB8AC3E}">
        <p14:creationId xmlns:p14="http://schemas.microsoft.com/office/powerpoint/2010/main" val="15761900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8BE11E-BE91-4EDF-AE39-A3EE039F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34ECF-2794-4B98-A139-F3329F6B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9D1F7-63EC-4595-AC52-9C401306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39C39-72AA-430C-A523-FA66CC7E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A53A"/>
                </a:solidFill>
              </a:defRPr>
            </a:pPr>
            <a:r>
              <a:rPr sz="1200" b="1">
                <a:solidFill>
                  <a:srgbClr val="D6A53A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5248C-1E7B-4DC7-9198-7E143C68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1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9488"/>
                </a:solidFill>
              </a:defRPr>
            </a:pPr>
            <a:r>
              <a:rPr sz="1200" b="1">
                <a:solidFill>
                  <a:srgbClr val="9C9488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5131C-F214-43F3-8AB3-6EFB9F8F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512"/>
                </a:solidFill>
              </a:defRPr>
            </a:pPr>
            <a:r>
              <a:rPr sz="3150" b="1">
                <a:solidFill>
                  <a:srgbClr val="171512"/>
                </a:solidFill>
              </a:rPr>
              <a:t>Prototype now vs production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1267F-5662-49DF-82EC-045A5E39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0"/>
                </a:solidFill>
              </a:defRPr>
            </a:pPr>
            <a:r>
              <a:rPr sz="1500" b="0">
                <a:solidFill>
                  <a:srgbClr val="5F5A50"/>
                </a:solidFill>
              </a:rPr>
              <a:t>What is demoed now and what must be connected before launch.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BFCD9-8730-4225-97F7-A1479227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100E"/>
          </a:solidFill>
          <a:ln xmlns:a="http://schemas.openxmlformats.org/drawingml/2006/main" w="0">
            <a:solidFill>
              <a:srgbClr val="11100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A15F5-8D95-4155-872E-3C816115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A53A"/>
                </a:solidFill>
              </a:defRPr>
            </a:pPr>
            <a:r>
              <a:rPr sz="1350" b="1">
                <a:solidFill>
                  <a:srgbClr val="D6A53A"/>
                </a:solidFill>
              </a:rPr>
              <a:t>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9DE7C-48BF-440B-9004-7B88DACA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43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A53A"/>
                </a:solidFill>
              </a:defRPr>
            </a:pPr>
            <a:r>
              <a:rPr sz="1350" b="1">
                <a:solidFill>
                  <a:srgbClr val="D6A53A"/>
                </a:solidFill>
              </a:rPr>
              <a:t>Prototype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81446-702C-4657-A133-D828224D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431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A53A"/>
                </a:solidFill>
              </a:defRPr>
            </a:pPr>
            <a:r>
              <a:rPr sz="1350" b="1">
                <a:solidFill>
                  <a:srgbClr val="D6A53A"/>
                </a:solidFill>
              </a:rPr>
              <a:t>Production 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BAEDA-4300-4A75-8C5B-6578E5F7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38B8A-EC17-40DF-ABDA-033A39BC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512"/>
                </a:solidFill>
              </a:defRPr>
            </a:pPr>
            <a:r>
              <a:rPr sz="1200" b="1">
                <a:solidFill>
                  <a:srgbClr val="171512"/>
                </a:solidFill>
              </a:rPr>
              <a:t>Customer refund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249A5-9FD3-41CE-B7D6-FB4AB600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050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Available at /refund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AC7A6-6D27-496E-B076-3CCC20DA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050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Add multi-order selection and notifications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DA153-7939-4C0A-A09D-3692F508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D8225-F3E9-4286-B5D7-5B98320D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512"/>
                </a:solidFill>
              </a:defRPr>
            </a:pPr>
            <a:r>
              <a:rPr sz="1200" b="1">
                <a:solidFill>
                  <a:srgbClr val="171512"/>
                </a:solidFill>
              </a:rPr>
              <a:t>Destination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967B1-0EF1-43B9-A04E-17DF5784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ERC-20 / TRC-20 format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26344-64BD-4579-8D68-46F1A68A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5752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Add wallet ownership proof for high-risk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3EBB7-3F2B-4AF0-81F3-F52685B3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BC021-0D39-4E0B-882A-7161DDD5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512"/>
                </a:solidFill>
              </a:defRPr>
            </a:pPr>
            <a:r>
              <a:rPr sz="1200" b="1">
                <a:solidFill>
                  <a:srgbClr val="171512"/>
                </a:solidFill>
              </a:rPr>
              <a:t>Destination KYT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87DB0-4A46-44C5-AA5B-B9D31944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Deterministic mock adapter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236BE-480C-44F0-8D7A-CDF7D22E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99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Connect KYT provider or Sumsub Crypto 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D22F2-9247-4B1C-8705-B6D737F8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A28129-C42D-49BB-AAC2-F931BD71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24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512"/>
                </a:solidFill>
              </a:defRPr>
            </a:pPr>
            <a:r>
              <a:rPr sz="1200" b="1">
                <a:solidFill>
                  <a:srgbClr val="171512"/>
                </a:solidFill>
              </a:rPr>
              <a:t>Approval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B3534B-3B9F-41B1-8232-18544560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624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Available in /casino-ops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51FF79-D674-4538-BC59-D1ECCB4B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6242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Add staff RBAC, maker-checker, rejection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145FE4-9FFF-40EB-9BB0-861073FD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F46871-8D4F-45E1-B554-311A2DAD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512"/>
                </a:solidFill>
              </a:defRPr>
            </a:pPr>
            <a:r>
              <a:rPr sz="1200" b="1">
                <a:solidFill>
                  <a:srgbClr val="171512"/>
                </a:solidFill>
              </a:rPr>
              <a:t>Custody payout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4D1191-7D75-4BF3-BD7D-7175C466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148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Mock transferId and txHash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1B6CDE-4CB7-42F4-8FAD-F324DB74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148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Connect Hex Safe withdrawal / transfer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B81C6F-7073-40E8-82A5-47637B65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8DD0B0-B22F-41B0-BC42-B2040DB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673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512"/>
                </a:solidFill>
              </a:defRPr>
            </a:pPr>
            <a:r>
              <a:rPr sz="1200" b="1">
                <a:solidFill>
                  <a:srgbClr val="171512"/>
                </a:solidFill>
              </a:rPr>
              <a:t>Audit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08EF84-50CA-43F8-8A8E-CA81012B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673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Local auditTrail in refund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50BE30-8A13-4ED8-9A74-A0020A85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6732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5A50"/>
                </a:solidFill>
              </a:defRPr>
            </a:pPr>
            <a:r>
              <a:rPr sz="1200" b="0">
                <a:solidFill>
                  <a:srgbClr val="5F5A50"/>
                </a:solidFill>
              </a:rPr>
              <a:t>Persist to backend, reconcile with statements</a:t>
            </a:r>
          </a:p>
        </p:txBody>
      </p:sp>
    </p:spTree>
    <p:extLst>
      <p:ext uri="{BB962C8B-B14F-4D97-AF65-F5344CB8AC3E}">
        <p14:creationId xmlns:p14="http://schemas.microsoft.com/office/powerpoint/2010/main" val="18080178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93C7C-1005-4070-8D95-D52BE73B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5BA57-7703-40AA-8733-508D85B5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B524C-E394-48BE-B15E-C4962EFE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04135-602E-4D25-AB8F-A875C3A3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A53A"/>
                </a:solidFill>
              </a:defRPr>
            </a:pPr>
            <a:r>
              <a:rPr sz="1200" b="1">
                <a:solidFill>
                  <a:srgbClr val="D6A53A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F9129-9716-4F31-8EBC-4E57482A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1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C9488"/>
                </a:solidFill>
              </a:defRPr>
            </a:pPr>
            <a:r>
              <a:rPr sz="1200" b="1">
                <a:solidFill>
                  <a:srgbClr val="9C9488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C5623-86E8-4A1A-AA42-CAD05177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512"/>
                </a:solidFill>
              </a:defRPr>
            </a:pPr>
            <a:r>
              <a:rPr sz="3150" b="1">
                <a:solidFill>
                  <a:srgbClr val="171512"/>
                </a:solidFill>
              </a:rPr>
              <a:t>Reference basis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16402-8210-4164-98D2-B236EAFB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0"/>
                </a:solidFill>
              </a:defRPr>
            </a:pPr>
            <a:r>
              <a:rPr sz="1500" b="0">
                <a:solidFill>
                  <a:srgbClr val="5F5A50"/>
                </a:solidFill>
              </a:rPr>
              <a:t>Grounded in project requirements and comparable crypto payment refund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83C48-97EA-4B4E-A5DB-82DE3D30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B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44027-0F58-4A5E-A3E8-CA4D3B25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E4B06-FC0B-4ED5-8A4C-5E2D5CDD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Internal HyperTransfer basis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F10BA-4F32-4C46-86FD-1B2FE00A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43434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Meeting notes require refund address verification, wallet ownership checks, destination-wallet KYT, treasury approval, payout controls, and audit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5F5A50"/>
                </a:solidFill>
              </a:defRPr>
            </a:pPr>
            <a:r>
              <a:rPr sz="1275" b="0">
                <a:solidFill>
                  <a:srgbClr val="5F5A50"/>
                </a:solidFill>
              </a:rPr>
              <a:t>ProjectInfo/design.md defines payout APIs, custody transfer, approval status, and txHash closeout.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0D7AA-96F1-41C9-AB9E-F73EE073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512"/>
                </a:solidFill>
              </a:defRPr>
            </a:pPr>
            <a:r>
              <a:rPr sz="2250" b="1">
                <a:solidFill>
                  <a:srgbClr val="171512"/>
                </a:solidFill>
              </a:rPr>
              <a:t>Public references checked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D7A8C-D615-4D9A-B728-95ACA9CD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62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042EC-9AE7-460D-90E5-6AD3F482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5A50"/>
                </a:solidFill>
              </a:defRPr>
            </a:pPr>
            <a:r>
              <a:rPr sz="1350" b="0">
                <a:solidFill>
                  <a:srgbClr val="5F5A50"/>
                </a:solidFill>
              </a:rPr>
              <a:t>BitPay: customer-supplied refund address and shopper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01E6C-BBF0-45D4-AC18-50407C5F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81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44D7A-95BF-4F26-83F1-1C2C7BF3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5A50"/>
                </a:solidFill>
              </a:defRPr>
            </a:pPr>
            <a:r>
              <a:rPr sz="1350" b="0">
                <a:solidFill>
                  <a:srgbClr val="5F5A50"/>
                </a:solidFill>
              </a:rPr>
              <a:t>Crypto.com Pay: merchant dashboard refund and wallet-address collection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30029-7C4B-4C05-8007-D1AE1005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0A92E-8BF6-494A-AC02-5965AEFB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5A50"/>
                </a:solidFill>
              </a:defRPr>
            </a:pPr>
            <a:r>
              <a:rPr sz="1350" b="0">
                <a:solidFill>
                  <a:srgbClr val="5F5A50"/>
                </a:solidFill>
              </a:rPr>
              <a:t>Cobo: one-time refund link, risk controls, webhooks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9D67F-28BD-4D68-9B71-5BEDB997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9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A1819-AAB8-4A7B-A1A8-21BCC5F8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338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5A50"/>
                </a:solidFill>
              </a:defRPr>
            </a:pPr>
            <a:r>
              <a:rPr sz="1350" b="0">
                <a:solidFill>
                  <a:srgbClr val="5F5A50"/>
                </a:solidFill>
              </a:rPr>
              <a:t>BVNK: auto-refund exists but CEX pooled wallet caveat applies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B0CAB-48D6-46BE-8723-A0C9E284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A61EF-1771-4F5C-8BAE-8C019852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529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5A50"/>
                </a:solidFill>
              </a:defRPr>
            </a:pPr>
            <a:r>
              <a:rPr sz="1350" b="0">
                <a:solidFill>
                  <a:srgbClr val="5F5A50"/>
                </a:solidFill>
              </a:rPr>
              <a:t>Coinbase: crypto transfers are final and require careful destination handling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41676-CC4C-4C8C-B515-3087F2F1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9944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157F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0C56B-55A7-44DA-8108-81FB5634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EF0B6"/>
                </a:solidFill>
              </a:defRPr>
            </a:pPr>
            <a:r>
              <a:rPr sz="1350" b="1">
                <a:solidFill>
                  <a:srgbClr val="8EF0B6"/>
                </a:solidFill>
              </a:rPr>
              <a:t>Working conclusion: collect a customer-confirmed refund destination and process it as a controlled payout, not a blind reversal.</a:t>
            </a:r>
          </a:p>
        </p:txBody>
      </p:sp>
    </p:spTree>
    <p:extLst>
      <p:ext uri="{BB962C8B-B14F-4D97-AF65-F5344CB8AC3E}">
        <p14:creationId xmlns:p14="http://schemas.microsoft.com/office/powerpoint/2010/main" val="603381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2026-06-21T13:16:50.5910000Z</dcterms:created>
  <dcterms:modified xsi:type="dcterms:W3CDTF">2026-06-21T13:16:50.5910000Z</dcterms:modified>
</coreProperties>
</file>
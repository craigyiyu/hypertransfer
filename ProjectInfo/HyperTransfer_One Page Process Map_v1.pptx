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9202400" cy="8229600"/>
  <p:notesSz cx="8229600" cy="1920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200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4822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0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1106424"/>
            <a:ext cx="19202400" cy="18288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HyperTransfer End-to-End Virtual Asset Flow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326" y="562356"/>
            <a:ext cx="1243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customer access to KYC, KYT, Travel Rule, Hex Safe custody, WTA settlement, OTC conversion, and payout controls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753610" y="219456"/>
            <a:ext cx="1298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2026-06-08</a:t>
            </a:r>
            <a:endParaRPr lang="en-US" sz="900" i="1" dirty="0"/>
          </a:p>
        </p:txBody>
      </p:sp>
      <p:sp>
        <p:nvSpPr>
          <p:cNvPr id="15" name="Shape 13"/>
          <p:cNvSpPr/>
          <p:nvPr/>
        </p:nvSpPr>
        <p:spPr>
          <a:xfrm>
            <a:off x="0" y="1124712"/>
            <a:ext cx="19202400" cy="4361688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502920" y="1179576"/>
            <a:ext cx="3749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8-stage gated asset movement flow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9184" y="1408176"/>
            <a:ext cx="2121408" cy="3090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EF5"/>
            </a:solidFill>
            <a:prstDash val="solid"/>
          </a:ln>
          <a:effectLst>
            <a:outerShdw blurRad="12700" dist="50800" dir="2700000" algn="bl" rotWithShape="0">
              <a:srgbClr val="B8C3D1">
                <a:alpha val="16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438912" y="1499616"/>
            <a:ext cx="190195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457200" y="1609344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457200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" y="1572768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Account Access &amp; MFA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" y="2103120"/>
            <a:ext cx="1828800" cy="0"/>
          </a:xfrm>
          <a:prstGeom prst="line">
            <a:avLst/>
          </a:prstGeom>
          <a:noFill/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484632" y="2286000"/>
            <a:ext cx="182880" cy="182880"/>
          </a:xfrm>
          <a:prstGeom prst="ellipse">
            <a:avLst/>
          </a:prstGeom>
          <a:solidFill>
            <a:srgbClr val="EAF2FF"/>
          </a:solidFill>
          <a:ln w="698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CN" sz="800" b="1"/>
          </a:p>
        </p:txBody>
      </p:sp>
      <p:sp>
        <p:nvSpPr>
          <p:cNvPr id="24" name="Text 22"/>
          <p:cNvSpPr/>
          <p:nvPr/>
        </p:nvSpPr>
        <p:spPr>
          <a:xfrm>
            <a:off x="484632" y="22814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b="1" dirty="0"/>
          </a:p>
        </p:txBody>
      </p:sp>
      <p:sp>
        <p:nvSpPr>
          <p:cNvPr id="25" name="Text 23"/>
          <p:cNvSpPr/>
          <p:nvPr/>
        </p:nvSpPr>
        <p:spPr>
          <a:xfrm>
            <a:off x="722376" y="2212848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or sign 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" y="2715768"/>
            <a:ext cx="182880" cy="182880"/>
          </a:xfrm>
          <a:prstGeom prst="ellipse">
            <a:avLst/>
          </a:prstGeom>
          <a:solidFill>
            <a:srgbClr val="EAF2FF"/>
          </a:solidFill>
          <a:ln w="698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CN" sz="800" b="1"/>
          </a:p>
        </p:txBody>
      </p:sp>
      <p:sp>
        <p:nvSpPr>
          <p:cNvPr id="27" name="Text 25"/>
          <p:cNvSpPr/>
          <p:nvPr/>
        </p:nvSpPr>
        <p:spPr>
          <a:xfrm>
            <a:off x="484632" y="27111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b="1" dirty="0"/>
          </a:p>
        </p:txBody>
      </p:sp>
      <p:sp>
        <p:nvSpPr>
          <p:cNvPr id="28" name="Text 26"/>
          <p:cNvSpPr/>
          <p:nvPr/>
        </p:nvSpPr>
        <p:spPr>
          <a:xfrm>
            <a:off x="722376" y="2642616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SMS OTP first factor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" y="3145536"/>
            <a:ext cx="182880" cy="182880"/>
          </a:xfrm>
          <a:prstGeom prst="ellipse">
            <a:avLst/>
          </a:prstGeom>
          <a:solidFill>
            <a:srgbClr val="EAF2FF"/>
          </a:solidFill>
          <a:ln w="698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CN" sz="800" b="1"/>
          </a:p>
        </p:txBody>
      </p:sp>
      <p:sp>
        <p:nvSpPr>
          <p:cNvPr id="30" name="Text 28"/>
          <p:cNvSpPr/>
          <p:nvPr/>
        </p:nvSpPr>
        <p:spPr>
          <a:xfrm>
            <a:off x="484632" y="31409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b="1" dirty="0"/>
          </a:p>
        </p:txBody>
      </p:sp>
      <p:sp>
        <p:nvSpPr>
          <p:cNvPr id="31" name="Text 29"/>
          <p:cNvSpPr/>
          <p:nvPr/>
        </p:nvSpPr>
        <p:spPr>
          <a:xfrm>
            <a:off x="722376" y="3072384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Authenticator TOTP MFA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" y="3575304"/>
            <a:ext cx="182880" cy="182880"/>
          </a:xfrm>
          <a:prstGeom prst="ellipse">
            <a:avLst/>
          </a:prstGeom>
          <a:solidFill>
            <a:srgbClr val="EAF2FF"/>
          </a:solidFill>
          <a:ln w="698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CN" sz="800" b="1"/>
          </a:p>
        </p:txBody>
      </p:sp>
      <p:sp>
        <p:nvSpPr>
          <p:cNvPr id="33" name="Text 31"/>
          <p:cNvSpPr/>
          <p:nvPr/>
        </p:nvSpPr>
        <p:spPr>
          <a:xfrm>
            <a:off x="484632" y="35707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b="1" dirty="0"/>
          </a:p>
        </p:txBody>
      </p:sp>
      <p:sp>
        <p:nvSpPr>
          <p:cNvPr id="34" name="Text 32"/>
          <p:cNvSpPr/>
          <p:nvPr/>
        </p:nvSpPr>
        <p:spPr>
          <a:xfrm>
            <a:off x="722376" y="3502152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codes issued once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" y="3931920"/>
            <a:ext cx="1847088" cy="393192"/>
          </a:xfrm>
          <a:prstGeom prst="roundRect">
            <a:avLst/>
          </a:prstGeom>
          <a:solidFill>
            <a:srgbClr val="EAF2FF"/>
          </a:solidFill>
          <a:ln w="825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530352" y="3977640"/>
            <a:ext cx="1719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86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ea typeface="Aptos" pitchFamily="34" charset="-122"/>
                <a:cs typeface="Aptos" pitchFamily="34" charset="-120"/>
              </a:rPr>
              <a:t>Gate: </a:t>
            </a:r>
            <a:r>
              <a:rPr lang="en-US" sz="900" dirty="0">
                <a:solidFill>
                  <a:srgbClr val="0B1F3A"/>
                </a:solidFill>
                <a:ea typeface="Aptos" pitchFamily="34" charset="-122"/>
                <a:cs typeface="Aptos" pitchFamily="34" charset="-120"/>
              </a:rPr>
              <a:t>MFA Gate: SMS OTP + TOTP valid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389888" y="4325112"/>
            <a:ext cx="0" cy="329184"/>
          </a:xfrm>
          <a:prstGeom prst="line">
            <a:avLst/>
          </a:prstGeom>
          <a:noFill/>
          <a:ln w="10160">
            <a:solidFill>
              <a:srgbClr val="2563EB">
                <a:alpha val="85000"/>
              </a:srgbClr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38" name="Shape 36"/>
          <p:cNvSpPr/>
          <p:nvPr/>
        </p:nvSpPr>
        <p:spPr>
          <a:xfrm>
            <a:off x="329184" y="4654296"/>
            <a:ext cx="2121408" cy="658368"/>
          </a:xfrm>
          <a:prstGeom prst="roundRect">
            <a:avLst/>
          </a:prstGeom>
          <a:solidFill>
            <a:srgbClr val="FBFCFE"/>
          </a:solidFill>
          <a:ln w="8255">
            <a:solidFill>
              <a:srgbClr val="2563E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9" name="Text 37"/>
          <p:cNvSpPr/>
          <p:nvPr/>
        </p:nvSpPr>
        <p:spPr>
          <a:xfrm>
            <a:off x="448056" y="4718304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/ Control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48056" y="490118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Expired OTP / TOTP: regenerate or restart challenge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482596" y="3035808"/>
            <a:ext cx="15544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42" name="Shape 40"/>
          <p:cNvSpPr/>
          <p:nvPr/>
        </p:nvSpPr>
        <p:spPr>
          <a:xfrm>
            <a:off x="2670048" y="1408176"/>
            <a:ext cx="2121408" cy="3090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EF5"/>
            </a:solidFill>
            <a:prstDash val="solid"/>
          </a:ln>
          <a:effectLst>
            <a:outerShdw blurRad="12700" dist="50800" dir="2700000" algn="bl" rotWithShape="0">
              <a:srgbClr val="B8C3D1">
                <a:alpha val="16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43" name="Shape 41"/>
          <p:cNvSpPr/>
          <p:nvPr/>
        </p:nvSpPr>
        <p:spPr>
          <a:xfrm>
            <a:off x="2779776" y="1499616"/>
            <a:ext cx="190195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4" name="Shape 42"/>
          <p:cNvSpPr/>
          <p:nvPr/>
        </p:nvSpPr>
        <p:spPr>
          <a:xfrm>
            <a:off x="2798064" y="1609344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2798064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182112" y="1572768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KYC Eligibility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816352" y="2103120"/>
            <a:ext cx="1828800" cy="0"/>
          </a:xfrm>
          <a:prstGeom prst="line">
            <a:avLst/>
          </a:prstGeom>
          <a:noFill/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8" name="Shape 46"/>
          <p:cNvSpPr/>
          <p:nvPr/>
        </p:nvSpPr>
        <p:spPr>
          <a:xfrm>
            <a:off x="2825496" y="2286000"/>
            <a:ext cx="182880" cy="182880"/>
          </a:xfrm>
          <a:prstGeom prst="ellipse">
            <a:avLst/>
          </a:prstGeom>
          <a:solidFill>
            <a:srgbClr val="F1EAFE"/>
          </a:solidFill>
          <a:ln w="698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 sz="800" b="1"/>
          </a:p>
        </p:txBody>
      </p:sp>
      <p:sp>
        <p:nvSpPr>
          <p:cNvPr id="49" name="Text 47"/>
          <p:cNvSpPr/>
          <p:nvPr/>
        </p:nvSpPr>
        <p:spPr>
          <a:xfrm>
            <a:off x="2825496" y="22814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063240" y="2212848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identity profile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825496" y="2715768"/>
            <a:ext cx="182880" cy="182880"/>
          </a:xfrm>
          <a:prstGeom prst="ellipse">
            <a:avLst/>
          </a:prstGeom>
          <a:solidFill>
            <a:srgbClr val="F1EAFE"/>
          </a:solidFill>
          <a:ln w="698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2" name="Text 50"/>
          <p:cNvSpPr/>
          <p:nvPr/>
        </p:nvSpPr>
        <p:spPr>
          <a:xfrm>
            <a:off x="2825496" y="27111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b="1" dirty="0"/>
          </a:p>
        </p:txBody>
      </p:sp>
      <p:sp>
        <p:nvSpPr>
          <p:cNvPr id="53" name="Text 51"/>
          <p:cNvSpPr/>
          <p:nvPr/>
        </p:nvSpPr>
        <p:spPr>
          <a:xfrm>
            <a:off x="3063240" y="2642616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supporting document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825496" y="3145536"/>
            <a:ext cx="182880" cy="182880"/>
          </a:xfrm>
          <a:prstGeom prst="ellipse">
            <a:avLst/>
          </a:prstGeom>
          <a:solidFill>
            <a:srgbClr val="F1EAFE"/>
          </a:solidFill>
          <a:ln w="698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5" name="Text 53"/>
          <p:cNvSpPr/>
          <p:nvPr/>
        </p:nvSpPr>
        <p:spPr>
          <a:xfrm>
            <a:off x="2825496" y="31409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b="1" dirty="0"/>
          </a:p>
        </p:txBody>
      </p:sp>
      <p:sp>
        <p:nvSpPr>
          <p:cNvPr id="56" name="Text 54"/>
          <p:cNvSpPr/>
          <p:nvPr/>
        </p:nvSpPr>
        <p:spPr>
          <a:xfrm>
            <a:off x="3063240" y="3072384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or casino KYC check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825496" y="3575304"/>
            <a:ext cx="182880" cy="182880"/>
          </a:xfrm>
          <a:prstGeom prst="ellipse">
            <a:avLst/>
          </a:prstGeom>
          <a:solidFill>
            <a:srgbClr val="F1EAFE"/>
          </a:solidFill>
          <a:ln w="698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 sz="800" b="1"/>
          </a:p>
        </p:txBody>
      </p:sp>
      <p:sp>
        <p:nvSpPr>
          <p:cNvPr id="58" name="Text 56"/>
          <p:cNvSpPr/>
          <p:nvPr/>
        </p:nvSpPr>
        <p:spPr>
          <a:xfrm>
            <a:off x="2825496" y="35707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54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540" dirty="0"/>
          </a:p>
        </p:txBody>
      </p:sp>
      <p:sp>
        <p:nvSpPr>
          <p:cNvPr id="59" name="Text 57"/>
          <p:cNvSpPr/>
          <p:nvPr/>
        </p:nvSpPr>
        <p:spPr>
          <a:xfrm>
            <a:off x="3063240" y="3502152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Wynn policy owns final decision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807208" y="3931920"/>
            <a:ext cx="1847088" cy="393192"/>
          </a:xfrm>
          <a:prstGeom prst="roundRect">
            <a:avLst/>
          </a:prstGeom>
          <a:solidFill>
            <a:srgbClr val="F1EAFE"/>
          </a:solidFill>
          <a:ln w="825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1" name="Text 59"/>
          <p:cNvSpPr/>
          <p:nvPr/>
        </p:nvSpPr>
        <p:spPr>
          <a:xfrm>
            <a:off x="2871216" y="3977640"/>
            <a:ext cx="1719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86000"/>
              </a:lnSpc>
              <a:buNone/>
            </a:pPr>
            <a:r>
              <a:rPr lang="en-US" sz="900" b="1" dirty="0">
                <a:solidFill>
                  <a:srgbClr val="7C3AED"/>
                </a:solidFill>
                <a:ea typeface="Aptos" pitchFamily="34" charset="-122"/>
                <a:cs typeface="Aptos" pitchFamily="34" charset="-120"/>
              </a:rPr>
              <a:t>Gate: </a:t>
            </a:r>
            <a:r>
              <a:rPr lang="en-US" sz="900" dirty="0">
                <a:solidFill>
                  <a:srgbClr val="0B1F3A"/>
                </a:solidFill>
                <a:ea typeface="Aptos" pitchFamily="34" charset="-122"/>
                <a:cs typeface="Aptos" pitchFamily="34" charset="-120"/>
              </a:rPr>
              <a:t>KYC approved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730752" y="4325112"/>
            <a:ext cx="0" cy="329184"/>
          </a:xfrm>
          <a:prstGeom prst="line">
            <a:avLst/>
          </a:prstGeom>
          <a:noFill/>
          <a:ln w="10160">
            <a:solidFill>
              <a:srgbClr val="7C3AED">
                <a:alpha val="85000"/>
              </a:srgbClr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63" name="Shape 61"/>
          <p:cNvSpPr/>
          <p:nvPr/>
        </p:nvSpPr>
        <p:spPr>
          <a:xfrm>
            <a:off x="2670048" y="4654296"/>
            <a:ext cx="2121408" cy="658368"/>
          </a:xfrm>
          <a:prstGeom prst="roundRect">
            <a:avLst/>
          </a:prstGeom>
          <a:solidFill>
            <a:srgbClr val="FBFCFE"/>
          </a:solidFill>
          <a:ln w="8255">
            <a:solidFill>
              <a:srgbClr val="7C3AE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4" name="Text 62"/>
          <p:cNvSpPr/>
          <p:nvPr/>
        </p:nvSpPr>
        <p:spPr>
          <a:xfrm>
            <a:off x="2788920" y="4718304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/ Control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2788920" y="490118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/ EDD / blocked: manual review or stop flow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823460" y="3035808"/>
            <a:ext cx="15544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67" name="Shape 65"/>
          <p:cNvSpPr/>
          <p:nvPr/>
        </p:nvSpPr>
        <p:spPr>
          <a:xfrm>
            <a:off x="5010912" y="1408176"/>
            <a:ext cx="2121408" cy="3090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EF5"/>
            </a:solidFill>
            <a:prstDash val="solid"/>
          </a:ln>
          <a:effectLst>
            <a:outerShdw blurRad="12700" dist="50800" dir="2700000" algn="bl" rotWithShape="0">
              <a:srgbClr val="B8C3D1">
                <a:alpha val="16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8" name="Shape 66"/>
          <p:cNvSpPr/>
          <p:nvPr/>
        </p:nvSpPr>
        <p:spPr>
          <a:xfrm>
            <a:off x="5120640" y="1499616"/>
            <a:ext cx="1901952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9" name="Shape 67"/>
          <p:cNvSpPr/>
          <p:nvPr/>
        </p:nvSpPr>
        <p:spPr>
          <a:xfrm>
            <a:off x="5138928" y="1609344"/>
            <a:ext cx="329184" cy="3291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0" name="Text 68"/>
          <p:cNvSpPr/>
          <p:nvPr/>
        </p:nvSpPr>
        <p:spPr>
          <a:xfrm>
            <a:off x="5138928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522976" y="1572768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Deposit Setup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157216" y="2103120"/>
            <a:ext cx="1828800" cy="0"/>
          </a:xfrm>
          <a:prstGeom prst="line">
            <a:avLst/>
          </a:prstGeom>
          <a:noFill/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3" name="Shape 71"/>
          <p:cNvSpPr/>
          <p:nvPr/>
        </p:nvSpPr>
        <p:spPr>
          <a:xfrm>
            <a:off x="5166360" y="2286000"/>
            <a:ext cx="182880" cy="182880"/>
          </a:xfrm>
          <a:prstGeom prst="ellipse">
            <a:avLst/>
          </a:prstGeom>
          <a:solidFill>
            <a:srgbClr val="FFF1E7"/>
          </a:solidFill>
          <a:ln w="698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4" name="Text 72"/>
          <p:cNvSpPr/>
          <p:nvPr/>
        </p:nvSpPr>
        <p:spPr>
          <a:xfrm>
            <a:off x="5166360" y="22814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04104" y="2212848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USDT or USDC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166360" y="2715768"/>
            <a:ext cx="182880" cy="182880"/>
          </a:xfrm>
          <a:prstGeom prst="ellipse">
            <a:avLst/>
          </a:prstGeom>
          <a:solidFill>
            <a:srgbClr val="FFF1E7"/>
          </a:solidFill>
          <a:ln w="698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7" name="Text 75"/>
          <p:cNvSpPr/>
          <p:nvPr/>
        </p:nvSpPr>
        <p:spPr>
          <a:xfrm>
            <a:off x="5166360" y="27111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04104" y="2642616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approved network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5166360" y="3145536"/>
            <a:ext cx="182880" cy="182880"/>
          </a:xfrm>
          <a:prstGeom prst="ellipse">
            <a:avLst/>
          </a:prstGeom>
          <a:solidFill>
            <a:srgbClr val="FFF1E7"/>
          </a:solidFill>
          <a:ln w="698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0" name="Text 78"/>
          <p:cNvSpPr/>
          <p:nvPr/>
        </p:nvSpPr>
        <p:spPr>
          <a:xfrm>
            <a:off x="5166360" y="31409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404104" y="3072384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expected amount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166360" y="3575304"/>
            <a:ext cx="182880" cy="182880"/>
          </a:xfrm>
          <a:prstGeom prst="ellipse">
            <a:avLst/>
          </a:prstGeom>
          <a:solidFill>
            <a:srgbClr val="FFF1E7"/>
          </a:solidFill>
          <a:ln w="698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3" name="Text 81"/>
          <p:cNvSpPr/>
          <p:nvPr/>
        </p:nvSpPr>
        <p:spPr>
          <a:xfrm>
            <a:off x="5166360" y="35707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404104" y="3502152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Deposit Request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5175504" y="3895344"/>
            <a:ext cx="1792224" cy="201168"/>
          </a:xfrm>
          <a:prstGeom prst="roundRect">
            <a:avLst/>
          </a:prstGeom>
          <a:solidFill>
            <a:srgbClr val="FFF8F1"/>
          </a:solidFill>
          <a:ln w="571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6" name="Text 84"/>
          <p:cNvSpPr/>
          <p:nvPr/>
        </p:nvSpPr>
        <p:spPr>
          <a:xfrm>
            <a:off x="5202936" y="39044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5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USDT ETH / TRON; USDC ETH</a:t>
            </a:r>
            <a:endParaRPr lang="en-US" sz="530" dirty="0"/>
          </a:p>
        </p:txBody>
      </p:sp>
      <p:sp>
        <p:nvSpPr>
          <p:cNvPr id="87" name="Shape 85"/>
          <p:cNvSpPr/>
          <p:nvPr/>
        </p:nvSpPr>
        <p:spPr>
          <a:xfrm>
            <a:off x="5202936" y="3863637"/>
            <a:ext cx="1847088" cy="393192"/>
          </a:xfrm>
          <a:prstGeom prst="roundRect">
            <a:avLst/>
          </a:prstGeom>
          <a:solidFill>
            <a:srgbClr val="FFF1E7"/>
          </a:solidFill>
          <a:ln w="825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8" name="Text 86"/>
          <p:cNvSpPr/>
          <p:nvPr/>
        </p:nvSpPr>
        <p:spPr>
          <a:xfrm>
            <a:off x="5212080" y="3977640"/>
            <a:ext cx="1719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86000"/>
              </a:lnSpc>
              <a:buNone/>
            </a:pPr>
            <a:r>
              <a:rPr lang="en-US" sz="900" b="1" dirty="0">
                <a:solidFill>
                  <a:srgbClr val="EA580C"/>
                </a:solidFill>
                <a:ea typeface="Aptos" pitchFamily="34" charset="-122"/>
                <a:cs typeface="Aptos" pitchFamily="34" charset="-120"/>
              </a:rPr>
              <a:t>Gate: </a:t>
            </a:r>
            <a:r>
              <a:rPr lang="en-US" sz="900" dirty="0">
                <a:solidFill>
                  <a:srgbClr val="0B1F3A"/>
                </a:solidFill>
                <a:ea typeface="Aptos" pitchFamily="34" charset="-122"/>
                <a:cs typeface="Aptos" pitchFamily="34" charset="-120"/>
              </a:rPr>
              <a:t>Phase 1 network allowed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071616" y="4325112"/>
            <a:ext cx="0" cy="329184"/>
          </a:xfrm>
          <a:prstGeom prst="line">
            <a:avLst/>
          </a:prstGeom>
          <a:noFill/>
          <a:ln w="10160">
            <a:solidFill>
              <a:srgbClr val="EA580C">
                <a:alpha val="85000"/>
              </a:srgbClr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90" name="Shape 88"/>
          <p:cNvSpPr/>
          <p:nvPr/>
        </p:nvSpPr>
        <p:spPr>
          <a:xfrm>
            <a:off x="5010912" y="4654296"/>
            <a:ext cx="2121408" cy="658368"/>
          </a:xfrm>
          <a:prstGeom prst="roundRect">
            <a:avLst/>
          </a:prstGeom>
          <a:solidFill>
            <a:srgbClr val="FBFCFE"/>
          </a:solidFill>
          <a:ln w="8255">
            <a:solidFill>
              <a:srgbClr val="EA580C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1" name="Text 89"/>
          <p:cNvSpPr/>
          <p:nvPr/>
        </p:nvSpPr>
        <p:spPr>
          <a:xfrm>
            <a:off x="5129784" y="4718304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/ Control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5129784" y="490118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network: stop or manual exception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7164324" y="3035808"/>
            <a:ext cx="15544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94" name="Shape 92"/>
          <p:cNvSpPr/>
          <p:nvPr/>
        </p:nvSpPr>
        <p:spPr>
          <a:xfrm>
            <a:off x="7351776" y="1408176"/>
            <a:ext cx="2121408" cy="3090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EF5"/>
            </a:solidFill>
            <a:prstDash val="solid"/>
          </a:ln>
          <a:effectLst>
            <a:outerShdw blurRad="12700" dist="50800" dir="2700000" algn="bl" rotWithShape="0">
              <a:srgbClr val="B8C3D1">
                <a:alpha val="16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95" name="Shape 93"/>
          <p:cNvSpPr/>
          <p:nvPr/>
        </p:nvSpPr>
        <p:spPr>
          <a:xfrm>
            <a:off x="7461504" y="1499616"/>
            <a:ext cx="190195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6" name="Shape 94"/>
          <p:cNvSpPr/>
          <p:nvPr/>
        </p:nvSpPr>
        <p:spPr>
          <a:xfrm>
            <a:off x="7479792" y="1609344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7" name="Text 95"/>
          <p:cNvSpPr/>
          <p:nvPr/>
        </p:nvSpPr>
        <p:spPr>
          <a:xfrm>
            <a:off x="7479792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7863840" y="1572768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Wallet KYT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7498080" y="2103120"/>
            <a:ext cx="1828800" cy="0"/>
          </a:xfrm>
          <a:prstGeom prst="line">
            <a:avLst/>
          </a:prstGeom>
          <a:noFill/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0" name="Shape 98"/>
          <p:cNvSpPr/>
          <p:nvPr/>
        </p:nvSpPr>
        <p:spPr>
          <a:xfrm>
            <a:off x="7507224" y="2286000"/>
            <a:ext cx="182880" cy="182880"/>
          </a:xfrm>
          <a:prstGeom prst="ellipse">
            <a:avLst/>
          </a:prstGeom>
          <a:solidFill>
            <a:srgbClr val="FFF7E6"/>
          </a:solidFill>
          <a:ln w="698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1" name="Text 99"/>
          <p:cNvSpPr/>
          <p:nvPr/>
        </p:nvSpPr>
        <p:spPr>
          <a:xfrm>
            <a:off x="7507224" y="22814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b="1" dirty="0"/>
          </a:p>
        </p:txBody>
      </p:sp>
      <p:sp>
        <p:nvSpPr>
          <p:cNvPr id="102" name="Text 100"/>
          <p:cNvSpPr/>
          <p:nvPr/>
        </p:nvSpPr>
        <p:spPr>
          <a:xfrm>
            <a:off x="7744968" y="2212848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source wallet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7507224" y="2715768"/>
            <a:ext cx="182880" cy="182880"/>
          </a:xfrm>
          <a:prstGeom prst="ellipse">
            <a:avLst/>
          </a:prstGeom>
          <a:solidFill>
            <a:srgbClr val="FFF7E6"/>
          </a:solidFill>
          <a:ln w="698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CN" sz="800"/>
          </a:p>
        </p:txBody>
      </p:sp>
      <p:sp>
        <p:nvSpPr>
          <p:cNvPr id="104" name="Text 102"/>
          <p:cNvSpPr/>
          <p:nvPr/>
        </p:nvSpPr>
        <p:spPr>
          <a:xfrm>
            <a:off x="7507224" y="27111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7744968" y="2642616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wallet risk screening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7507224" y="3145536"/>
            <a:ext cx="182880" cy="182880"/>
          </a:xfrm>
          <a:prstGeom prst="ellipse">
            <a:avLst/>
          </a:prstGeom>
          <a:solidFill>
            <a:srgbClr val="FFF7E6"/>
          </a:solidFill>
          <a:ln w="698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7" name="Text 105"/>
          <p:cNvSpPr/>
          <p:nvPr/>
        </p:nvSpPr>
        <p:spPr>
          <a:xfrm>
            <a:off x="7507224" y="31409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b="1" dirty="0"/>
          </a:p>
        </p:txBody>
      </p:sp>
      <p:sp>
        <p:nvSpPr>
          <p:cNvPr id="108" name="Text 106"/>
          <p:cNvSpPr/>
          <p:nvPr/>
        </p:nvSpPr>
        <p:spPr>
          <a:xfrm>
            <a:off x="7744968" y="3072384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Pass / EDD / Fail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7507224" y="3575304"/>
            <a:ext cx="182880" cy="182880"/>
          </a:xfrm>
          <a:prstGeom prst="ellipse">
            <a:avLst/>
          </a:prstGeom>
          <a:solidFill>
            <a:srgbClr val="FFF7E6"/>
          </a:solidFill>
          <a:ln w="698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0" name="Text 108"/>
          <p:cNvSpPr/>
          <p:nvPr/>
        </p:nvSpPr>
        <p:spPr>
          <a:xfrm>
            <a:off x="7507224" y="35707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b="1" dirty="0"/>
          </a:p>
        </p:txBody>
      </p:sp>
      <p:sp>
        <p:nvSpPr>
          <p:cNvPr id="111" name="Text 109"/>
          <p:cNvSpPr/>
          <p:nvPr/>
        </p:nvSpPr>
        <p:spPr>
          <a:xfrm>
            <a:off x="7744968" y="3502152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 result to DepositRequest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7488936" y="3931920"/>
            <a:ext cx="1847088" cy="393192"/>
          </a:xfrm>
          <a:prstGeom prst="roundRect">
            <a:avLst/>
          </a:prstGeom>
          <a:solidFill>
            <a:srgbClr val="FFF7E6"/>
          </a:solidFill>
          <a:ln w="825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CN" sz="900"/>
          </a:p>
        </p:txBody>
      </p:sp>
      <p:sp>
        <p:nvSpPr>
          <p:cNvPr id="113" name="Text 111"/>
          <p:cNvSpPr/>
          <p:nvPr/>
        </p:nvSpPr>
        <p:spPr>
          <a:xfrm>
            <a:off x="7552944" y="3977640"/>
            <a:ext cx="1719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86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Gate: </a:t>
            </a:r>
            <a:r>
              <a:rPr lang="en-US" sz="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Wallet KYT passed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8412480" y="4325112"/>
            <a:ext cx="0" cy="329184"/>
          </a:xfrm>
          <a:prstGeom prst="line">
            <a:avLst/>
          </a:prstGeom>
          <a:noFill/>
          <a:ln w="10160">
            <a:solidFill>
              <a:srgbClr val="D97706">
                <a:alpha val="85000"/>
              </a:srgbClr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115" name="Shape 113"/>
          <p:cNvSpPr/>
          <p:nvPr/>
        </p:nvSpPr>
        <p:spPr>
          <a:xfrm>
            <a:off x="7351776" y="4654296"/>
            <a:ext cx="2121408" cy="658368"/>
          </a:xfrm>
          <a:prstGeom prst="roundRect">
            <a:avLst/>
          </a:prstGeom>
          <a:solidFill>
            <a:srgbClr val="FBFCFE"/>
          </a:solidFill>
          <a:ln w="8255">
            <a:solidFill>
              <a:srgbClr val="D9770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6" name="Text 114"/>
          <p:cNvSpPr/>
          <p:nvPr/>
        </p:nvSpPr>
        <p:spPr>
          <a:xfrm>
            <a:off x="7470648" y="4718304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/ Control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7470648" y="490118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EDD or Fail: no address until review clears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9505188" y="3035808"/>
            <a:ext cx="15544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19" name="Shape 117"/>
          <p:cNvSpPr/>
          <p:nvPr/>
        </p:nvSpPr>
        <p:spPr>
          <a:xfrm>
            <a:off x="9692640" y="1408176"/>
            <a:ext cx="2121408" cy="3090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EF5"/>
            </a:solidFill>
            <a:prstDash val="solid"/>
          </a:ln>
          <a:effectLst>
            <a:outerShdw blurRad="12700" dist="50800" dir="2700000" algn="bl" rotWithShape="0">
              <a:srgbClr val="B8C3D1">
                <a:alpha val="16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20" name="Shape 118"/>
          <p:cNvSpPr/>
          <p:nvPr/>
        </p:nvSpPr>
        <p:spPr>
          <a:xfrm>
            <a:off x="9802368" y="1499616"/>
            <a:ext cx="1901952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1" name="Shape 119"/>
          <p:cNvSpPr/>
          <p:nvPr/>
        </p:nvSpPr>
        <p:spPr>
          <a:xfrm>
            <a:off x="9820656" y="1609344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2" name="Text 120"/>
          <p:cNvSpPr/>
          <p:nvPr/>
        </p:nvSpPr>
        <p:spPr>
          <a:xfrm>
            <a:off x="9820656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10204704" y="1572768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Travel Rule Gate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9838944" y="2103120"/>
            <a:ext cx="1828800" cy="0"/>
          </a:xfrm>
          <a:prstGeom prst="line">
            <a:avLst/>
          </a:prstGeom>
          <a:noFill/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5" name="Shape 123"/>
          <p:cNvSpPr/>
          <p:nvPr/>
        </p:nvSpPr>
        <p:spPr>
          <a:xfrm>
            <a:off x="9848088" y="2286000"/>
            <a:ext cx="182880" cy="182880"/>
          </a:xfrm>
          <a:prstGeom prst="ellipse">
            <a:avLst/>
          </a:prstGeom>
          <a:solidFill>
            <a:srgbClr val="F4EFFF"/>
          </a:solidFill>
          <a:ln w="698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6" name="Text 124"/>
          <p:cNvSpPr/>
          <p:nvPr/>
        </p:nvSpPr>
        <p:spPr>
          <a:xfrm>
            <a:off x="9848088" y="22814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b="1" dirty="0"/>
          </a:p>
        </p:txBody>
      </p:sp>
      <p:sp>
        <p:nvSpPr>
          <p:cNvPr id="127" name="Text 125"/>
          <p:cNvSpPr/>
          <p:nvPr/>
        </p:nvSpPr>
        <p:spPr>
          <a:xfrm>
            <a:off x="10085832" y="2212848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threshold and policy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9848088" y="2715768"/>
            <a:ext cx="182880" cy="182880"/>
          </a:xfrm>
          <a:prstGeom prst="ellipse">
            <a:avLst/>
          </a:prstGeom>
          <a:solidFill>
            <a:srgbClr val="F4EFFF"/>
          </a:solidFill>
          <a:ln w="698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CN" sz="600"/>
          </a:p>
        </p:txBody>
      </p:sp>
      <p:sp>
        <p:nvSpPr>
          <p:cNvPr id="129" name="Text 127"/>
          <p:cNvSpPr/>
          <p:nvPr/>
        </p:nvSpPr>
        <p:spPr>
          <a:xfrm>
            <a:off x="9848088" y="27111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b="1" dirty="0"/>
          </a:p>
        </p:txBody>
      </p:sp>
      <p:sp>
        <p:nvSpPr>
          <p:cNvPr id="130" name="Text 128"/>
          <p:cNvSpPr/>
          <p:nvPr/>
        </p:nvSpPr>
        <p:spPr>
          <a:xfrm>
            <a:off x="10085832" y="2642616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originator details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9848088" y="3145536"/>
            <a:ext cx="182880" cy="182880"/>
          </a:xfrm>
          <a:prstGeom prst="ellipse">
            <a:avLst/>
          </a:prstGeom>
          <a:solidFill>
            <a:srgbClr val="F4EFFF"/>
          </a:solidFill>
          <a:ln w="698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CN" sz="600"/>
          </a:p>
        </p:txBody>
      </p:sp>
      <p:sp>
        <p:nvSpPr>
          <p:cNvPr id="132" name="Text 130"/>
          <p:cNvSpPr/>
          <p:nvPr/>
        </p:nvSpPr>
        <p:spPr>
          <a:xfrm>
            <a:off x="9848088" y="31409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b="1" dirty="0"/>
          </a:p>
        </p:txBody>
      </p:sp>
      <p:sp>
        <p:nvSpPr>
          <p:cNvPr id="133" name="Text 131"/>
          <p:cNvSpPr/>
          <p:nvPr/>
        </p:nvSpPr>
        <p:spPr>
          <a:xfrm>
            <a:off x="10085832" y="3072384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beneficiary / VASP route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9848088" y="3575304"/>
            <a:ext cx="182880" cy="182880"/>
          </a:xfrm>
          <a:prstGeom prst="ellipse">
            <a:avLst/>
          </a:prstGeom>
          <a:solidFill>
            <a:srgbClr val="F4EFFF"/>
          </a:solidFill>
          <a:ln w="698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5" name="Text 133"/>
          <p:cNvSpPr/>
          <p:nvPr/>
        </p:nvSpPr>
        <p:spPr>
          <a:xfrm>
            <a:off x="9848088" y="35707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b="1" dirty="0"/>
          </a:p>
        </p:txBody>
      </p:sp>
      <p:sp>
        <p:nvSpPr>
          <p:cNvPr id="136" name="Text 134"/>
          <p:cNvSpPr/>
          <p:nvPr/>
        </p:nvSpPr>
        <p:spPr>
          <a:xfrm>
            <a:off x="10085832" y="3502152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or store provider record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9829800" y="3931920"/>
            <a:ext cx="1847088" cy="393192"/>
          </a:xfrm>
          <a:prstGeom prst="roundRect">
            <a:avLst/>
          </a:prstGeom>
          <a:solidFill>
            <a:srgbClr val="F4EFFF"/>
          </a:solidFill>
          <a:ln w="825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8" name="Text 136"/>
          <p:cNvSpPr/>
          <p:nvPr/>
        </p:nvSpPr>
        <p:spPr>
          <a:xfrm>
            <a:off x="9893808" y="3977640"/>
            <a:ext cx="1719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86000"/>
              </a:lnSpc>
              <a:buNone/>
            </a:pPr>
            <a:r>
              <a:rPr lang="en-US" sz="900" b="1" dirty="0">
                <a:solidFill>
                  <a:srgbClr val="8B5CF6"/>
                </a:solidFill>
                <a:ea typeface="Aptos" pitchFamily="34" charset="-122"/>
                <a:cs typeface="Aptos" pitchFamily="34" charset="-120"/>
              </a:rPr>
              <a:t>Gate: </a:t>
            </a:r>
            <a:r>
              <a:rPr lang="en-US" sz="900" dirty="0">
                <a:solidFill>
                  <a:srgbClr val="0B1F3A"/>
                </a:solidFill>
                <a:ea typeface="Aptos" pitchFamily="34" charset="-122"/>
                <a:cs typeface="Aptos" pitchFamily="34" charset="-120"/>
              </a:rPr>
              <a:t>Travel Rule accepted or not required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10753344" y="4325112"/>
            <a:ext cx="0" cy="329184"/>
          </a:xfrm>
          <a:prstGeom prst="line">
            <a:avLst/>
          </a:prstGeom>
          <a:noFill/>
          <a:ln w="10160">
            <a:solidFill>
              <a:srgbClr val="8B5CF6">
                <a:alpha val="85000"/>
              </a:srgbClr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140" name="Shape 138"/>
          <p:cNvSpPr/>
          <p:nvPr/>
        </p:nvSpPr>
        <p:spPr>
          <a:xfrm>
            <a:off x="9692640" y="4654296"/>
            <a:ext cx="2121408" cy="658368"/>
          </a:xfrm>
          <a:prstGeom prst="roundRect">
            <a:avLst/>
          </a:prstGeom>
          <a:solidFill>
            <a:srgbClr val="FBFCFE"/>
          </a:solidFill>
          <a:ln w="8255">
            <a:solidFill>
              <a:srgbClr val="8B5CF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1" name="Text 139"/>
          <p:cNvSpPr/>
          <p:nvPr/>
        </p:nvSpPr>
        <p:spPr>
          <a:xfrm>
            <a:off x="9811512" y="4718304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/ Control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9811512" y="490118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Rule incomplete: block address issuance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11846052" y="3035808"/>
            <a:ext cx="15544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44" name="Shape 142"/>
          <p:cNvSpPr/>
          <p:nvPr/>
        </p:nvSpPr>
        <p:spPr>
          <a:xfrm>
            <a:off x="12033504" y="1408176"/>
            <a:ext cx="2121408" cy="3090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EF5"/>
            </a:solidFill>
            <a:prstDash val="solid"/>
          </a:ln>
          <a:effectLst>
            <a:outerShdw blurRad="12700" dist="50800" dir="2700000" algn="bl" rotWithShape="0">
              <a:srgbClr val="B8C3D1">
                <a:alpha val="16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45" name="Shape 143"/>
          <p:cNvSpPr/>
          <p:nvPr/>
        </p:nvSpPr>
        <p:spPr>
          <a:xfrm>
            <a:off x="12143232" y="1499616"/>
            <a:ext cx="1901952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6" name="Shape 144"/>
          <p:cNvSpPr/>
          <p:nvPr/>
        </p:nvSpPr>
        <p:spPr>
          <a:xfrm>
            <a:off x="12161520" y="1609344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7" name="Text 145"/>
          <p:cNvSpPr/>
          <p:nvPr/>
        </p:nvSpPr>
        <p:spPr>
          <a:xfrm>
            <a:off x="12161520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12545568" y="1572768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Hex Safe Address</a:t>
            </a:r>
            <a:endParaRPr lang="en-US" sz="1100" dirty="0"/>
          </a:p>
        </p:txBody>
      </p:sp>
      <p:sp>
        <p:nvSpPr>
          <p:cNvPr id="149" name="Shape 147"/>
          <p:cNvSpPr/>
          <p:nvPr/>
        </p:nvSpPr>
        <p:spPr>
          <a:xfrm>
            <a:off x="12179808" y="2103120"/>
            <a:ext cx="1828800" cy="0"/>
          </a:xfrm>
          <a:prstGeom prst="line">
            <a:avLst/>
          </a:prstGeom>
          <a:noFill/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0" name="Shape 148"/>
          <p:cNvSpPr/>
          <p:nvPr/>
        </p:nvSpPr>
        <p:spPr>
          <a:xfrm>
            <a:off x="12188952" y="2286000"/>
            <a:ext cx="182880" cy="182880"/>
          </a:xfrm>
          <a:prstGeom prst="ellipse">
            <a:avLst/>
          </a:prstGeom>
          <a:solidFill>
            <a:srgbClr val="E7F8FC"/>
          </a:solidFill>
          <a:ln w="698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1" name="Text 149"/>
          <p:cNvSpPr/>
          <p:nvPr/>
        </p:nvSpPr>
        <p:spPr>
          <a:xfrm>
            <a:off x="12188952" y="22814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52" name="Text 150"/>
          <p:cNvSpPr/>
          <p:nvPr/>
        </p:nvSpPr>
        <p:spPr>
          <a:xfrm>
            <a:off x="12426696" y="2212848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calls custody adapter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12188952" y="2715768"/>
            <a:ext cx="182880" cy="182880"/>
          </a:xfrm>
          <a:prstGeom prst="ellipse">
            <a:avLst/>
          </a:prstGeom>
          <a:solidFill>
            <a:srgbClr val="E7F8FC"/>
          </a:solidFill>
          <a:ln w="698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4" name="Text 152"/>
          <p:cNvSpPr/>
          <p:nvPr/>
        </p:nvSpPr>
        <p:spPr>
          <a:xfrm>
            <a:off x="12188952" y="27111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55" name="Text 153"/>
          <p:cNvSpPr/>
          <p:nvPr/>
        </p:nvSpPr>
        <p:spPr>
          <a:xfrm>
            <a:off x="12426696" y="2642616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Hex Safe issues or retrieves address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12188952" y="3145536"/>
            <a:ext cx="182880" cy="182880"/>
          </a:xfrm>
          <a:prstGeom prst="ellipse">
            <a:avLst/>
          </a:prstGeom>
          <a:solidFill>
            <a:srgbClr val="E7F8FC"/>
          </a:solidFill>
          <a:ln w="698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7" name="Text 155"/>
          <p:cNvSpPr/>
          <p:nvPr/>
        </p:nvSpPr>
        <p:spPr>
          <a:xfrm>
            <a:off x="12188952" y="31409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58" name="Text 156"/>
          <p:cNvSpPr/>
          <p:nvPr/>
        </p:nvSpPr>
        <p:spPr>
          <a:xfrm>
            <a:off x="12426696" y="3072384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H5 shows QR and address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12188952" y="3575304"/>
            <a:ext cx="182880" cy="182880"/>
          </a:xfrm>
          <a:prstGeom prst="ellipse">
            <a:avLst/>
          </a:prstGeom>
          <a:solidFill>
            <a:srgbClr val="E7F8FC"/>
          </a:solidFill>
          <a:ln w="698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0" name="Text 158"/>
          <p:cNvSpPr/>
          <p:nvPr/>
        </p:nvSpPr>
        <p:spPr>
          <a:xfrm>
            <a:off x="12188952" y="35707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161" name="Text 159"/>
          <p:cNvSpPr/>
          <p:nvPr/>
        </p:nvSpPr>
        <p:spPr>
          <a:xfrm>
            <a:off x="12426696" y="3502152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1-unit test deposit verifies wallet ownership</a:t>
            </a:r>
            <a:endParaRPr lang="en-US" sz="900" dirty="0"/>
          </a:p>
        </p:txBody>
      </p:sp>
      <p:sp>
        <p:nvSpPr>
          <p:cNvPr id="162" name="Shape 160"/>
          <p:cNvSpPr/>
          <p:nvPr/>
        </p:nvSpPr>
        <p:spPr>
          <a:xfrm>
            <a:off x="12170664" y="3931920"/>
            <a:ext cx="1847088" cy="393192"/>
          </a:xfrm>
          <a:prstGeom prst="roundRect">
            <a:avLst/>
          </a:prstGeom>
          <a:solidFill>
            <a:srgbClr val="E7F8FC"/>
          </a:solidFill>
          <a:ln w="825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CN" sz="900"/>
          </a:p>
        </p:txBody>
      </p:sp>
      <p:sp>
        <p:nvSpPr>
          <p:cNvPr id="163" name="Text 161"/>
          <p:cNvSpPr/>
          <p:nvPr/>
        </p:nvSpPr>
        <p:spPr>
          <a:xfrm>
            <a:off x="12234672" y="3977640"/>
            <a:ext cx="1719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86000"/>
              </a:lnSpc>
              <a:buNone/>
            </a:pPr>
            <a:r>
              <a:rPr lang="en-US" sz="9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Gate: </a:t>
            </a:r>
            <a:r>
              <a:rPr lang="en-US" sz="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transaction matched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13094208" y="4325112"/>
            <a:ext cx="0" cy="329184"/>
          </a:xfrm>
          <a:prstGeom prst="line">
            <a:avLst/>
          </a:prstGeom>
          <a:noFill/>
          <a:ln w="10160">
            <a:solidFill>
              <a:srgbClr val="0891B2">
                <a:alpha val="85000"/>
              </a:srgbClr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165" name="Shape 163"/>
          <p:cNvSpPr/>
          <p:nvPr/>
        </p:nvSpPr>
        <p:spPr>
          <a:xfrm>
            <a:off x="12033504" y="4654296"/>
            <a:ext cx="2121408" cy="658368"/>
          </a:xfrm>
          <a:prstGeom prst="roundRect">
            <a:avLst/>
          </a:prstGeom>
          <a:solidFill>
            <a:srgbClr val="FBFCFE"/>
          </a:solidFill>
          <a:ln w="8255">
            <a:solidFill>
              <a:srgbClr val="0891B2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6" name="Text 164"/>
          <p:cNvSpPr/>
          <p:nvPr/>
        </p:nvSpPr>
        <p:spPr>
          <a:xfrm>
            <a:off x="12152376" y="4718304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08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/ Control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12152376" y="490118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Mismatch / expiry: return, void, or review session</a:t>
            </a:r>
            <a:endParaRPr lang="en-US" sz="900" dirty="0"/>
          </a:p>
        </p:txBody>
      </p:sp>
      <p:sp>
        <p:nvSpPr>
          <p:cNvPr id="168" name="Shape 166"/>
          <p:cNvSpPr/>
          <p:nvPr/>
        </p:nvSpPr>
        <p:spPr>
          <a:xfrm>
            <a:off x="14186916" y="3035808"/>
            <a:ext cx="15544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69" name="Shape 167"/>
          <p:cNvSpPr/>
          <p:nvPr/>
        </p:nvSpPr>
        <p:spPr>
          <a:xfrm>
            <a:off x="14374368" y="1408176"/>
            <a:ext cx="2121408" cy="3090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EF5"/>
            </a:solidFill>
            <a:prstDash val="solid"/>
          </a:ln>
          <a:effectLst>
            <a:outerShdw blurRad="12700" dist="50800" dir="2700000" algn="bl" rotWithShape="0">
              <a:srgbClr val="B8C3D1">
                <a:alpha val="16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70" name="Shape 168"/>
          <p:cNvSpPr/>
          <p:nvPr/>
        </p:nvSpPr>
        <p:spPr>
          <a:xfrm>
            <a:off x="14484096" y="1499616"/>
            <a:ext cx="190195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1" name="Shape 169"/>
          <p:cNvSpPr/>
          <p:nvPr/>
        </p:nvSpPr>
        <p:spPr>
          <a:xfrm>
            <a:off x="14502384" y="1609344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2" name="Text 170"/>
          <p:cNvSpPr/>
          <p:nvPr/>
        </p:nvSpPr>
        <p:spPr>
          <a:xfrm>
            <a:off x="14502384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173" name="Text 171"/>
          <p:cNvSpPr/>
          <p:nvPr/>
        </p:nvSpPr>
        <p:spPr>
          <a:xfrm>
            <a:off x="14886432" y="1572768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Deposit</a:t>
            </a:r>
            <a:endParaRPr lang="en-US" sz="1100" dirty="0"/>
          </a:p>
        </p:txBody>
      </p:sp>
      <p:sp>
        <p:nvSpPr>
          <p:cNvPr id="174" name="Shape 172"/>
          <p:cNvSpPr/>
          <p:nvPr/>
        </p:nvSpPr>
        <p:spPr>
          <a:xfrm>
            <a:off x="14520672" y="2103120"/>
            <a:ext cx="1828800" cy="0"/>
          </a:xfrm>
          <a:prstGeom prst="line">
            <a:avLst/>
          </a:prstGeom>
          <a:noFill/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5" name="Shape 173"/>
          <p:cNvSpPr/>
          <p:nvPr/>
        </p:nvSpPr>
        <p:spPr>
          <a:xfrm>
            <a:off x="14529816" y="2286000"/>
            <a:ext cx="182880" cy="182880"/>
          </a:xfrm>
          <a:prstGeom prst="ellipse">
            <a:avLst/>
          </a:prstGeom>
          <a:solidFill>
            <a:srgbClr val="EAF8EE"/>
          </a:solidFill>
          <a:ln w="698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6" name="Text 174"/>
          <p:cNvSpPr/>
          <p:nvPr/>
        </p:nvSpPr>
        <p:spPr>
          <a:xfrm>
            <a:off x="14529816" y="22814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77" name="Text 175"/>
          <p:cNvSpPr/>
          <p:nvPr/>
        </p:nvSpPr>
        <p:spPr>
          <a:xfrm>
            <a:off x="14767560" y="2212848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sends full amount</a:t>
            </a:r>
            <a:endParaRPr lang="en-US" sz="900" dirty="0"/>
          </a:p>
        </p:txBody>
      </p:sp>
      <p:sp>
        <p:nvSpPr>
          <p:cNvPr id="178" name="Shape 176"/>
          <p:cNvSpPr/>
          <p:nvPr/>
        </p:nvSpPr>
        <p:spPr>
          <a:xfrm>
            <a:off x="14529816" y="2715768"/>
            <a:ext cx="182880" cy="182880"/>
          </a:xfrm>
          <a:prstGeom prst="ellipse">
            <a:avLst/>
          </a:prstGeom>
          <a:solidFill>
            <a:srgbClr val="EAF8EE"/>
          </a:solidFill>
          <a:ln w="698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9" name="Text 177"/>
          <p:cNvSpPr/>
          <p:nvPr/>
        </p:nvSpPr>
        <p:spPr>
          <a:xfrm>
            <a:off x="14529816" y="27111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80" name="Text 178"/>
          <p:cNvSpPr/>
          <p:nvPr/>
        </p:nvSpPr>
        <p:spPr>
          <a:xfrm>
            <a:off x="14767560" y="2642616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Hex Safe detects incoming transaction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14529816" y="3145536"/>
            <a:ext cx="182880" cy="182880"/>
          </a:xfrm>
          <a:prstGeom prst="ellipse">
            <a:avLst/>
          </a:prstGeom>
          <a:solidFill>
            <a:srgbClr val="EAF8EE"/>
          </a:solidFill>
          <a:ln w="698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2" name="Text 180"/>
          <p:cNvSpPr/>
          <p:nvPr/>
        </p:nvSpPr>
        <p:spPr>
          <a:xfrm>
            <a:off x="14529816" y="31409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83" name="Text 181"/>
          <p:cNvSpPr/>
          <p:nvPr/>
        </p:nvSpPr>
        <p:spPr>
          <a:xfrm>
            <a:off x="14767560" y="3072384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chain confirmation gate</a:t>
            </a:r>
            <a:endParaRPr lang="en-US" sz="900" dirty="0"/>
          </a:p>
        </p:txBody>
      </p:sp>
      <p:sp>
        <p:nvSpPr>
          <p:cNvPr id="184" name="Shape 182"/>
          <p:cNvSpPr/>
          <p:nvPr/>
        </p:nvSpPr>
        <p:spPr>
          <a:xfrm>
            <a:off x="14529816" y="3575304"/>
            <a:ext cx="182880" cy="182880"/>
          </a:xfrm>
          <a:prstGeom prst="ellipse">
            <a:avLst/>
          </a:prstGeom>
          <a:solidFill>
            <a:srgbClr val="EAF8EE"/>
          </a:solidFill>
          <a:ln w="698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5" name="Text 183"/>
          <p:cNvSpPr/>
          <p:nvPr/>
        </p:nvSpPr>
        <p:spPr>
          <a:xfrm>
            <a:off x="14529816" y="35707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186" name="Text 184"/>
          <p:cNvSpPr/>
          <p:nvPr/>
        </p:nvSpPr>
        <p:spPr>
          <a:xfrm>
            <a:off x="14767560" y="3502152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transaction KYT before receipt / WTA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14511528" y="3931920"/>
            <a:ext cx="1847088" cy="393192"/>
          </a:xfrm>
          <a:prstGeom prst="roundRect">
            <a:avLst/>
          </a:prstGeom>
          <a:solidFill>
            <a:srgbClr val="EAF8EE"/>
          </a:solidFill>
          <a:ln w="825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8" name="Text 186"/>
          <p:cNvSpPr/>
          <p:nvPr/>
        </p:nvSpPr>
        <p:spPr>
          <a:xfrm>
            <a:off x="14575536" y="3977640"/>
            <a:ext cx="1719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86000"/>
              </a:lnSpc>
              <a:buNone/>
            </a:pPr>
            <a:r>
              <a:rPr lang="en-US" sz="900" b="1" dirty="0">
                <a:solidFill>
                  <a:srgbClr val="16A34A"/>
                </a:solidFill>
                <a:ea typeface="Aptos" pitchFamily="34" charset="-122"/>
                <a:cs typeface="Aptos" pitchFamily="34" charset="-120"/>
              </a:rPr>
              <a:t>Gate: </a:t>
            </a:r>
            <a:r>
              <a:rPr lang="en-US" sz="900" dirty="0">
                <a:solidFill>
                  <a:srgbClr val="0B1F3A"/>
                </a:solidFill>
                <a:ea typeface="Aptos" pitchFamily="34" charset="-122"/>
                <a:cs typeface="Aptos" pitchFamily="34" charset="-120"/>
              </a:rPr>
              <a:t>EVM 5 / TRON 4 confirmations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15435072" y="4325112"/>
            <a:ext cx="0" cy="329184"/>
          </a:xfrm>
          <a:prstGeom prst="line">
            <a:avLst/>
          </a:prstGeom>
          <a:noFill/>
          <a:ln w="10160">
            <a:solidFill>
              <a:srgbClr val="16A34A">
                <a:alpha val="85000"/>
              </a:srgbClr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190" name="Shape 188"/>
          <p:cNvSpPr/>
          <p:nvPr/>
        </p:nvSpPr>
        <p:spPr>
          <a:xfrm>
            <a:off x="14374368" y="4654296"/>
            <a:ext cx="2121408" cy="658368"/>
          </a:xfrm>
          <a:prstGeom prst="roundRect">
            <a:avLst/>
          </a:prstGeom>
          <a:solidFill>
            <a:srgbClr val="FBFCFE"/>
          </a:solidFill>
          <a:ln w="8255">
            <a:solidFill>
              <a:srgbClr val="16A34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1" name="Text 189"/>
          <p:cNvSpPr/>
          <p:nvPr/>
        </p:nvSpPr>
        <p:spPr>
          <a:xfrm>
            <a:off x="14493240" y="4718304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/ Control</a:t>
            </a:r>
            <a:endParaRPr lang="en-US" sz="700" dirty="0"/>
          </a:p>
        </p:txBody>
      </p:sp>
      <p:sp>
        <p:nvSpPr>
          <p:cNvPr id="192" name="Text 190"/>
          <p:cNvSpPr/>
          <p:nvPr/>
        </p:nvSpPr>
        <p:spPr>
          <a:xfrm>
            <a:off x="14493240" y="490118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Funds dirty: freeze, void address, open urgent case</a:t>
            </a:r>
            <a:endParaRPr lang="en-US" sz="900" dirty="0"/>
          </a:p>
        </p:txBody>
      </p:sp>
      <p:sp>
        <p:nvSpPr>
          <p:cNvPr id="193" name="Shape 191"/>
          <p:cNvSpPr/>
          <p:nvPr/>
        </p:nvSpPr>
        <p:spPr>
          <a:xfrm>
            <a:off x="16527780" y="3035808"/>
            <a:ext cx="15544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94" name="Shape 192"/>
          <p:cNvSpPr/>
          <p:nvPr/>
        </p:nvSpPr>
        <p:spPr>
          <a:xfrm>
            <a:off x="16715232" y="1408176"/>
            <a:ext cx="2121408" cy="3090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EF5"/>
            </a:solidFill>
            <a:prstDash val="solid"/>
          </a:ln>
          <a:effectLst>
            <a:outerShdw blurRad="12700" dist="50800" dir="2700000" algn="bl" rotWithShape="0">
              <a:srgbClr val="B8C3D1">
                <a:alpha val="16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95" name="Shape 193"/>
          <p:cNvSpPr/>
          <p:nvPr/>
        </p:nvSpPr>
        <p:spPr>
          <a:xfrm>
            <a:off x="16824960" y="1499616"/>
            <a:ext cx="1901952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6" name="Shape 194"/>
          <p:cNvSpPr/>
          <p:nvPr/>
        </p:nvSpPr>
        <p:spPr>
          <a:xfrm>
            <a:off x="16843248" y="1609344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7" name="Text 195"/>
          <p:cNvSpPr/>
          <p:nvPr/>
        </p:nvSpPr>
        <p:spPr>
          <a:xfrm>
            <a:off x="16843248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198" name="Text 196"/>
          <p:cNvSpPr/>
          <p:nvPr/>
        </p:nvSpPr>
        <p:spPr>
          <a:xfrm>
            <a:off x="17227296" y="1572768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Treasury  / Payout</a:t>
            </a:r>
            <a:endParaRPr lang="en-US" sz="1100" dirty="0"/>
          </a:p>
        </p:txBody>
      </p:sp>
      <p:sp>
        <p:nvSpPr>
          <p:cNvPr id="199" name="Shape 197"/>
          <p:cNvSpPr/>
          <p:nvPr/>
        </p:nvSpPr>
        <p:spPr>
          <a:xfrm>
            <a:off x="16861536" y="2103120"/>
            <a:ext cx="1828800" cy="0"/>
          </a:xfrm>
          <a:prstGeom prst="line">
            <a:avLst/>
          </a:prstGeom>
          <a:noFill/>
          <a:ln w="889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0" name="Shape 198"/>
          <p:cNvSpPr/>
          <p:nvPr/>
        </p:nvSpPr>
        <p:spPr>
          <a:xfrm>
            <a:off x="16870680" y="2286000"/>
            <a:ext cx="182880" cy="182880"/>
          </a:xfrm>
          <a:prstGeom prst="ellipse">
            <a:avLst/>
          </a:prstGeom>
          <a:solidFill>
            <a:srgbClr val="E7F6F4"/>
          </a:solidFill>
          <a:ln w="698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1" name="Text 199"/>
          <p:cNvSpPr/>
          <p:nvPr/>
        </p:nvSpPr>
        <p:spPr>
          <a:xfrm>
            <a:off x="16870680" y="22814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202" name="Text 200"/>
          <p:cNvSpPr/>
          <p:nvPr/>
        </p:nvSpPr>
        <p:spPr>
          <a:xfrm>
            <a:off x="17108424" y="2212848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stablecoin settles to WTA</a:t>
            </a:r>
            <a:endParaRPr lang="en-US" sz="900" dirty="0"/>
          </a:p>
        </p:txBody>
      </p:sp>
      <p:sp>
        <p:nvSpPr>
          <p:cNvPr id="203" name="Shape 201"/>
          <p:cNvSpPr/>
          <p:nvPr/>
        </p:nvSpPr>
        <p:spPr>
          <a:xfrm>
            <a:off x="16870680" y="2715768"/>
            <a:ext cx="182880" cy="182880"/>
          </a:xfrm>
          <a:prstGeom prst="ellipse">
            <a:avLst/>
          </a:prstGeom>
          <a:solidFill>
            <a:srgbClr val="E7F6F4"/>
          </a:solidFill>
          <a:ln w="698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4" name="Text 202"/>
          <p:cNvSpPr/>
          <p:nvPr/>
        </p:nvSpPr>
        <p:spPr>
          <a:xfrm>
            <a:off x="16870680" y="27111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205" name="Text 203"/>
          <p:cNvSpPr/>
          <p:nvPr/>
        </p:nvSpPr>
        <p:spPr>
          <a:xfrm>
            <a:off x="17108424" y="2642616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 Markets OTC converts if needed</a:t>
            </a:r>
            <a:endParaRPr lang="en-US" sz="900" dirty="0"/>
          </a:p>
        </p:txBody>
      </p:sp>
      <p:sp>
        <p:nvSpPr>
          <p:cNvPr id="206" name="Shape 204"/>
          <p:cNvSpPr/>
          <p:nvPr/>
        </p:nvSpPr>
        <p:spPr>
          <a:xfrm>
            <a:off x="16870680" y="3145536"/>
            <a:ext cx="182880" cy="182880"/>
          </a:xfrm>
          <a:prstGeom prst="ellipse">
            <a:avLst/>
          </a:prstGeom>
          <a:solidFill>
            <a:srgbClr val="E7F6F4"/>
          </a:solidFill>
          <a:ln w="698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7" name="Text 205"/>
          <p:cNvSpPr/>
          <p:nvPr/>
        </p:nvSpPr>
        <p:spPr>
          <a:xfrm>
            <a:off x="16870680" y="31409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08" name="Text 206"/>
          <p:cNvSpPr/>
          <p:nvPr/>
        </p:nvSpPr>
        <p:spPr>
          <a:xfrm>
            <a:off x="17108424" y="3072384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Depeg liquidation workflow</a:t>
            </a:r>
            <a:endParaRPr lang="en-US" sz="900" dirty="0"/>
          </a:p>
        </p:txBody>
      </p:sp>
      <p:sp>
        <p:nvSpPr>
          <p:cNvPr id="209" name="Shape 207"/>
          <p:cNvSpPr/>
          <p:nvPr/>
        </p:nvSpPr>
        <p:spPr>
          <a:xfrm>
            <a:off x="16870680" y="3575304"/>
            <a:ext cx="182880" cy="182880"/>
          </a:xfrm>
          <a:prstGeom prst="ellipse">
            <a:avLst/>
          </a:prstGeom>
          <a:solidFill>
            <a:srgbClr val="E7F6F4"/>
          </a:solidFill>
          <a:ln w="698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0" name="Text 208"/>
          <p:cNvSpPr/>
          <p:nvPr/>
        </p:nvSpPr>
        <p:spPr>
          <a:xfrm>
            <a:off x="16870680" y="35707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11" name="Text 209"/>
          <p:cNvSpPr/>
          <p:nvPr/>
        </p:nvSpPr>
        <p:spPr>
          <a:xfrm>
            <a:off x="17108424" y="3502152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Refund / payout uses destination KYT</a:t>
            </a:r>
            <a:endParaRPr lang="en-US" sz="900" dirty="0"/>
          </a:p>
        </p:txBody>
      </p:sp>
      <p:sp>
        <p:nvSpPr>
          <p:cNvPr id="212" name="Shape 210"/>
          <p:cNvSpPr/>
          <p:nvPr/>
        </p:nvSpPr>
        <p:spPr>
          <a:xfrm>
            <a:off x="16852392" y="3931920"/>
            <a:ext cx="1847088" cy="393192"/>
          </a:xfrm>
          <a:prstGeom prst="roundRect">
            <a:avLst/>
          </a:prstGeom>
          <a:solidFill>
            <a:srgbClr val="E7F6F4"/>
          </a:solidFill>
          <a:ln w="825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3" name="Text 211"/>
          <p:cNvSpPr/>
          <p:nvPr/>
        </p:nvSpPr>
        <p:spPr>
          <a:xfrm>
            <a:off x="16916400" y="3977640"/>
            <a:ext cx="1719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86000"/>
              </a:lnSpc>
              <a:buNone/>
            </a:pPr>
            <a:r>
              <a:rPr lang="en-US" sz="900" b="1" dirty="0">
                <a:solidFill>
                  <a:srgbClr val="0F766E"/>
                </a:solidFill>
                <a:ea typeface="Aptos" pitchFamily="34" charset="-122"/>
                <a:cs typeface="Aptos" pitchFamily="34" charset="-120"/>
              </a:rPr>
              <a:t>Gate: </a:t>
            </a:r>
            <a:r>
              <a:rPr lang="en-US" sz="900" dirty="0">
                <a:solidFill>
                  <a:srgbClr val="0B1F3A"/>
                </a:solidFill>
                <a:ea typeface="Aptos" pitchFamily="34" charset="-122"/>
                <a:cs typeface="Aptos" pitchFamily="34" charset="-120"/>
              </a:rPr>
              <a:t>WTA  / payout approved</a:t>
            </a:r>
            <a:endParaRPr lang="en-US" sz="900" dirty="0"/>
          </a:p>
        </p:txBody>
      </p:sp>
      <p:sp>
        <p:nvSpPr>
          <p:cNvPr id="214" name="Shape 212"/>
          <p:cNvSpPr/>
          <p:nvPr/>
        </p:nvSpPr>
        <p:spPr>
          <a:xfrm>
            <a:off x="17775936" y="4325112"/>
            <a:ext cx="0" cy="329184"/>
          </a:xfrm>
          <a:prstGeom prst="line">
            <a:avLst/>
          </a:prstGeom>
          <a:noFill/>
          <a:ln w="10160">
            <a:solidFill>
              <a:srgbClr val="0F766E">
                <a:alpha val="85000"/>
              </a:srgbClr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215" name="Shape 213"/>
          <p:cNvSpPr/>
          <p:nvPr/>
        </p:nvSpPr>
        <p:spPr>
          <a:xfrm>
            <a:off x="16715232" y="4654296"/>
            <a:ext cx="2121408" cy="658368"/>
          </a:xfrm>
          <a:prstGeom prst="roundRect">
            <a:avLst/>
          </a:prstGeom>
          <a:solidFill>
            <a:srgbClr val="FBFCFE"/>
          </a:solidFill>
          <a:ln w="8255">
            <a:solidFill>
              <a:srgbClr val="0F766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6" name="Text 214"/>
          <p:cNvSpPr/>
          <p:nvPr/>
        </p:nvSpPr>
        <p:spPr>
          <a:xfrm>
            <a:off x="16834104" y="4718304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/ Control</a:t>
            </a:r>
            <a:endParaRPr lang="en-US" sz="700" dirty="0"/>
          </a:p>
        </p:txBody>
      </p:sp>
      <p:sp>
        <p:nvSpPr>
          <p:cNvPr id="217" name="Text 215"/>
          <p:cNvSpPr/>
          <p:nvPr/>
        </p:nvSpPr>
        <p:spPr>
          <a:xfrm>
            <a:off x="16834104" y="490118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Banking-hours off-ramp or depeg exception route</a:t>
            </a:r>
            <a:endParaRPr lang="en-US" sz="900" dirty="0"/>
          </a:p>
        </p:txBody>
      </p:sp>
      <p:sp>
        <p:nvSpPr>
          <p:cNvPr id="218" name="Text 216"/>
          <p:cNvSpPr/>
          <p:nvPr/>
        </p:nvSpPr>
        <p:spPr>
          <a:xfrm>
            <a:off x="502920" y="5376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00" b="1" u="sng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layers</a:t>
            </a:r>
            <a:endParaRPr lang="en-US" sz="900" u="sng" dirty="0"/>
          </a:p>
        </p:txBody>
      </p:sp>
      <p:sp>
        <p:nvSpPr>
          <p:cNvPr id="219" name="Shape 217"/>
          <p:cNvSpPr/>
          <p:nvPr/>
        </p:nvSpPr>
        <p:spPr>
          <a:xfrm>
            <a:off x="475488" y="5559552"/>
            <a:ext cx="18251424" cy="630936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0" name="Shape 218"/>
          <p:cNvSpPr/>
          <p:nvPr/>
        </p:nvSpPr>
        <p:spPr>
          <a:xfrm>
            <a:off x="475488" y="5559552"/>
            <a:ext cx="109728" cy="6309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1" name="Text 219"/>
          <p:cNvSpPr/>
          <p:nvPr/>
        </p:nvSpPr>
        <p:spPr>
          <a:xfrm>
            <a:off x="722376" y="5788152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Provider Adapter Layer</a:t>
            </a:r>
            <a:endParaRPr lang="en-US" sz="1100" dirty="0"/>
          </a:p>
        </p:txBody>
      </p:sp>
      <p:sp>
        <p:nvSpPr>
          <p:cNvPr id="222" name="Text 220"/>
          <p:cNvSpPr/>
          <p:nvPr/>
        </p:nvSpPr>
        <p:spPr>
          <a:xfrm>
            <a:off x="3813048" y="5650992"/>
            <a:ext cx="8732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HyperTransfer owns gates, workflow state, and audit evidence. External services stay behind backend adapters and can be swapped or combined.</a:t>
            </a:r>
            <a:endParaRPr lang="en-US" sz="1000" dirty="0"/>
          </a:p>
        </p:txBody>
      </p:sp>
      <p:sp>
        <p:nvSpPr>
          <p:cNvPr id="223" name="Shape 221"/>
          <p:cNvSpPr/>
          <p:nvPr/>
        </p:nvSpPr>
        <p:spPr>
          <a:xfrm>
            <a:off x="3813048" y="5925312"/>
            <a:ext cx="580644" cy="192024"/>
          </a:xfrm>
          <a:prstGeom prst="roundRect">
            <a:avLst/>
          </a:prstGeom>
          <a:solidFill>
            <a:srgbClr val="EDF4FF"/>
          </a:solidFill>
          <a:ln w="571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4" name="Text 222"/>
          <p:cNvSpPr/>
          <p:nvPr/>
        </p:nvSpPr>
        <p:spPr>
          <a:xfrm>
            <a:off x="3840480" y="5934456"/>
            <a:ext cx="5257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SMS OTP</a:t>
            </a:r>
            <a:endParaRPr lang="en-US" sz="900" dirty="0"/>
          </a:p>
        </p:txBody>
      </p:sp>
      <p:sp>
        <p:nvSpPr>
          <p:cNvPr id="225" name="Shape 223"/>
          <p:cNvSpPr/>
          <p:nvPr/>
        </p:nvSpPr>
        <p:spPr>
          <a:xfrm>
            <a:off x="4457700" y="5925312"/>
            <a:ext cx="429768" cy="192024"/>
          </a:xfrm>
          <a:prstGeom prst="roundRect">
            <a:avLst/>
          </a:prstGeom>
          <a:solidFill>
            <a:srgbClr val="EDF4FF"/>
          </a:solidFill>
          <a:ln w="571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6" name="Text 224"/>
          <p:cNvSpPr/>
          <p:nvPr/>
        </p:nvSpPr>
        <p:spPr>
          <a:xfrm>
            <a:off x="4485132" y="5934456"/>
            <a:ext cx="3749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KYC</a:t>
            </a:r>
            <a:endParaRPr lang="en-US" sz="900" dirty="0"/>
          </a:p>
        </p:txBody>
      </p:sp>
      <p:sp>
        <p:nvSpPr>
          <p:cNvPr id="227" name="Shape 225"/>
          <p:cNvSpPr/>
          <p:nvPr/>
        </p:nvSpPr>
        <p:spPr>
          <a:xfrm>
            <a:off x="4951476" y="5925312"/>
            <a:ext cx="982980" cy="192024"/>
          </a:xfrm>
          <a:prstGeom prst="roundRect">
            <a:avLst/>
          </a:prstGeom>
          <a:solidFill>
            <a:srgbClr val="EDF4FF"/>
          </a:solidFill>
          <a:ln w="571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8" name="Text 226"/>
          <p:cNvSpPr/>
          <p:nvPr/>
        </p:nvSpPr>
        <p:spPr>
          <a:xfrm>
            <a:off x="4978908" y="5934456"/>
            <a:ext cx="9281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KYT wallet + tx</a:t>
            </a:r>
            <a:endParaRPr lang="en-US" sz="900" dirty="0"/>
          </a:p>
        </p:txBody>
      </p:sp>
      <p:sp>
        <p:nvSpPr>
          <p:cNvPr id="229" name="Shape 227"/>
          <p:cNvSpPr/>
          <p:nvPr/>
        </p:nvSpPr>
        <p:spPr>
          <a:xfrm>
            <a:off x="5998464" y="5925312"/>
            <a:ext cx="1184148" cy="192024"/>
          </a:xfrm>
          <a:prstGeom prst="roundRect">
            <a:avLst/>
          </a:prstGeom>
          <a:solidFill>
            <a:srgbClr val="EDF4FF"/>
          </a:solidFill>
          <a:ln w="571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0" name="Text 228"/>
          <p:cNvSpPr/>
          <p:nvPr/>
        </p:nvSpPr>
        <p:spPr>
          <a:xfrm>
            <a:off x="6025896" y="5934456"/>
            <a:ext cx="11292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Rule adapter</a:t>
            </a:r>
            <a:endParaRPr lang="en-US" sz="900" dirty="0"/>
          </a:p>
        </p:txBody>
      </p:sp>
      <p:sp>
        <p:nvSpPr>
          <p:cNvPr id="231" name="Shape 229"/>
          <p:cNvSpPr/>
          <p:nvPr/>
        </p:nvSpPr>
        <p:spPr>
          <a:xfrm>
            <a:off x="7246620" y="5925312"/>
            <a:ext cx="832104" cy="192024"/>
          </a:xfrm>
          <a:prstGeom prst="roundRect">
            <a:avLst/>
          </a:prstGeom>
          <a:solidFill>
            <a:srgbClr val="EDF4FF"/>
          </a:solidFill>
          <a:ln w="571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2" name="Text 230"/>
          <p:cNvSpPr/>
          <p:nvPr/>
        </p:nvSpPr>
        <p:spPr>
          <a:xfrm>
            <a:off x="7274052" y="5934456"/>
            <a:ext cx="777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Hex Safe API</a:t>
            </a:r>
            <a:endParaRPr lang="en-US" sz="900" dirty="0"/>
          </a:p>
        </p:txBody>
      </p:sp>
      <p:sp>
        <p:nvSpPr>
          <p:cNvPr id="233" name="Shape 231"/>
          <p:cNvSpPr/>
          <p:nvPr/>
        </p:nvSpPr>
        <p:spPr>
          <a:xfrm>
            <a:off x="8142732" y="5925312"/>
            <a:ext cx="781812" cy="192024"/>
          </a:xfrm>
          <a:prstGeom prst="roundRect">
            <a:avLst/>
          </a:prstGeom>
          <a:solidFill>
            <a:srgbClr val="EDF4FF"/>
          </a:solidFill>
          <a:ln w="571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4" name="Text 232"/>
          <p:cNvSpPr/>
          <p:nvPr/>
        </p:nvSpPr>
        <p:spPr>
          <a:xfrm>
            <a:off x="8170164" y="5934456"/>
            <a:ext cx="7269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Hex webhook</a:t>
            </a:r>
            <a:endParaRPr lang="en-US" sz="900" dirty="0"/>
          </a:p>
        </p:txBody>
      </p:sp>
      <p:sp>
        <p:nvSpPr>
          <p:cNvPr id="235" name="Shape 233"/>
          <p:cNvSpPr/>
          <p:nvPr/>
        </p:nvSpPr>
        <p:spPr>
          <a:xfrm>
            <a:off x="8988552" y="5925312"/>
            <a:ext cx="681228" cy="192024"/>
          </a:xfrm>
          <a:prstGeom prst="roundRect">
            <a:avLst/>
          </a:prstGeom>
          <a:solidFill>
            <a:srgbClr val="EDF4FF"/>
          </a:solidFill>
          <a:ln w="571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6" name="Text 234"/>
          <p:cNvSpPr/>
          <p:nvPr/>
        </p:nvSpPr>
        <p:spPr>
          <a:xfrm>
            <a:off x="9015984" y="5934456"/>
            <a:ext cx="6263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WTA vault</a:t>
            </a:r>
            <a:endParaRPr lang="en-US" sz="900" dirty="0"/>
          </a:p>
        </p:txBody>
      </p:sp>
      <p:sp>
        <p:nvSpPr>
          <p:cNvPr id="237" name="Shape 235"/>
          <p:cNvSpPr/>
          <p:nvPr/>
        </p:nvSpPr>
        <p:spPr>
          <a:xfrm>
            <a:off x="9733788" y="5925312"/>
            <a:ext cx="932688" cy="192024"/>
          </a:xfrm>
          <a:prstGeom prst="roundRect">
            <a:avLst/>
          </a:prstGeom>
          <a:solidFill>
            <a:srgbClr val="EDF4FF"/>
          </a:solidFill>
          <a:ln w="571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8" name="Text 236"/>
          <p:cNvSpPr/>
          <p:nvPr/>
        </p:nvSpPr>
        <p:spPr>
          <a:xfrm>
            <a:off x="9761220" y="5934456"/>
            <a:ext cx="8778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 Markets OTC</a:t>
            </a:r>
            <a:endParaRPr lang="en-US" sz="900" dirty="0"/>
          </a:p>
        </p:txBody>
      </p:sp>
      <p:sp>
        <p:nvSpPr>
          <p:cNvPr id="239" name="Shape 237"/>
          <p:cNvSpPr/>
          <p:nvPr/>
        </p:nvSpPr>
        <p:spPr>
          <a:xfrm>
            <a:off x="10730484" y="5925312"/>
            <a:ext cx="882396" cy="192024"/>
          </a:xfrm>
          <a:prstGeom prst="roundRect">
            <a:avLst/>
          </a:prstGeom>
          <a:solidFill>
            <a:srgbClr val="EDF4FF"/>
          </a:solidFill>
          <a:ln w="571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0" name="Text 238"/>
          <p:cNvSpPr/>
          <p:nvPr/>
        </p:nvSpPr>
        <p:spPr>
          <a:xfrm>
            <a:off x="10757916" y="5934456"/>
            <a:ext cx="8275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Payout policy</a:t>
            </a:r>
            <a:endParaRPr lang="en-US" sz="900" dirty="0"/>
          </a:p>
        </p:txBody>
      </p:sp>
      <p:sp>
        <p:nvSpPr>
          <p:cNvPr id="241" name="Shape 239"/>
          <p:cNvSpPr/>
          <p:nvPr/>
        </p:nvSpPr>
        <p:spPr>
          <a:xfrm>
            <a:off x="475488" y="6281928"/>
            <a:ext cx="18251424" cy="630936"/>
          </a:xfrm>
          <a:prstGeom prst="rect">
            <a:avLst/>
          </a:prstGeom>
          <a:solidFill>
            <a:srgbClr val="F9FBFD"/>
          </a:solidFill>
          <a:ln w="762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2" name="Shape 240"/>
          <p:cNvSpPr/>
          <p:nvPr/>
        </p:nvSpPr>
        <p:spPr>
          <a:xfrm>
            <a:off x="475488" y="6281928"/>
            <a:ext cx="109728" cy="6309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3" name="Text 241"/>
          <p:cNvSpPr/>
          <p:nvPr/>
        </p:nvSpPr>
        <p:spPr>
          <a:xfrm>
            <a:off x="722376" y="6501383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Custody and Operating Controls</a:t>
            </a:r>
            <a:endParaRPr lang="en-US" sz="1100" dirty="0"/>
          </a:p>
        </p:txBody>
      </p:sp>
      <p:sp>
        <p:nvSpPr>
          <p:cNvPr id="244" name="Text 242"/>
          <p:cNvSpPr/>
          <p:nvPr/>
        </p:nvSpPr>
        <p:spPr>
          <a:xfrm>
            <a:off x="3813048" y="6373368"/>
            <a:ext cx="8732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Hex Trust provides custody security. HyperTransfer / Wynn enforces operator access controls, internal approval controls, and record retention.</a:t>
            </a:r>
            <a:endParaRPr lang="en-US" sz="1000" dirty="0"/>
          </a:p>
        </p:txBody>
      </p:sp>
      <p:sp>
        <p:nvSpPr>
          <p:cNvPr id="245" name="Shape 243"/>
          <p:cNvSpPr/>
          <p:nvPr/>
        </p:nvSpPr>
        <p:spPr>
          <a:xfrm>
            <a:off x="3813048" y="6647688"/>
            <a:ext cx="1083564" cy="192024"/>
          </a:xfrm>
          <a:prstGeom prst="roundRect">
            <a:avLst/>
          </a:prstGeom>
          <a:solidFill>
            <a:srgbClr val="EAF9FC"/>
          </a:solidFill>
          <a:ln w="571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6" name="Text 244"/>
          <p:cNvSpPr/>
          <p:nvPr/>
        </p:nvSpPr>
        <p:spPr>
          <a:xfrm>
            <a:off x="3840480" y="6656832"/>
            <a:ext cx="10287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cold storage</a:t>
            </a:r>
            <a:endParaRPr lang="en-US" sz="900" dirty="0"/>
          </a:p>
        </p:txBody>
      </p:sp>
      <p:sp>
        <p:nvSpPr>
          <p:cNvPr id="247" name="Shape 245"/>
          <p:cNvSpPr/>
          <p:nvPr/>
        </p:nvSpPr>
        <p:spPr>
          <a:xfrm>
            <a:off x="4960620" y="6647688"/>
            <a:ext cx="882396" cy="192024"/>
          </a:xfrm>
          <a:prstGeom prst="roundRect">
            <a:avLst/>
          </a:prstGeom>
          <a:solidFill>
            <a:srgbClr val="EAF9FC"/>
          </a:solidFill>
          <a:ln w="571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8" name="Text 246"/>
          <p:cNvSpPr/>
          <p:nvPr/>
        </p:nvSpPr>
        <p:spPr>
          <a:xfrm>
            <a:off x="4988052" y="6656832"/>
            <a:ext cx="8275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 + quorum</a:t>
            </a:r>
            <a:endParaRPr lang="en-US" sz="900" dirty="0"/>
          </a:p>
        </p:txBody>
      </p:sp>
      <p:sp>
        <p:nvSpPr>
          <p:cNvPr id="249" name="Shape 247"/>
          <p:cNvSpPr/>
          <p:nvPr/>
        </p:nvSpPr>
        <p:spPr>
          <a:xfrm>
            <a:off x="5907024" y="6647688"/>
            <a:ext cx="882396" cy="192024"/>
          </a:xfrm>
          <a:prstGeom prst="roundRect">
            <a:avLst/>
          </a:prstGeom>
          <a:solidFill>
            <a:srgbClr val="EAF9FC"/>
          </a:solidFill>
          <a:ln w="571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0" name="Text 248"/>
          <p:cNvSpPr/>
          <p:nvPr/>
        </p:nvSpPr>
        <p:spPr>
          <a:xfrm>
            <a:off x="5934456" y="6656832"/>
            <a:ext cx="8275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Maker-checker</a:t>
            </a:r>
            <a:endParaRPr lang="en-US" sz="900" dirty="0"/>
          </a:p>
        </p:txBody>
      </p:sp>
      <p:sp>
        <p:nvSpPr>
          <p:cNvPr id="251" name="Shape 249"/>
          <p:cNvSpPr/>
          <p:nvPr/>
        </p:nvSpPr>
        <p:spPr>
          <a:xfrm>
            <a:off x="6853428" y="6647688"/>
            <a:ext cx="982980" cy="192024"/>
          </a:xfrm>
          <a:prstGeom prst="roundRect">
            <a:avLst/>
          </a:prstGeom>
          <a:solidFill>
            <a:srgbClr val="EAF9FC"/>
          </a:solidFill>
          <a:ln w="571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2" name="Text 250"/>
          <p:cNvSpPr/>
          <p:nvPr/>
        </p:nvSpPr>
        <p:spPr>
          <a:xfrm>
            <a:off x="6880860" y="6656832"/>
            <a:ext cx="9281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+ SLA</a:t>
            </a:r>
            <a:endParaRPr lang="en-US" sz="900" dirty="0"/>
          </a:p>
        </p:txBody>
      </p:sp>
      <p:sp>
        <p:nvSpPr>
          <p:cNvPr id="253" name="Shape 251"/>
          <p:cNvSpPr/>
          <p:nvPr/>
        </p:nvSpPr>
        <p:spPr>
          <a:xfrm>
            <a:off x="7900416" y="6647688"/>
            <a:ext cx="1335024" cy="192024"/>
          </a:xfrm>
          <a:prstGeom prst="roundRect">
            <a:avLst/>
          </a:prstGeom>
          <a:solidFill>
            <a:srgbClr val="EAF9FC"/>
          </a:solidFill>
          <a:ln w="571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4" name="Text 252"/>
          <p:cNvSpPr/>
          <p:nvPr/>
        </p:nvSpPr>
        <p:spPr>
          <a:xfrm>
            <a:off x="7927848" y="6656832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Macau access exclusion</a:t>
            </a:r>
            <a:endParaRPr lang="en-US" sz="900" dirty="0"/>
          </a:p>
        </p:txBody>
      </p:sp>
      <p:sp>
        <p:nvSpPr>
          <p:cNvPr id="255" name="Shape 253"/>
          <p:cNvSpPr/>
          <p:nvPr/>
        </p:nvSpPr>
        <p:spPr>
          <a:xfrm>
            <a:off x="9299448" y="6647688"/>
            <a:ext cx="1335024" cy="192024"/>
          </a:xfrm>
          <a:prstGeom prst="roundRect">
            <a:avLst/>
          </a:prstGeom>
          <a:solidFill>
            <a:srgbClr val="EAF9FC"/>
          </a:solidFill>
          <a:ln w="571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6" name="Text 254"/>
          <p:cNvSpPr/>
          <p:nvPr/>
        </p:nvSpPr>
        <p:spPr>
          <a:xfrm>
            <a:off x="9326880" y="6656832"/>
            <a:ext cx="1280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7-year WML record copy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475488" y="7004304"/>
            <a:ext cx="18251424" cy="630936"/>
          </a:xfrm>
          <a:prstGeom prst="rect">
            <a:avLst/>
          </a:prstGeom>
          <a:solidFill>
            <a:srgbClr val="FFFFFF"/>
          </a:solidFill>
          <a:ln w="762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8" name="Shape 256"/>
          <p:cNvSpPr/>
          <p:nvPr/>
        </p:nvSpPr>
        <p:spPr>
          <a:xfrm>
            <a:off x="475488" y="7004304"/>
            <a:ext cx="109728" cy="63093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9" name="Text 257"/>
          <p:cNvSpPr/>
          <p:nvPr/>
        </p:nvSpPr>
        <p:spPr>
          <a:xfrm>
            <a:off x="732114" y="7228332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 and Evidence Trail</a:t>
            </a:r>
            <a:endParaRPr lang="en-US" sz="1100" dirty="0"/>
          </a:p>
        </p:txBody>
      </p:sp>
      <p:sp>
        <p:nvSpPr>
          <p:cNvPr id="260" name="Text 258"/>
          <p:cNvSpPr/>
          <p:nvPr/>
        </p:nvSpPr>
        <p:spPr>
          <a:xfrm>
            <a:off x="3813048" y="7095744"/>
            <a:ext cx="8732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critical action is logged and reconstructable for compliance, operations, and dispute handling.</a:t>
            </a:r>
            <a:endParaRPr lang="en-US" sz="1000" dirty="0"/>
          </a:p>
        </p:txBody>
      </p:sp>
      <p:sp>
        <p:nvSpPr>
          <p:cNvPr id="261" name="Shape 259"/>
          <p:cNvSpPr/>
          <p:nvPr/>
        </p:nvSpPr>
        <p:spPr>
          <a:xfrm>
            <a:off x="3813048" y="7370064"/>
            <a:ext cx="429768" cy="192024"/>
          </a:xfrm>
          <a:prstGeom prst="roundRect">
            <a:avLst/>
          </a:prstGeom>
          <a:solidFill>
            <a:srgbClr val="EAF7F4"/>
          </a:solidFill>
          <a:ln w="571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2" name="Text 260"/>
          <p:cNvSpPr/>
          <p:nvPr/>
        </p:nvSpPr>
        <p:spPr>
          <a:xfrm>
            <a:off x="3840480" y="7379208"/>
            <a:ext cx="3749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MFA</a:t>
            </a:r>
            <a:endParaRPr lang="en-US" sz="900" dirty="0"/>
          </a:p>
        </p:txBody>
      </p:sp>
      <p:sp>
        <p:nvSpPr>
          <p:cNvPr id="263" name="Shape 261"/>
          <p:cNvSpPr/>
          <p:nvPr/>
        </p:nvSpPr>
        <p:spPr>
          <a:xfrm>
            <a:off x="4306824" y="7370064"/>
            <a:ext cx="429768" cy="192024"/>
          </a:xfrm>
          <a:prstGeom prst="roundRect">
            <a:avLst/>
          </a:prstGeom>
          <a:solidFill>
            <a:srgbClr val="EAF7F4"/>
          </a:solidFill>
          <a:ln w="571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4" name="Text 262"/>
          <p:cNvSpPr/>
          <p:nvPr/>
        </p:nvSpPr>
        <p:spPr>
          <a:xfrm>
            <a:off x="4334256" y="7379208"/>
            <a:ext cx="3749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KYC</a:t>
            </a:r>
            <a:endParaRPr lang="en-US" sz="900" dirty="0"/>
          </a:p>
        </p:txBody>
      </p:sp>
      <p:sp>
        <p:nvSpPr>
          <p:cNvPr id="265" name="Shape 263"/>
          <p:cNvSpPr/>
          <p:nvPr/>
        </p:nvSpPr>
        <p:spPr>
          <a:xfrm>
            <a:off x="4800600" y="7370064"/>
            <a:ext cx="932688" cy="192024"/>
          </a:xfrm>
          <a:prstGeom prst="roundRect">
            <a:avLst/>
          </a:prstGeom>
          <a:solidFill>
            <a:srgbClr val="EAF7F4"/>
          </a:solidFill>
          <a:ln w="571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6" name="Text 264"/>
          <p:cNvSpPr/>
          <p:nvPr/>
        </p:nvSpPr>
        <p:spPr>
          <a:xfrm>
            <a:off x="4828032" y="7379208"/>
            <a:ext cx="8778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DepositRequest</a:t>
            </a:r>
            <a:endParaRPr lang="en-US" sz="900" dirty="0"/>
          </a:p>
        </p:txBody>
      </p:sp>
      <p:sp>
        <p:nvSpPr>
          <p:cNvPr id="267" name="Shape 265"/>
          <p:cNvSpPr/>
          <p:nvPr/>
        </p:nvSpPr>
        <p:spPr>
          <a:xfrm>
            <a:off x="5797296" y="7370064"/>
            <a:ext cx="1083564" cy="192024"/>
          </a:xfrm>
          <a:prstGeom prst="roundRect">
            <a:avLst/>
          </a:prstGeom>
          <a:solidFill>
            <a:srgbClr val="EAF7F4"/>
          </a:solidFill>
          <a:ln w="571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8" name="Text 266"/>
          <p:cNvSpPr/>
          <p:nvPr/>
        </p:nvSpPr>
        <p:spPr>
          <a:xfrm>
            <a:off x="5824728" y="7379208"/>
            <a:ext cx="10287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Source-wallet KYT</a:t>
            </a:r>
            <a:endParaRPr lang="en-US" sz="900" dirty="0"/>
          </a:p>
        </p:txBody>
      </p:sp>
      <p:sp>
        <p:nvSpPr>
          <p:cNvPr id="269" name="Shape 267"/>
          <p:cNvSpPr/>
          <p:nvPr/>
        </p:nvSpPr>
        <p:spPr>
          <a:xfrm>
            <a:off x="6944868" y="7370064"/>
            <a:ext cx="1133856" cy="192024"/>
          </a:xfrm>
          <a:prstGeom prst="roundRect">
            <a:avLst/>
          </a:prstGeom>
          <a:solidFill>
            <a:srgbClr val="EAF7F4"/>
          </a:solidFill>
          <a:ln w="571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0" name="Text 268"/>
          <p:cNvSpPr/>
          <p:nvPr/>
        </p:nvSpPr>
        <p:spPr>
          <a:xfrm>
            <a:off x="6972300" y="7379208"/>
            <a:ext cx="10789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Rule status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8142732" y="7370064"/>
            <a:ext cx="1485900" cy="192024"/>
          </a:xfrm>
          <a:prstGeom prst="roundRect">
            <a:avLst/>
          </a:prstGeom>
          <a:solidFill>
            <a:srgbClr val="EAF7F4"/>
          </a:solidFill>
          <a:ln w="571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2" name="Text 270"/>
          <p:cNvSpPr/>
          <p:nvPr/>
        </p:nvSpPr>
        <p:spPr>
          <a:xfrm>
            <a:off x="8170164" y="7379208"/>
            <a:ext cx="14310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Hex Safe address issuance</a:t>
            </a:r>
            <a:endParaRPr lang="en-US" sz="900" dirty="0"/>
          </a:p>
        </p:txBody>
      </p:sp>
      <p:sp>
        <p:nvSpPr>
          <p:cNvPr id="273" name="Shape 271"/>
          <p:cNvSpPr/>
          <p:nvPr/>
        </p:nvSpPr>
        <p:spPr>
          <a:xfrm>
            <a:off x="9692640" y="7370064"/>
            <a:ext cx="1284732" cy="192024"/>
          </a:xfrm>
          <a:prstGeom prst="roundRect">
            <a:avLst/>
          </a:prstGeom>
          <a:solidFill>
            <a:srgbClr val="EAF7F4"/>
          </a:solidFill>
          <a:ln w="571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4" name="Text 272"/>
          <p:cNvSpPr/>
          <p:nvPr/>
        </p:nvSpPr>
        <p:spPr>
          <a:xfrm>
            <a:off x="9720072" y="7379208"/>
            <a:ext cx="12298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confirmation finality</a:t>
            </a:r>
            <a:endParaRPr lang="en-US" sz="900" dirty="0"/>
          </a:p>
        </p:txBody>
      </p:sp>
      <p:sp>
        <p:nvSpPr>
          <p:cNvPr id="275" name="Shape 273"/>
          <p:cNvSpPr/>
          <p:nvPr/>
        </p:nvSpPr>
        <p:spPr>
          <a:xfrm>
            <a:off x="11041380" y="7370064"/>
            <a:ext cx="731520" cy="192024"/>
          </a:xfrm>
          <a:prstGeom prst="roundRect">
            <a:avLst/>
          </a:prstGeom>
          <a:solidFill>
            <a:srgbClr val="EAF7F4"/>
          </a:solidFill>
          <a:ln w="571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6" name="Text 274"/>
          <p:cNvSpPr/>
          <p:nvPr/>
        </p:nvSpPr>
        <p:spPr>
          <a:xfrm>
            <a:off x="11068812" y="7379208"/>
            <a:ext cx="676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txHash KYT</a:t>
            </a:r>
            <a:endParaRPr lang="en-US" sz="900" dirty="0"/>
          </a:p>
        </p:txBody>
      </p:sp>
      <p:sp>
        <p:nvSpPr>
          <p:cNvPr id="277" name="Shape 275"/>
          <p:cNvSpPr/>
          <p:nvPr/>
        </p:nvSpPr>
        <p:spPr>
          <a:xfrm>
            <a:off x="11836908" y="7370064"/>
            <a:ext cx="932688" cy="192024"/>
          </a:xfrm>
          <a:prstGeom prst="roundRect">
            <a:avLst/>
          </a:prstGeom>
          <a:solidFill>
            <a:srgbClr val="EAF7F4"/>
          </a:solidFill>
          <a:ln w="571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8" name="Text 276"/>
          <p:cNvSpPr/>
          <p:nvPr/>
        </p:nvSpPr>
        <p:spPr>
          <a:xfrm>
            <a:off x="11864340" y="7379208"/>
            <a:ext cx="8778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WTA settlement</a:t>
            </a:r>
            <a:endParaRPr lang="en-US" sz="900" dirty="0"/>
          </a:p>
        </p:txBody>
      </p:sp>
      <p:sp>
        <p:nvSpPr>
          <p:cNvPr id="281" name="Shape 279"/>
          <p:cNvSpPr/>
          <p:nvPr/>
        </p:nvSpPr>
        <p:spPr>
          <a:xfrm>
            <a:off x="12799353" y="7370064"/>
            <a:ext cx="1033272" cy="192024"/>
          </a:xfrm>
          <a:prstGeom prst="roundRect">
            <a:avLst/>
          </a:prstGeom>
          <a:solidFill>
            <a:srgbClr val="EAF7F4"/>
          </a:solidFill>
          <a:ln w="571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2" name="Text 280"/>
          <p:cNvSpPr/>
          <p:nvPr/>
        </p:nvSpPr>
        <p:spPr>
          <a:xfrm>
            <a:off x="12826785" y="7379208"/>
            <a:ext cx="9784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dirty funds case</a:t>
            </a:r>
            <a:endParaRPr lang="en-US" sz="900" dirty="0"/>
          </a:p>
        </p:txBody>
      </p:sp>
      <p:sp>
        <p:nvSpPr>
          <p:cNvPr id="283" name="Shape 281"/>
          <p:cNvSpPr/>
          <p:nvPr/>
        </p:nvSpPr>
        <p:spPr>
          <a:xfrm>
            <a:off x="13896633" y="7370064"/>
            <a:ext cx="982980" cy="192024"/>
          </a:xfrm>
          <a:prstGeom prst="roundRect">
            <a:avLst/>
          </a:prstGeom>
          <a:solidFill>
            <a:srgbClr val="EAF7F4"/>
          </a:solidFill>
          <a:ln w="571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4" name="Text 282"/>
          <p:cNvSpPr/>
          <p:nvPr/>
        </p:nvSpPr>
        <p:spPr>
          <a:xfrm>
            <a:off x="13924065" y="7379208"/>
            <a:ext cx="9281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payout decision</a:t>
            </a:r>
            <a:endParaRPr lang="en-US" sz="900" dirty="0"/>
          </a:p>
        </p:txBody>
      </p:sp>
      <p:sp>
        <p:nvSpPr>
          <p:cNvPr id="286" name="Text 284"/>
          <p:cNvSpPr/>
          <p:nvPr/>
        </p:nvSpPr>
        <p:spPr>
          <a:xfrm>
            <a:off x="15201484" y="8037576"/>
            <a:ext cx="3886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5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HyperTransfer / Wynn compliance workflow view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535</Words>
  <Application>Microsoft Macintosh PowerPoint</Application>
  <PresentationFormat>Custom</PresentationFormat>
  <Paragraphs>144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HyperTransfer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HyperTransfer End-to-End Virtual Asset Flow</dc:title>
  <dc:subject>HyperTransfer End-to-End Virtual Asset Flow</dc:subject>
  <dc:creator>OpenAI Codex</dc:creator>
  <cp:lastModifiedBy>Yu, Craig</cp:lastModifiedBy>
  <cp:revision>4</cp:revision>
  <dcterms:created xsi:type="dcterms:W3CDTF">2026-06-08T14:55:01Z</dcterms:created>
  <dcterms:modified xsi:type="dcterms:W3CDTF">2026-06-08T15:17:27Z</dcterms:modified>
</cp:coreProperties>
</file>
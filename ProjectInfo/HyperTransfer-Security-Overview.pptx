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C7972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1371600" cy="13716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E0B8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7282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718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 ·  HEYPERVELOCITY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32918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Architecture &amp; Program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 compliant virtual-asset deposit platform — so the system and clients stay secure, and assets are never stolen.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2026-07-01</a:t>
            </a:r>
            <a:pPr indent="0" marL="0">
              <a:buNone/>
            </a:pPr>
            <a:r>
              <a:rPr lang="en-US" sz="1200" dirty="0">
                <a:solidFill>
                  <a:srgbClr val="C7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Benchmarked to Fireblocks · Copper · Coinbase · Circle · CCSS / SOC 2 / ISO 27001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platform never holds private keys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deliberate, fail-closed design: what we protect is the ability to move funds or flip a compliance verdict — not a private key.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453384" cy="260604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017520"/>
            <a:ext cx="73152" cy="260604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291840"/>
            <a:ext cx="749808" cy="74980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3486790"/>
            <a:ext cx="359908" cy="3599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133088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Custodied by Hex Trust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75488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signing and cold storage sit with the custodian. We orchestrate — we never sign.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67784" y="3017520"/>
            <a:ext cx="3453384" cy="260604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7784" y="3017520"/>
            <a:ext cx="73152" cy="260604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2104" y="3291840"/>
            <a:ext cx="749808" cy="74980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054" y="3486790"/>
            <a:ext cx="359908" cy="3599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2104" y="4133088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enforced server-side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42104" y="475488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money-touching rule — whitelist, gates, approvals — runs in the backend, not the client.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95488" y="3017520"/>
            <a:ext cx="3453384" cy="260604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95488" y="3017520"/>
            <a:ext cx="73152" cy="260604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0" name="Shape 16"/>
          <p:cNvSpPr/>
          <p:nvPr/>
        </p:nvSpPr>
        <p:spPr>
          <a:xfrm>
            <a:off x="8369808" y="3291840"/>
            <a:ext cx="749808" cy="74980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758" y="3486790"/>
            <a:ext cx="359908" cy="3599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69808" y="4133088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breach can't move funds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369808" y="4754880"/>
            <a:ext cx="2950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full app compromise can't withdraw alone: Hex Safe quorum is the last line.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PROTECT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crown jewels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71516" cy="3200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73152" cy="32004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715768"/>
            <a:ext cx="914400" cy="91440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95351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28516" y="2587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E2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1005840" y="388620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Moving funds to an attacker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461772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path that reaches a withdrawal or refund — locked by verified-wallet allowlist, quorum and SoD.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77356" y="2331720"/>
            <a:ext cx="5271516" cy="32004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77356" y="2331720"/>
            <a:ext cx="73152" cy="32004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4" name="Shape 11"/>
          <p:cNvSpPr/>
          <p:nvPr/>
        </p:nvSpPr>
        <p:spPr>
          <a:xfrm>
            <a:off x="6643116" y="2715768"/>
            <a:ext cx="914400" cy="91440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2953512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765792" y="2587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1E2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6643116" y="388620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Flipping a compliance verdict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643116" y="4617720"/>
            <a:ext cx="45399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path that forges KYC / KYT / Travel Rule to open the money flow — locked by signed, server-verified gates.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independent layers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08792" cy="658368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73152" cy="65836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856232"/>
            <a:ext cx="420624" cy="420624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610" y="1965594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7373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/ Endpoint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34840" y="1865376"/>
            <a:ext cx="0" cy="402336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1737360"/>
            <a:ext cx="6748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Trusted Types, passkey-first, all demo bypasses off in production.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528316"/>
            <a:ext cx="10908792" cy="658368"/>
          </a:xfrm>
          <a:prstGeom prst="rect">
            <a:avLst/>
          </a:prstGeom>
          <a:solidFill>
            <a:srgbClr val="0E1220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528316"/>
            <a:ext cx="73152" cy="65836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" y="2647188"/>
            <a:ext cx="420624" cy="420624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10" y="2756550"/>
            <a:ext cx="201900" cy="201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252831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Perimeter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434840" y="2656332"/>
            <a:ext cx="0" cy="402336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17720" y="2528316"/>
            <a:ext cx="6748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TLS/HSTS, WAF, rate-limiting, CORS locked to the production domain.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0080" y="3319272"/>
            <a:ext cx="10908792" cy="658368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3319272"/>
            <a:ext cx="73152" cy="65836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1" name="Shape 17"/>
          <p:cNvSpPr/>
          <p:nvPr/>
        </p:nvSpPr>
        <p:spPr>
          <a:xfrm>
            <a:off x="841248" y="3438144"/>
            <a:ext cx="420624" cy="420624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10" y="3547506"/>
            <a:ext cx="201900" cy="2019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00200" y="331927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434840" y="3447288"/>
            <a:ext cx="0" cy="402336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617720" y="3319272"/>
            <a:ext cx="6748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step-up + SoD/quorum; all money-touching rules computed here.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40080" y="4110228"/>
            <a:ext cx="10908792" cy="658368"/>
          </a:xfrm>
          <a:prstGeom prst="rect">
            <a:avLst/>
          </a:prstGeom>
          <a:solidFill>
            <a:srgbClr val="0E1220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4110228"/>
            <a:ext cx="73152" cy="65836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8" name="Shape 23"/>
          <p:cNvSpPr/>
          <p:nvPr/>
        </p:nvSpPr>
        <p:spPr>
          <a:xfrm>
            <a:off x="841248" y="4229100"/>
            <a:ext cx="420624" cy="420624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10" y="4338462"/>
            <a:ext cx="201900" cy="2019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600200" y="41102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4434840" y="4238244"/>
            <a:ext cx="0" cy="402336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617720" y="4110228"/>
            <a:ext cx="6748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rest, secrets in KMS, verified-wallet allowlist, hash-chained audit.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640080" y="4901184"/>
            <a:ext cx="10908792" cy="658368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0080" y="4901184"/>
            <a:ext cx="73152" cy="65836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5" name="Shape 29"/>
          <p:cNvSpPr/>
          <p:nvPr/>
        </p:nvSpPr>
        <p:spPr>
          <a:xfrm>
            <a:off x="841248" y="5020056"/>
            <a:ext cx="420624" cy="420624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610" y="5129418"/>
            <a:ext cx="201900" cy="2019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600200" y="490118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Custody egress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4434840" y="5029200"/>
            <a:ext cx="0" cy="402336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17720" y="4901184"/>
            <a:ext cx="6748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Safe with IP allowlist, idempotency, zero-trust response checks + quorum.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640080" y="5692140"/>
            <a:ext cx="10908792" cy="658368"/>
          </a:xfrm>
          <a:prstGeom prst="rect">
            <a:avLst/>
          </a:prstGeom>
          <a:solidFill>
            <a:srgbClr val="0E1220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40080" y="5692140"/>
            <a:ext cx="73152" cy="65836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42" name="Shape 35"/>
          <p:cNvSpPr/>
          <p:nvPr/>
        </p:nvSpPr>
        <p:spPr>
          <a:xfrm>
            <a:off x="841248" y="5811012"/>
            <a:ext cx="420624" cy="420624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610" y="5920374"/>
            <a:ext cx="201900" cy="2019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600200" y="569214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 audit</a:t>
            </a:r>
            <a:endParaRPr lang="en-US" sz="1500" dirty="0"/>
          </a:p>
        </p:txBody>
      </p:sp>
      <p:sp>
        <p:nvSpPr>
          <p:cNvPr id="45" name="Shape 37"/>
          <p:cNvSpPr/>
          <p:nvPr/>
        </p:nvSpPr>
        <p:spPr>
          <a:xfrm>
            <a:off x="4434840" y="5820156"/>
            <a:ext cx="0" cy="402336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4617720" y="5692140"/>
            <a:ext cx="6748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+ SIEM alerting, kill-switch, full audit to a real user identity.</a:t>
            </a:r>
            <a:endParaRPr lang="en-US" sz="1250" dirty="0"/>
          </a:p>
        </p:txBody>
      </p:sp>
      <p:sp>
        <p:nvSpPr>
          <p:cNvPr id="47" name="Shape 39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principles behind every control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21458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201168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2020824"/>
            <a:ext cx="640080" cy="64008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2697480"/>
            <a:ext cx="2100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Zero-Trust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77824" y="3209544"/>
            <a:ext cx="210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no client, network or vendor response.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35858" y="1783080"/>
            <a:ext cx="2521458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35858" y="1783080"/>
            <a:ext cx="73152" cy="201168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3" name="Shape 10"/>
          <p:cNvSpPr/>
          <p:nvPr/>
        </p:nvSpPr>
        <p:spPr>
          <a:xfrm>
            <a:off x="3673602" y="2020824"/>
            <a:ext cx="640080" cy="64008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023" y="2187245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73602" y="2697480"/>
            <a:ext cx="2100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Least-Privilege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73602" y="3209544"/>
            <a:ext cx="210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roles; only custodian can execute payouts.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31636" y="1783080"/>
            <a:ext cx="2521458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31636" y="1783080"/>
            <a:ext cx="73152" cy="201168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9" name="Shape 15"/>
          <p:cNvSpPr/>
          <p:nvPr/>
        </p:nvSpPr>
        <p:spPr>
          <a:xfrm>
            <a:off x="6469380" y="2020824"/>
            <a:ext cx="640080" cy="64008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801" y="2187245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69380" y="2697480"/>
            <a:ext cx="2100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Assume-Breach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69380" y="3209544"/>
            <a:ext cx="210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so a single failure loses no funds.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27414" y="1783080"/>
            <a:ext cx="2521458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027414" y="1783080"/>
            <a:ext cx="73152" cy="201168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5" name="Shape 20"/>
          <p:cNvSpPr/>
          <p:nvPr/>
        </p:nvSpPr>
        <p:spPr>
          <a:xfrm>
            <a:off x="9265158" y="2020824"/>
            <a:ext cx="640080" cy="64008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579" y="2187245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65158" y="2697480"/>
            <a:ext cx="2100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Fail-Closed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265158" y="3209544"/>
            <a:ext cx="210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credentials → deny, never allow.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40080" y="4050792"/>
            <a:ext cx="2521458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40080" y="4050792"/>
            <a:ext cx="73152" cy="201168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1" name="Shape 25"/>
          <p:cNvSpPr/>
          <p:nvPr/>
        </p:nvSpPr>
        <p:spPr>
          <a:xfrm>
            <a:off x="877824" y="4288536"/>
            <a:ext cx="640080" cy="64008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5" y="4454957"/>
            <a:ext cx="307238" cy="30723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77824" y="4965192"/>
            <a:ext cx="2100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Segregation of Duties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877824" y="5477256"/>
            <a:ext cx="210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 ≠ approver; quorum on money moves.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3435858" y="4050792"/>
            <a:ext cx="2521458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435858" y="4050792"/>
            <a:ext cx="73152" cy="201168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7" name="Shape 30"/>
          <p:cNvSpPr/>
          <p:nvPr/>
        </p:nvSpPr>
        <p:spPr>
          <a:xfrm>
            <a:off x="3673602" y="4288536"/>
            <a:ext cx="640080" cy="64008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023" y="4454957"/>
            <a:ext cx="307238" cy="30723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673602" y="4965192"/>
            <a:ext cx="2100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Hold Keys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3673602" y="5477256"/>
            <a:ext cx="210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stays with Hex Trust; we only orchestrate.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6231636" y="4050792"/>
            <a:ext cx="2521458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231636" y="4050792"/>
            <a:ext cx="73152" cy="201168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43" name="Shape 35"/>
          <p:cNvSpPr/>
          <p:nvPr/>
        </p:nvSpPr>
        <p:spPr>
          <a:xfrm>
            <a:off x="6469380" y="4288536"/>
            <a:ext cx="640080" cy="64008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5801" y="4454957"/>
            <a:ext cx="307238" cy="30723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469380" y="4965192"/>
            <a:ext cx="2100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Defense-in-Depth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6469380" y="5477256"/>
            <a:ext cx="210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enforced twice: app + custodian.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9027414" y="4050792"/>
            <a:ext cx="2521458" cy="201168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027414" y="4050792"/>
            <a:ext cx="73152" cy="201168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49" name="Shape 40"/>
          <p:cNvSpPr/>
          <p:nvPr/>
        </p:nvSpPr>
        <p:spPr>
          <a:xfrm>
            <a:off x="9265158" y="4288536"/>
            <a:ext cx="640080" cy="64008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1579" y="4454957"/>
            <a:ext cx="307238" cy="30723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265158" y="4965192"/>
            <a:ext cx="210083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Privacy-by-Minimization</a:t>
            </a:r>
            <a:endParaRPr lang="en-US" sz="1400" dirty="0"/>
          </a:p>
        </p:txBody>
      </p:sp>
      <p:sp>
        <p:nvSpPr>
          <p:cNvPr id="52" name="Text 42"/>
          <p:cNvSpPr/>
          <p:nvPr/>
        </p:nvSpPr>
        <p:spPr>
          <a:xfrm>
            <a:off x="9265158" y="5477256"/>
            <a:ext cx="210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lawful PII; encrypted, jurisdiction-isolated.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fund-theft paths — and what stops them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969264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969264"/>
          </a:xfrm>
          <a:prstGeom prst="rect">
            <a:avLst/>
          </a:prstGeom>
          <a:solidFill>
            <a:srgbClr val="E5675E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029968"/>
            <a:ext cx="475488" cy="47548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E567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739" y="2153595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783080"/>
            <a:ext cx="5074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5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  </a:t>
            </a:r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 compliance verdict (fake KYC = approved)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1122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783080"/>
            <a:ext cx="40050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9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 </a:t>
            </a:r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webhooks (fail-closed) + server-side re-query as source of truth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2916936"/>
            <a:ext cx="10908792" cy="969264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0080" y="2916936"/>
            <a:ext cx="73152" cy="969264"/>
          </a:xfrm>
          <a:prstGeom prst="rect">
            <a:avLst/>
          </a:prstGeom>
          <a:solidFill>
            <a:srgbClr val="E5675E"/>
          </a:solidFill>
          <a:ln/>
        </p:spPr>
      </p:sp>
      <p:sp>
        <p:nvSpPr>
          <p:cNvPr id="14" name="Shape 10"/>
          <p:cNvSpPr/>
          <p:nvPr/>
        </p:nvSpPr>
        <p:spPr>
          <a:xfrm>
            <a:off x="896112" y="3163824"/>
            <a:ext cx="475488" cy="47548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E5675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39" y="3287451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2916936"/>
            <a:ext cx="5074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5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  </a:t>
            </a:r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to an arbitrary address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246120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60920" y="2916936"/>
            <a:ext cx="40050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9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 </a:t>
            </a:r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must be a verified wallet + Hex Safe quorum + SoD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40080" y="4050792"/>
            <a:ext cx="10908792" cy="969264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0080" y="4050792"/>
            <a:ext cx="73152" cy="969264"/>
          </a:xfrm>
          <a:prstGeom prst="rect">
            <a:avLst/>
          </a:prstGeom>
          <a:solidFill>
            <a:srgbClr val="E5675E"/>
          </a:solidFill>
          <a:ln/>
        </p:spPr>
      </p:sp>
      <p:sp>
        <p:nvSpPr>
          <p:cNvPr id="21" name="Shape 15"/>
          <p:cNvSpPr/>
          <p:nvPr/>
        </p:nvSpPr>
        <p:spPr>
          <a:xfrm>
            <a:off x="896112" y="4297680"/>
            <a:ext cx="475488" cy="47548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E5675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739" y="4421307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4050792"/>
            <a:ext cx="5074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5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  </a:t>
            </a:r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bypass reaching production</a:t>
            </a:r>
            <a:endParaRPr lang="en-US" sz="9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4379976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360920" y="4050792"/>
            <a:ext cx="40050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9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 </a:t>
            </a:r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Hard-off in prod, multi-condition AND, fail-fast + CI gate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640080" y="5184648"/>
            <a:ext cx="10908792" cy="969264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40080" y="5184648"/>
            <a:ext cx="73152" cy="969264"/>
          </a:xfrm>
          <a:prstGeom prst="rect">
            <a:avLst/>
          </a:prstGeom>
          <a:solidFill>
            <a:srgbClr val="E5675E"/>
          </a:solidFill>
          <a:ln/>
        </p:spPr>
      </p:sp>
      <p:sp>
        <p:nvSpPr>
          <p:cNvPr id="28" name="Shape 20"/>
          <p:cNvSpPr/>
          <p:nvPr/>
        </p:nvSpPr>
        <p:spPr>
          <a:xfrm>
            <a:off x="896112" y="5431536"/>
            <a:ext cx="475488" cy="47548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E5675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739" y="5555163"/>
            <a:ext cx="228234" cy="22823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691640" y="5184648"/>
            <a:ext cx="5074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5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  </a:t>
            </a:r>
            <a:pPr indent="0" marL="0">
              <a:buNone/>
            </a:pPr>
            <a:r>
              <a:rPr lang="en-US" sz="140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Fake-token / wrong-network deposit</a:t>
            </a:r>
            <a:endParaRPr lang="en-US" sz="9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5513832"/>
            <a:ext cx="310896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360920" y="5184648"/>
            <a:ext cx="40050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9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 </a:t>
            </a:r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contract allowlist + chain confirmations before credit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INTEGRATIONS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 Safe &amp; Sumsub — highest-sensitivity trust boundary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71516" cy="324612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73152" cy="324612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505456"/>
            <a:ext cx="731520" cy="73152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E0B84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695651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505456"/>
            <a:ext cx="3808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 Safe  ·  Funds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493008"/>
            <a:ext cx="46314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key &amp; API key in KMS/HSM — never in code, env or logs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egress IP + provider-side IP allowlist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withdrawals; responses verified field-by-field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on error; final release by Hex Safe quorum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4873752"/>
            <a:ext cx="4631436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98348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493776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key alone cannot move funds.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77356" y="2194560"/>
            <a:ext cx="5271516" cy="324612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7356" y="2194560"/>
            <a:ext cx="73152" cy="324612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6" name="Shape 12"/>
          <p:cNvSpPr/>
          <p:nvPr/>
        </p:nvSpPr>
        <p:spPr>
          <a:xfrm>
            <a:off x="6597396" y="2505456"/>
            <a:ext cx="731520" cy="731520"/>
          </a:xfrm>
          <a:prstGeom prst="ellipse">
            <a:avLst/>
          </a:prstGeom>
          <a:solidFill>
            <a:srgbClr val="1E2434"/>
          </a:solidFill>
          <a:ln w="12700">
            <a:solidFill>
              <a:srgbClr val="3FB6C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591" y="2695651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66076" y="2505456"/>
            <a:ext cx="38084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Sumsub  ·  Compliance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597396" y="3493008"/>
            <a:ext cx="46314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signature verified — reject unsigned, block replay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verdict re-queried server-side, never trust the callback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/ verdict bound to our user identity (anti-BOLA)</a:t>
            </a:r>
            <a:endParaRPr lang="en-US" sz="12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KMS, least scope, environment-separated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597396" y="4873752"/>
            <a:ext cx="4631436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498348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35724" y="493776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forged callback alone cannot pass KYC.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CONTROLS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closed before launch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1516" cy="1078992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73152" cy="1078992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185416"/>
            <a:ext cx="548640" cy="548640"/>
          </a:xfrm>
          <a:prstGeom prst="ellipse">
            <a:avLst/>
          </a:prstGeom>
          <a:solidFill>
            <a:srgbClr val="E0B84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134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920240"/>
            <a:ext cx="39913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all demo bypasses in production (+ CI gate)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77356" y="1920240"/>
            <a:ext cx="5271516" cy="1078992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77356" y="1920240"/>
            <a:ext cx="73152" cy="1078992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2" name="Shape 9"/>
          <p:cNvSpPr/>
          <p:nvPr/>
        </p:nvSpPr>
        <p:spPr>
          <a:xfrm>
            <a:off x="6569964" y="2185416"/>
            <a:ext cx="548640" cy="548640"/>
          </a:xfrm>
          <a:prstGeom prst="ellipse">
            <a:avLst/>
          </a:prstGeom>
          <a:solidFill>
            <a:srgbClr val="E0B84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3134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28916" y="1920240"/>
            <a:ext cx="39913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withdrawal address allowlist + quorum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3255264"/>
            <a:ext cx="5271516" cy="1078992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255264"/>
            <a:ext cx="73152" cy="1078992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7" name="Shape 13"/>
          <p:cNvSpPr/>
          <p:nvPr/>
        </p:nvSpPr>
        <p:spPr>
          <a:xfrm>
            <a:off x="932688" y="3520440"/>
            <a:ext cx="548640" cy="548640"/>
          </a:xfrm>
          <a:prstGeom prst="ellipse">
            <a:avLst/>
          </a:prstGeom>
          <a:solidFill>
            <a:srgbClr val="E0B84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64845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255264"/>
            <a:ext cx="39913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compliance gates (signed webhooks, re-query)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277356" y="3255264"/>
            <a:ext cx="5271516" cy="1078992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77356" y="3255264"/>
            <a:ext cx="73152" cy="1078992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2" name="Shape 17"/>
          <p:cNvSpPr/>
          <p:nvPr/>
        </p:nvSpPr>
        <p:spPr>
          <a:xfrm>
            <a:off x="6569964" y="3520440"/>
            <a:ext cx="548640" cy="548640"/>
          </a:xfrm>
          <a:prstGeom prst="ellipse">
            <a:avLst/>
          </a:prstGeom>
          <a:solidFill>
            <a:srgbClr val="E0B84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364845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28916" y="3255264"/>
            <a:ext cx="39913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Official-contract allowlist for on-chain deposits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40080" y="4590288"/>
            <a:ext cx="5271516" cy="1078992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0080" y="4590288"/>
            <a:ext cx="73152" cy="1078992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7" name="Shape 21"/>
          <p:cNvSpPr/>
          <p:nvPr/>
        </p:nvSpPr>
        <p:spPr>
          <a:xfrm>
            <a:off x="932688" y="4855464"/>
            <a:ext cx="548640" cy="548640"/>
          </a:xfrm>
          <a:prstGeom prst="ellipse">
            <a:avLst/>
          </a:prstGeom>
          <a:solidFill>
            <a:srgbClr val="E0B84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98348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91640" y="4590288"/>
            <a:ext cx="39913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keys in KMS/HSM + IP allowlist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6277356" y="4590288"/>
            <a:ext cx="5271516" cy="1078992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77356" y="4590288"/>
            <a:ext cx="73152" cy="1078992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2" name="Shape 25"/>
          <p:cNvSpPr/>
          <p:nvPr/>
        </p:nvSpPr>
        <p:spPr>
          <a:xfrm>
            <a:off x="6569964" y="4855464"/>
            <a:ext cx="548640" cy="548640"/>
          </a:xfrm>
          <a:prstGeom prst="ellipse">
            <a:avLst/>
          </a:prstGeom>
          <a:solidFill>
            <a:srgbClr val="E0B84C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98348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28916" y="4590288"/>
            <a:ext cx="39913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cookies + CORS lockdown + WAF / TLS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maps to a specific backend endpoint, table or environment switch — no generic checklist items.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gates that block dirty money &amp; theft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53384" cy="25146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73152" cy="25146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10512" y="2258568"/>
            <a:ext cx="2081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Sumsub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1089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593592"/>
            <a:ext cx="2904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identity verification, 6-month validity, re-do on expiry.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67784" y="1965960"/>
            <a:ext cx="3453384" cy="25146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7784" y="1965960"/>
            <a:ext cx="73152" cy="25146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4" name="Shape 11"/>
          <p:cNvSpPr/>
          <p:nvPr/>
        </p:nvSpPr>
        <p:spPr>
          <a:xfrm>
            <a:off x="4642104" y="2240280"/>
            <a:ext cx="749808" cy="74980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054" y="2435230"/>
            <a:ext cx="359908" cy="3599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8216" y="2258568"/>
            <a:ext cx="2081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42104" y="31089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KYT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642104" y="3593592"/>
            <a:ext cx="2904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refund wallets screened before any address or payout.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95488" y="1965960"/>
            <a:ext cx="3453384" cy="25146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95488" y="1965960"/>
            <a:ext cx="73152" cy="25146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1" name="Shape 17"/>
          <p:cNvSpPr/>
          <p:nvPr/>
        </p:nvSpPr>
        <p:spPr>
          <a:xfrm>
            <a:off x="8369808" y="2240280"/>
            <a:ext cx="749808" cy="749808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758" y="2435230"/>
            <a:ext cx="359908" cy="3599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65920" y="2258568"/>
            <a:ext cx="2081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Trust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369808" y="310896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Sufficient Funds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369808" y="3593592"/>
            <a:ext cx="2904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balance confirmed by staff before release — human control.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40080" y="4800600"/>
            <a:ext cx="10908792" cy="1051560"/>
          </a:xfrm>
          <a:prstGeom prst="rect">
            <a:avLst/>
          </a:prstGeom>
          <a:solidFill>
            <a:srgbClr val="1E2434"/>
          </a:solidFill>
          <a:ln w="12700">
            <a:solidFill>
              <a:srgbClr val="2A314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4800600"/>
            <a:ext cx="73152" cy="1051560"/>
          </a:xfrm>
          <a:prstGeom prst="rect">
            <a:avLst/>
          </a:prstGeom>
          <a:solidFill>
            <a:srgbClr val="3FB6C9"/>
          </a:solidFill>
          <a:ln/>
        </p:spPr>
      </p:sp>
      <p:sp>
        <p:nvSpPr>
          <p:cNvPr id="28" name="Text 23"/>
          <p:cNvSpPr/>
          <p:nvPr/>
        </p:nvSpPr>
        <p:spPr>
          <a:xfrm>
            <a:off x="960120" y="480060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 </a:t>
            </a:r>
            <a:pPr indent="0" marL="0">
              <a:buNone/>
            </a:pPr>
            <a:r>
              <a:rPr lang="en-US" sz="135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Travel Rule at USD 1,000 · real-time sanctions / OFAC screening · suspicious-activity monitoring · immutable audit.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delivery, mapped to the licensing path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53384" cy="34290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73152" cy="34290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20240"/>
            <a:ext cx="3453384" cy="82296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29968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· 0–3 months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2395728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Phase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44368"/>
            <a:ext cx="2904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every fund-theft path</a:t>
            </a:r>
            <a:endParaRPr lang="en-US" sz="13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/ gates / contract checks</a:t>
            </a:r>
            <a:endParaRPr lang="en-US" sz="13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penetration test + SCA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800600"/>
            <a:ext cx="2904744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873752"/>
            <a:ext cx="2904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Highest-leverage, small team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7784" y="1920240"/>
            <a:ext cx="3453384" cy="34290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7784" y="1920240"/>
            <a:ext cx="73152" cy="34290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367784" y="1920240"/>
            <a:ext cx="3453384" cy="822960"/>
          </a:xfrm>
          <a:prstGeom prst="rect">
            <a:avLst/>
          </a:prstGeom>
          <a:solidFill>
            <a:srgbClr val="3FB6C9"/>
          </a:solidFill>
          <a:ln/>
        </p:spPr>
      </p:sp>
      <p:sp>
        <p:nvSpPr>
          <p:cNvPr id="16" name="Text 14"/>
          <p:cNvSpPr/>
          <p:nvPr/>
        </p:nvSpPr>
        <p:spPr>
          <a:xfrm>
            <a:off x="4623816" y="2029968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3–6 months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23816" y="2395728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Phase 1 (MSO)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2104" y="2944368"/>
            <a:ext cx="2904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· Okta · Passkey · quorum</a:t>
            </a:r>
            <a:endParaRPr lang="en-US" sz="13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KMS + hash-chain audit</a:t>
            </a:r>
            <a:endParaRPr lang="en-US" sz="13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 · ISO 27001 gap · CCSS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42104" y="4800600"/>
            <a:ext cx="2904744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2104" y="4873752"/>
            <a:ext cx="2904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security + compliance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5488" y="1920240"/>
            <a:ext cx="3453384" cy="34290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5488" y="1920240"/>
            <a:ext cx="73152" cy="34290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3" name="Shape 21"/>
          <p:cNvSpPr/>
          <p:nvPr/>
        </p:nvSpPr>
        <p:spPr>
          <a:xfrm>
            <a:off x="8095488" y="1920240"/>
            <a:ext cx="3453384" cy="822960"/>
          </a:xfrm>
          <a:prstGeom prst="rect">
            <a:avLst/>
          </a:prstGeom>
          <a:solidFill>
            <a:srgbClr val="9AA4B4"/>
          </a:solidFill>
          <a:ln/>
        </p:spPr>
      </p:sp>
      <p:sp>
        <p:nvSpPr>
          <p:cNvPr id="24" name="Text 22"/>
          <p:cNvSpPr/>
          <p:nvPr/>
        </p:nvSpPr>
        <p:spPr>
          <a:xfrm>
            <a:off x="8351520" y="2029968"/>
            <a:ext cx="2996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0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6–12 months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51520" y="2395728"/>
            <a:ext cx="2996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Phase 2 (VA Dealing)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9808" y="2944368"/>
            <a:ext cx="29047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+ ISO 27001 certified</a:t>
            </a:r>
            <a:endParaRPr lang="en-US" sz="13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monitoring + IR drills</a:t>
            </a:r>
            <a:endParaRPr lang="en-US" sz="13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red team, annual pentest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69808" y="4800600"/>
            <a:ext cx="2904744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9808" y="4873752"/>
            <a:ext cx="2904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 + SOC/SIEM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91440" cy="84124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303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&amp; CERTIFICATIONS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96112" y="786384"/>
            <a:ext cx="10634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proof the controls work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53384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73152" cy="18288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31136"/>
            <a:ext cx="676656" cy="676656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331" y="2407067"/>
            <a:ext cx="324795" cy="3247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194560"/>
            <a:ext cx="2173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2 Type II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3090672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Operating-effectiveness audit over 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7784" y="1920240"/>
            <a:ext cx="3453384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7784" y="1920240"/>
            <a:ext cx="73152" cy="18288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2104" y="2231136"/>
            <a:ext cx="676656" cy="676656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035" y="2407067"/>
            <a:ext cx="324795" cy="3247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65064" y="2194560"/>
            <a:ext cx="2173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 27001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642104" y="3090672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information-security management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95488" y="1920240"/>
            <a:ext cx="3453384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5488" y="1920240"/>
            <a:ext cx="73152" cy="18288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9808" y="2231136"/>
            <a:ext cx="676656" cy="676656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739" y="2407067"/>
            <a:ext cx="324795" cy="32479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92768" y="2194560"/>
            <a:ext cx="2173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CCSS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369808" y="3090672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Security Standard, Level 2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069080"/>
            <a:ext cx="3453384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069080"/>
            <a:ext cx="73152" cy="18288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5" name="Shape 20"/>
          <p:cNvSpPr/>
          <p:nvPr/>
        </p:nvSpPr>
        <p:spPr>
          <a:xfrm>
            <a:off x="914400" y="4379976"/>
            <a:ext cx="676656" cy="676656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331" y="4555907"/>
            <a:ext cx="324795" cy="32479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37360" y="4343400"/>
            <a:ext cx="2173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 Test + Red Team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914400" y="5239512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offensive testing, annual + on change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67784" y="4069080"/>
            <a:ext cx="3453384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67784" y="4069080"/>
            <a:ext cx="73152" cy="18288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1" name="Shape 25"/>
          <p:cNvSpPr/>
          <p:nvPr/>
        </p:nvSpPr>
        <p:spPr>
          <a:xfrm>
            <a:off x="4642104" y="4379976"/>
            <a:ext cx="676656" cy="676656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035" y="4555907"/>
            <a:ext cx="324795" cy="32479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65064" y="4343400"/>
            <a:ext cx="2173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Bounty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642104" y="5239512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Responsible-disclosure programme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095488" y="4069080"/>
            <a:ext cx="3453384" cy="1828800"/>
          </a:xfrm>
          <a:prstGeom prst="rect">
            <a:avLst/>
          </a:prstGeom>
          <a:solidFill>
            <a:srgbClr val="161B27"/>
          </a:solidFill>
          <a:ln w="12700">
            <a:solidFill>
              <a:srgbClr val="2A3140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95488" y="4069080"/>
            <a:ext cx="73152" cy="18288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7" name="Shape 30"/>
          <p:cNvSpPr/>
          <p:nvPr/>
        </p:nvSpPr>
        <p:spPr>
          <a:xfrm>
            <a:off x="8369808" y="4379976"/>
            <a:ext cx="676656" cy="676656"/>
          </a:xfrm>
          <a:prstGeom prst="ellipse">
            <a:avLst/>
          </a:prstGeom>
          <a:solidFill>
            <a:srgbClr val="1E2434"/>
          </a:solidFill>
          <a:ln w="12700">
            <a:solidFill>
              <a:srgbClr val="C7972E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739" y="4555907"/>
            <a:ext cx="324795" cy="32479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192768" y="4343400"/>
            <a:ext cx="2173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+ PoR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8369808" y="5239512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crime insurance · proof-of-reserves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40080" y="6437376"/>
            <a:ext cx="10908792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Security Program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8805672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pPr algn="r" indent="0" marL="0">
              <a:buNone/>
            </a:pPr>
            <a:r>
              <a:rPr lang="en-US" sz="90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C7972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1143000" cy="1143000"/>
          </a:xfrm>
          <a:prstGeom prst="ellipse">
            <a:avLst/>
          </a:prstGeom>
          <a:solidFill>
            <a:srgbClr val="161B27"/>
          </a:solidFill>
          <a:ln w="12700">
            <a:solidFill>
              <a:srgbClr val="E0B8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5773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74320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is fund safety.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private keys on the platform · money-touching rules enforced server-side · fail-closed and fully audited — so a single point of failure never becomes a loss.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5029200"/>
            <a:ext cx="3383280" cy="603504"/>
          </a:xfrm>
          <a:prstGeom prst="rect">
            <a:avLst/>
          </a:prstGeom>
          <a:solidFill>
            <a:srgbClr val="161B27"/>
          </a:solidFill>
          <a:ln w="12700">
            <a:solidFill>
              <a:srgbClr val="C797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0292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P0 scope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5029200"/>
            <a:ext cx="3383280" cy="603504"/>
          </a:xfrm>
          <a:prstGeom prst="rect">
            <a:avLst/>
          </a:prstGeom>
          <a:solidFill>
            <a:srgbClr val="161B27"/>
          </a:solidFill>
          <a:ln w="12700">
            <a:solidFill>
              <a:srgbClr val="C797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34840" y="50292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four verified P0s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63840" y="5029200"/>
            <a:ext cx="3383280" cy="603504"/>
          </a:xfrm>
          <a:prstGeom prst="rect">
            <a:avLst/>
          </a:prstGeom>
          <a:solidFill>
            <a:srgbClr val="161B27"/>
          </a:solidFill>
          <a:ln w="12700">
            <a:solidFill>
              <a:srgbClr val="C797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502920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50" b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pentest + SOC 2 path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HyperTransfer · Heypervelocity  —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HyperTransfer Security Architecture &amp; Program</dc:title>
  <dc:subject>PptxGenJS Presentation</dc:subject>
  <dc:creator>Heypervelocity</dc:creator>
  <cp:lastModifiedBy>Heypervelocity</cp:lastModifiedBy>
  <cp:revision>1</cp:revision>
  <dcterms:created xsi:type="dcterms:W3CDTF">2026-07-01T15:21:44Z</dcterms:created>
  <dcterms:modified xsi:type="dcterms:W3CDTF">2026-07-01T15:21:44Z</dcterms:modified>
</cp:coreProperties>
</file>
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e3fcbdb524b95" /><Relationship Type="http://schemas.openxmlformats.org/officeDocument/2006/relationships/extended-properties" Target="/docProps/app.xml" Id="R79e2155914e64ad9" /><Relationship Type="http://schemas.openxmlformats.org/officeDocument/2006/relationships/officeDocument" Target="/ppt/presentation.xml" Id="R1c5d810f78404a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b5eaf4cac4a40"/>
  </p:sldMasterIdLst>
  <p:notesMasterIdLst>
    <p:notesMasterId xmlns:r="http://schemas.openxmlformats.org/officeDocument/2006/relationships" r:id="R3f3e7aba62ee4904"/>
  </p:notesMasterIdLst>
  <p:sldIdLst>
    <p:sldId xmlns:r="http://schemas.openxmlformats.org/officeDocument/2006/relationships" id="256" r:id="R8eda651b8c354e63"/>
    <p:sldId xmlns:r="http://schemas.openxmlformats.org/officeDocument/2006/relationships" id="257" r:id="R99871f99651c448b"/>
    <p:sldId xmlns:r="http://schemas.openxmlformats.org/officeDocument/2006/relationships" id="258" r:id="Rd55a0527e240433c"/>
    <p:sldId xmlns:r="http://schemas.openxmlformats.org/officeDocument/2006/relationships" id="259" r:id="Raefeccee25bf40ca"/>
    <p:sldId xmlns:r="http://schemas.openxmlformats.org/officeDocument/2006/relationships" id="260" r:id="Rf1ad3da275ce4ce7"/>
    <p:sldId xmlns:r="http://schemas.openxmlformats.org/officeDocument/2006/relationships" id="261" r:id="R2caef8ede75c4541"/>
    <p:sldId xmlns:r="http://schemas.openxmlformats.org/officeDocument/2006/relationships" id="262" r:id="Rc1ed6d18f1814d0f"/>
    <p:sldId xmlns:r="http://schemas.openxmlformats.org/officeDocument/2006/relationships" id="263" r:id="R1cd752cb26944c97"/>
    <p:sldId xmlns:r="http://schemas.openxmlformats.org/officeDocument/2006/relationships" id="264" r:id="R7703a4512fa5447f"/>
    <p:sldId xmlns:r="http://schemas.openxmlformats.org/officeDocument/2006/relationships" id="265" r:id="Rd8bc34c5f79e4d4a"/>
    <p:sldId xmlns:r="http://schemas.openxmlformats.org/officeDocument/2006/relationships" id="266" r:id="Rcc6ff83fae5943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c498811bd435c" /><Relationship Type="http://schemas.openxmlformats.org/officeDocument/2006/relationships/slideMaster" Target="/ppt/slideMasters/slideMaster1.xml" Id="R6cdb5eaf4cac4a40" /><Relationship Type="http://schemas.openxmlformats.org/officeDocument/2006/relationships/notesMaster" Target="/ppt/notesMasters/notesMaster1.xml" Id="R3f3e7aba62ee4904" /><Relationship Type="http://schemas.openxmlformats.org/officeDocument/2006/relationships/presProps" Target="/ppt/presProps.xml" Id="R9aa19db4604349b0" /><Relationship Type="http://schemas.openxmlformats.org/officeDocument/2006/relationships/tableStyles" Target="/ppt/tableStyles.xml" Id="Rfc92150366be4c50" /><Relationship Type="http://schemas.openxmlformats.org/officeDocument/2006/relationships/slide" Target="/ppt/slides/slide1.xml" Id="R8eda651b8c354e63" /><Relationship Type="http://schemas.openxmlformats.org/officeDocument/2006/relationships/slide" Target="/ppt/slides/slide2.xml" Id="R99871f99651c448b" /><Relationship Type="http://schemas.openxmlformats.org/officeDocument/2006/relationships/slide" Target="/ppt/slides/slide3.xml" Id="Rd55a0527e240433c" /><Relationship Type="http://schemas.openxmlformats.org/officeDocument/2006/relationships/slide" Target="/ppt/slides/slide4.xml" Id="Raefeccee25bf40ca" /><Relationship Type="http://schemas.openxmlformats.org/officeDocument/2006/relationships/slide" Target="/ppt/slides/slide5.xml" Id="Rf1ad3da275ce4ce7" /><Relationship Type="http://schemas.openxmlformats.org/officeDocument/2006/relationships/slide" Target="/ppt/slides/slide6.xml" Id="R2caef8ede75c4541" /><Relationship Type="http://schemas.openxmlformats.org/officeDocument/2006/relationships/slide" Target="/ppt/slides/slide7.xml" Id="Rc1ed6d18f1814d0f" /><Relationship Type="http://schemas.openxmlformats.org/officeDocument/2006/relationships/slide" Target="/ppt/slides/slide8.xml" Id="R1cd752cb26944c97" /><Relationship Type="http://schemas.openxmlformats.org/officeDocument/2006/relationships/slide" Target="/ppt/slides/slide9.xml" Id="R7703a4512fa5447f" /><Relationship Type="http://schemas.openxmlformats.org/officeDocument/2006/relationships/slide" Target="/ppt/slides/slide10.xml" Id="Rd8bc34c5f79e4d4a" /><Relationship Type="http://schemas.openxmlformats.org/officeDocument/2006/relationships/slide" Target="/ppt/slides/slide11.xml" Id="Rcc6ff83fae59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f4cfe3c1aa4e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6c60454be4cff" /><Relationship Type="http://schemas.openxmlformats.org/officeDocument/2006/relationships/notesMaster" Target="/ppt/notesMasters/notesMaster1.xml" Id="R2cba952f5c9d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751aef0364739" /><Relationship Type="http://schemas.openxmlformats.org/officeDocument/2006/relationships/notesMaster" Target="/ppt/notesMasters/notesMaster1.xml" Id="R4c9b5617e1924b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3cddf7bce4aad" /><Relationship Type="http://schemas.openxmlformats.org/officeDocument/2006/relationships/notesMaster" Target="/ppt/notesMasters/notesMaster1.xml" Id="Rbf1ea37ec99443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45004fc704a28" /><Relationship Type="http://schemas.openxmlformats.org/officeDocument/2006/relationships/notesMaster" Target="/ppt/notesMasters/notesMaster1.xml" Id="R72bc05e6ce4845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69b78fc5d94cc4" /><Relationship Type="http://schemas.openxmlformats.org/officeDocument/2006/relationships/notesMaster" Target="/ppt/notesMasters/notesMaster1.xml" Id="R80cc39ebff5c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fb6fa04e564237" /><Relationship Type="http://schemas.openxmlformats.org/officeDocument/2006/relationships/notesMaster" Target="/ppt/notesMasters/notesMaster1.xml" Id="R43d28d993e424b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2ea1a69d664be3" /><Relationship Type="http://schemas.openxmlformats.org/officeDocument/2006/relationships/notesMaster" Target="/ppt/notesMasters/notesMaster1.xml" Id="R2fecdb65111048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5cd10a77514aaa" /><Relationship Type="http://schemas.openxmlformats.org/officeDocument/2006/relationships/notesMaster" Target="/ppt/notesMasters/notesMaster1.xml" Id="R955b721cf2e14e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3b552949f34fde" /><Relationship Type="http://schemas.openxmlformats.org/officeDocument/2006/relationships/notesMaster" Target="/ppt/notesMasters/notesMaster1.xml" Id="R03b53f25111f4f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3f4eba57464abe" /><Relationship Type="http://schemas.openxmlformats.org/officeDocument/2006/relationships/notesMaster" Target="/ppt/notesMasters/notesMaster1.xml" Id="R1007d47b60aa46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d8fc5f3b1d4459" /><Relationship Type="http://schemas.openxmlformats.org/officeDocument/2006/relationships/notesMaster" Target="/ppt/notesMasters/notesMaster1.xml" Id="R6f7d7ad73f84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aa6f7b18448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6daf08df0746ad" /><Relationship Type="http://schemas.openxmlformats.org/officeDocument/2006/relationships/slideLayout" Target="/ppt/slideLayouts/slideLayout1.xml" Id="Rd0a75f888c6246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a75f888c6246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23b0da14b454c" /><Relationship Type="http://schemas.openxmlformats.org/officeDocument/2006/relationships/notesSlide" Target="/ppt/notesSlides/notesSlide1.xml" Id="Rf860bc47cc184a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06095366d4d4a" /><Relationship Type="http://schemas.openxmlformats.org/officeDocument/2006/relationships/notesSlide" Target="/ppt/notesSlides/notesSlide2.xml" Id="R519b154ec54043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e493556014bae" /><Relationship Type="http://schemas.openxmlformats.org/officeDocument/2006/relationships/notesSlide" Target="/ppt/notesSlides/notesSlide3.xml" Id="R6497a94ab14e4f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4f9f86e894083" /><Relationship Type="http://schemas.openxmlformats.org/officeDocument/2006/relationships/notesSlide" Target="/ppt/notesSlides/notesSlide4.xml" Id="Rcd87854e02d84b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c7d0d331c4504" /><Relationship Type="http://schemas.openxmlformats.org/officeDocument/2006/relationships/notesSlide" Target="/ppt/notesSlides/notesSlide5.xml" Id="R706a29e6a8fc4a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b88cabb704ed5" /><Relationship Type="http://schemas.openxmlformats.org/officeDocument/2006/relationships/notesSlide" Target="/ppt/notesSlides/notesSlide6.xml" Id="R5eef31c2f41a4e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13251f2143fb" /><Relationship Type="http://schemas.openxmlformats.org/officeDocument/2006/relationships/notesSlide" Target="/ppt/notesSlides/notesSlide7.xml" Id="Rca4592293fa44d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d9ae3d6c54383" /><Relationship Type="http://schemas.openxmlformats.org/officeDocument/2006/relationships/notesSlide" Target="/ppt/notesSlides/notesSlide8.xml" Id="R83d8f69c61844b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67e303bd74318" /><Relationship Type="http://schemas.openxmlformats.org/officeDocument/2006/relationships/notesSlide" Target="/ppt/notesSlides/notesSlide9.xml" Id="R2544a91331cf41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7b409dda2444f" /><Relationship Type="http://schemas.openxmlformats.org/officeDocument/2006/relationships/notesSlide" Target="/ppt/notesSlides/notesSlide10.xml" Id="Re0206e06ed804f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d165b3ff94fd4" /><Relationship Type="http://schemas.openxmlformats.org/officeDocument/2006/relationships/notesSlide" Target="/ppt/notesSlides/notesSlide11.xml" Id="R53603038f29a4d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B27D8-A8D5-40AA-B4F0-C57D0AE3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01077-3B52-4FD2-80F2-6A27C37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E79CC-E666-4DFF-B385-21EAC9A0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65381-A72F-455B-A728-4FC5BBCF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C85D"/>
                </a:solidFill>
              </a:defRPr>
            </a:pPr>
            <a:r>
              <a:rPr sz="1800" b="1">
                <a:solidFill>
                  <a:srgbClr val="F0C85D"/>
                </a:solidFill>
              </a:rPr>
              <a:t>HyperTransfer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D9119-28CA-4630-96E3-EF78385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1DF"/>
                </a:solidFill>
              </a:defRPr>
            </a:pPr>
            <a:r>
              <a:rPr sz="4350" b="1">
                <a:solidFill>
                  <a:srgbClr val="F7F1DF"/>
                </a:solidFill>
              </a:rPr>
              <a:t>Refund Process</a:t>
            </a:r>
          </a:p>
          <a:p xmlns:a="http://schemas.openxmlformats.org/drawingml/2006/main">
            <a:pPr>
              <a:defRPr sz="4350" b="1">
                <a:solidFill>
                  <a:srgbClr val="F7F1DF"/>
                </a:solidFill>
              </a:defRPr>
            </a:pPr>
            <a:r>
              <a:rPr sz="4350" b="1">
                <a:solidFill>
                  <a:srgbClr val="F7F1DF"/>
                </a:solidFill>
              </a:rPr>
              <a:t>Security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4278A-9DAE-4DB6-8358-B75FCE9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AD93"/>
                </a:solidFill>
              </a:defRPr>
            </a:pPr>
            <a:r>
              <a:rPr sz="1800" b="0">
                <a:solidFill>
                  <a:srgbClr val="B9AD93"/>
                </a:solidFill>
              </a:rPr>
              <a:t>Client-ready process deck for Phase 1 stablecoin refunds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1DDFF-23B9-42C1-9A63-845005DE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61B"/>
          </a:solidFill>
          <a:ln xmlns:a="http://schemas.openxmlformats.org/drawingml/2006/main" w="9525">
            <a:solidFill>
              <a:srgbClr val="225B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4BE53-AE1D-4872-A617-9DCBE41F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D08C"/>
                </a:solidFill>
              </a:defRPr>
            </a:pPr>
            <a:r>
              <a:rPr sz="1200" b="1">
                <a:solidFill>
                  <a:srgbClr val="2FD08C"/>
                </a:solidFill>
              </a:rPr>
              <a:t>USDT / USDC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5A0FD-3338-4642-AFAE-9E9B5D98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25A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ADA60-9971-479D-B9D3-3EA44C5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CC8C8"/>
                </a:solidFill>
              </a:defRPr>
            </a:pPr>
            <a:r>
              <a:rPr sz="1200" b="1">
                <a:solidFill>
                  <a:srgbClr val="4CC8C8"/>
                </a:solidFill>
              </a:rPr>
              <a:t>ERC-20 / TRC-20 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7D8B1-32C5-43C5-AFEC-D0506CBA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338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212"/>
          </a:solidFill>
          <a:ln xmlns:a="http://schemas.openxmlformats.org/drawingml/2006/main" w="9525">
            <a:solidFill>
              <a:srgbClr val="5D4B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624A3-32B3-459A-88AA-ED073DC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909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C85D"/>
                </a:solidFill>
              </a:defRPr>
            </a:pPr>
            <a:r>
              <a:rPr sz="1200" b="1">
                <a:solidFill>
                  <a:srgbClr val="F0C85D"/>
                </a:solidFill>
              </a:rPr>
              <a:t>Controlled payout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1A0B6-7A30-4CD0-8C4D-28C836A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14288">
            <a:solidFill>
              <a:srgbClr val="5D4B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761B2-D262-43BF-AC24-DA797578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C85D"/>
                </a:solidFill>
              </a:defRPr>
            </a:pPr>
            <a:r>
              <a:rPr sz="1800" b="1">
                <a:solidFill>
                  <a:srgbClr val="F0C85D"/>
                </a:solidFill>
              </a:rPr>
              <a:t>Core security 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ABE79-D5E2-48C0-9EC1-D780E4B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76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1DF"/>
                </a:solidFill>
              </a:defRPr>
            </a:pPr>
            <a:r>
              <a:rPr sz="1500" b="0">
                <a:solidFill>
                  <a:srgbClr val="F7F1DF"/>
                </a:solidFill>
              </a:rPr>
              <a:t>A refund is not a blockchain reversal.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F7F1DF"/>
                </a:solidFill>
              </a:defRPr>
            </a:pPr>
            <a:r>
              <a:rPr sz="1500" b="0">
                <a:solidFill>
                  <a:srgbClr val="F7F1DF"/>
                </a:solidFill>
              </a:rPr>
              <a:t>It is a controlled payout from custody, gated by customer address confirmation, destination-wallet KYT, treasury approval, Hex Safe signing, and audit reconciliation.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197A3-B660-42DA-8294-925DFC7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7765"/>
                </a:solidFill>
              </a:defRPr>
            </a:pPr>
            <a:r>
              <a:rPr sz="1200" b="0">
                <a:solidFill>
                  <a:srgbClr val="807765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113021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DAC82-040B-491B-978E-1917B1EB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B8CEF-706A-461A-81ED-F285C69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D3F0C-0969-4420-B778-87E4534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7E414-FC54-40B1-9077-A22DE2F0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867B9-9406-4194-AFD6-6E4DF092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E9CB3-626D-49B5-8AA6-F44D706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Security principles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9853F-1516-4B65-A91C-BADA592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Every refund is treated as an outbound value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008EE-6BF8-40AE-A581-2EFB1DC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8300F-B284-4855-A38D-405535CA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B8689-DFC0-403A-B574-5A780D7D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No blind auto-return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F7D81-D59B-4C6C-8487-BD1A6843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9908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Do not automatically send funds back to the original source address. Exchange pooled wallets can break customer attribution.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2B721-E4A3-4FB2-B41C-07D8C3F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A76C1-AAA9-4C37-B1E7-6642B164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47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30F39-23B2-463F-9C94-D3B550B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Customer-confirmed destination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19FC6-12BC-4EB3-B91B-864614D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24100"/>
            <a:ext cx="29908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The customer submits a refund wallet through an authenticated HyperTransfer session or one-time collection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353A9-6D3F-4C8A-9675-F9AD7987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AE20B-2B54-49B4-A2A3-79F06B5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47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107F1-5F86-4F84-8E60-6311031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Staff-controlled payout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A9618-C583-40E4-86C2-86C9617B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9908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Treasury and compliance approve the case before Hex Safe custody transfer, signing, and broadcast.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F4681-2E25-4497-A9D4-DA715B5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952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2218"/>
          </a:solidFill>
          <a:ln xmlns:a="http://schemas.openxmlformats.org/drawingml/2006/main" w="9525">
            <a:solidFill>
              <a:srgbClr val="255A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E5CFA-09A1-41C3-BC75-B567C94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D08C"/>
                </a:solidFill>
              </a:defRPr>
            </a:pPr>
            <a:r>
              <a:rPr sz="1800" b="1">
                <a:solidFill>
                  <a:srgbClr val="2FD08C"/>
                </a:solidFill>
              </a:rPr>
              <a:t>Security equation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5DD10-AC01-412A-848E-DD1218E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671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1DF"/>
                </a:solidFill>
              </a:defRPr>
            </a:pPr>
            <a:r>
              <a:rPr sz="1650" b="0">
                <a:solidFill>
                  <a:srgbClr val="F7F1DF"/>
                </a:solidFill>
              </a:rPr>
              <a:t>Refund eligibility + verified destination + KYT pass + maker-checker approval + custody confirmation = safe refund closeout</a:t>
            </a:r>
          </a:p>
        </p:txBody>
      </p:sp>
    </p:spTree>
    <p:extLst>
      <p:ext uri="{BB962C8B-B14F-4D97-AF65-F5344CB8AC3E}">
        <p14:creationId xmlns:p14="http://schemas.microsoft.com/office/powerpoint/2010/main" val="1261108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9E860-5A94-4BF8-BF96-25879648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975E3-10B6-4FBE-A9B0-C8AEF2E7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FD25D-1B28-44C9-963C-4376113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108AE-3539-49E3-9DD1-975AB48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017F0-7B34-4865-80E6-E96BFEC5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B9FAC-ACFC-4AEB-9393-1828E88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End-to-end control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42945-F062-438C-AF06-D35E86E6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Nine security gates from customer request to audit-ready closeout.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F21E2-A0C0-4B31-B006-401C4DA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6185A-F594-4ABE-BCD9-4AD94848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AF45"/>
                </a:solidFill>
              </a:defRPr>
            </a:pPr>
            <a:r>
              <a:rPr sz="1350" b="1">
                <a:solidFill>
                  <a:srgbClr val="D9AF4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7F435-D867-458F-A190-F7F5DA5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Refund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91DC6-7F3D-4775-9B63-6A82ACF6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050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D56BF-E573-4EF6-9807-CCE2457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4F238-B369-4C6D-BBFA-97829D3F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AF45"/>
                </a:solidFill>
              </a:defRPr>
            </a:pPr>
            <a:r>
              <a:rPr sz="1350" b="1">
                <a:solidFill>
                  <a:srgbClr val="D9AF4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F485F-EE7D-4585-8719-557419D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288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Eligibility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D72C9-A592-4A6A-9788-7B15749E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050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82705-CCA6-4F55-877F-8D281169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2EEB0-8B9E-46FE-A7D9-ED5469F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C8C8"/>
                </a:solidFill>
              </a:defRPr>
            </a:pPr>
            <a:r>
              <a:rPr sz="1350" b="1">
                <a:solidFill>
                  <a:srgbClr val="4CC8C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2909A-6754-4806-B14F-63A99DC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Address collection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7806C-C12B-4519-878E-D3CF757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73312-BE35-4BE3-A4B6-0A1345C7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C8C8"/>
                </a:solidFill>
              </a:defRPr>
            </a:pPr>
            <a:r>
              <a:rPr sz="1350" b="1">
                <a:solidFill>
                  <a:srgbClr val="4CC8C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06649-D2E1-44E7-B56D-18E163F1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Format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9A5B6-68F1-4BEF-B50E-568D128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432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1BA47-3E77-455E-BC00-B4ECE771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32ED9-6C58-4F7C-9EE1-CD37710F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C8C8"/>
                </a:solidFill>
              </a:defRPr>
            </a:pPr>
            <a:r>
              <a:rPr sz="1350" b="1">
                <a:solidFill>
                  <a:srgbClr val="4CC8C8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A2015-D90C-4467-B608-A847752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Destination KYT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16D6E-57DE-4A44-BB8C-D1E22E87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EE9041-B85F-468D-9212-5C890DA1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B8C5C-4E86-40CD-A53A-C32332E0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67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55"/>
                </a:solidFill>
              </a:defRPr>
            </a:pPr>
            <a:r>
              <a:rPr sz="1350" b="1">
                <a:solidFill>
                  <a:srgbClr val="FFBF55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3C806C-DDDC-4540-A00D-8ED605D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Treasury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5D9B1-A34A-4724-B416-FC88BBD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347B8-962E-4135-BD9A-2E5F93D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55"/>
                </a:solidFill>
              </a:defRPr>
            </a:pPr>
            <a:r>
              <a:rPr sz="1350" b="1">
                <a:solidFill>
                  <a:srgbClr val="FFBF55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32587-AE25-4046-8B14-C7067D77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Custody payout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DACC9-6AB6-438E-B1DB-F1DA5B4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81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AAAF0-92FA-493A-9E55-684FD38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FDE943-B7B3-4E13-A070-4E45A6B7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05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D08C"/>
                </a:solidFill>
              </a:defRPr>
            </a:pPr>
            <a:r>
              <a:rPr sz="1350" b="1">
                <a:solidFill>
                  <a:srgbClr val="2FD08C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B067A7-A93C-4045-AD38-1AC5DA9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Webhook complete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B756F1-638E-413F-980B-4E9AD6AE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81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870741-7FA7-470E-BF12-9F321FB8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1710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B005C8-55D7-41CC-AAD9-C371351B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05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D08C"/>
                </a:solidFill>
              </a:defRPr>
            </a:pPr>
            <a:r>
              <a:rPr sz="1350" b="1">
                <a:solidFill>
                  <a:srgbClr val="2FD08C"/>
                </a:solidFill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F6BC0C-D2F5-4C3E-B482-C4317CDF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7F1DF"/>
                </a:solidFill>
              </a:defRPr>
            </a:pPr>
            <a:r>
              <a:rPr sz="1200" b="1">
                <a:solidFill>
                  <a:srgbClr val="F7F1DF"/>
                </a:solidFill>
              </a:rPr>
              <a:t>Reconciliation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D00818-6905-4C30-BAE7-53F2ABA1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668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C1005C-00E2-46FD-9BA2-106B9BB7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C85D"/>
                </a:solidFill>
              </a:defRPr>
            </a:pPr>
            <a:r>
              <a:rPr sz="1800" b="1">
                <a:solidFill>
                  <a:srgbClr val="F0C85D"/>
                </a:solidFill>
              </a:rPr>
              <a:t>Operational ownership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78D9BD-3B6F-4143-BB75-0609216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04434A-C28D-4EEE-86BB-1C3F8A69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Customer H5: request creation, refund reason, destination wallet submission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667ADD-88E8-4CC7-A04B-73AE418B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214C7C-D101-44A0-B2CA-02BEC75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HyperTransfer backend: eligibility, deterministic status model, provider adapter orchestration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E16085-FCDE-4C83-A139-8F85CAF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3FFD9-DD33-4C1E-9171-6D95F29A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Casino staff portal: treasury/compliance approval, exception handling, audit 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854384-1188-40A4-A375-B6DF0FB8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66D13C-FBB5-4340-93E5-62EAD15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81675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Hex Safe / custodian: policy checks, signing, broadcast, transfer status webhooks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472DB1-FACA-481D-81AD-A014A21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07765"/>
                </a:solidFill>
              </a:defRPr>
            </a:pPr>
            <a:r>
              <a:rPr sz="1200" b="0">
                <a:solidFill>
                  <a:srgbClr val="807765"/>
                </a:solidFill>
              </a:rPr>
              <a:t>Sources: HyperTransfer project docs; BitPay, Crypto.com Pay, Cobo, BVNK, Coinbase public refund guidance.</a:t>
            </a:r>
          </a:p>
        </p:txBody>
      </p:sp>
    </p:spTree>
    <p:extLst>
      <p:ext uri="{BB962C8B-B14F-4D97-AF65-F5344CB8AC3E}">
        <p14:creationId xmlns:p14="http://schemas.microsoft.com/office/powerpoint/2010/main" val="200727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BBC783-3CA2-4E7F-BAC1-3933D360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42C9E-E9D6-457A-9CEB-B72CB00C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6673C-B98D-4171-A0F9-1C5FDF98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ECBC3-19EA-4463-A37E-8EF29FAB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3C2E2-82F5-42EC-8988-646A97F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BB638-FD3A-47A5-AC4D-42E72A4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Step 1-2: request and eligibility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138A4-C2E7-4C9B-8097-3866BC5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The refund case must be anchored to a real, owned deposit.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ADC4E-5C59-455C-8F90-5ECB3BF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365B8-4CFA-4E8F-9357-474C3962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D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ADA27-A887-4DA8-BAE1-986A11A4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What must be 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B106F-BE78-4C92-A51D-26D97A9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610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The original deposit exists, belongs to the current customer, has a matched txHash/sessionId, is not already refunded, and is still eligible for operational closeout.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06E75-2050-4F5E-B7E7-0169546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1DF"/>
                </a:solidFill>
              </a:defRPr>
            </a:pPr>
            <a:r>
              <a:rPr sz="2100" b="1">
                <a:solidFill>
                  <a:srgbClr val="F7F1DF"/>
                </a:solidFill>
              </a:rPr>
              <a:t>Controls to implement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50B49-6920-4D72-B256-819F90F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D51A4-6A05-4B9D-9C12-7F43A1C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Bind refundId to original DepositRequest, sessionId, and txHash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23F83-101E-4F50-A559-ACE02532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3C7D2-BC3D-4A9A-A7DA-0CDF031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Block manual entry of unrelated transaction hashes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73732-140B-47BA-BF78-6DCE48F7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DA978-B0CD-47ED-B281-81FAB71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Reject duplicate refunds or already-closed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9748B-DF35-4066-863E-6767A2E1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38D7D-44CC-4CC6-BE35-B2C70EC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Capture reason code and case narrative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B096B-81B0-4499-BA60-55C9DFB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119EE-42FF-4E06-B0CC-68F5C3E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Check WTA / custody balance before payout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0923B-A6B9-4E38-B5BC-BCC65955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5170E"/>
          </a:solidFill>
          <a:ln xmlns:a="http://schemas.openxmlformats.org/drawingml/2006/main" w="9525">
            <a:solidFill>
              <a:srgbClr val="7845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C275E-8F67-46CC-859A-028C9A1F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91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55"/>
                </a:solidFill>
              </a:defRPr>
            </a:pPr>
            <a:r>
              <a:rPr sz="1350" b="1">
                <a:solidFill>
                  <a:srgbClr val="FFBF55"/>
                </a:solidFill>
              </a:rPr>
              <a:t>Phase 1 asset guardrail: USDT / USDC only. BTC and ETH are excluded.</a:t>
            </a:r>
          </a:p>
        </p:txBody>
      </p:sp>
    </p:spTree>
    <p:extLst>
      <p:ext uri="{BB962C8B-B14F-4D97-AF65-F5344CB8AC3E}">
        <p14:creationId xmlns:p14="http://schemas.microsoft.com/office/powerpoint/2010/main" val="189471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055422-A08D-46D3-8599-57FC413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DB806-FAAA-4751-A7F9-3C819625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6AB37-3AE6-4A90-9153-D320B2D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051FB-BFA2-4FC8-B22E-E6DE750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E7740-6BB9-4D0B-95A5-749396C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BE855-1E03-4C24-9538-6CA55959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Step 3: refund address 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9D5FA-F8A7-4FB8-BB97-F24DC435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The destination wallet is customer-confirmed, not guessed.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3E540-14CD-445F-B9BF-24D8AA5C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4290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7E79F-8A6C-4AF2-B829-5943946E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90422-D3AC-413D-AE17-5203AD8A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Customer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34C44-DD22-4FCF-B1A8-64C0E859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0861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The customer opens the refund page, reviews the original deposit, selects a reason, and submits a refund destination wallet on the same supported rail.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E2947-A793-47A9-88F4-B69CFE4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F"/>
                </a:solidFill>
              </a:defRPr>
            </a:pPr>
            <a:r>
              <a:rPr sz="2250" b="1">
                <a:solidFill>
                  <a:srgbClr val="F7F1DF"/>
                </a:solidFill>
              </a:rPr>
              <a:t>Security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2FE9F-F8A0-4548-9CE0-0913B3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EF780-4F28-416B-B500-D114AD9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Authenticated customer session; step-up MFA for high-risk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5CC7A-48A5-4A49-8E61-714058A6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522BF-EB53-4402-B353-93569A4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One-time collection link/session with expiry if sent by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3C049-B849-422B-AC6E-9FCE3D03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7FD1F-06C0-440B-AD7E-B9926583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Explicit network rail label: ERC-20 or TRC-20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D915F-200D-43D9-941C-BD9EAD25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D6C40-C639-4180-BBA1-D423DA90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09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No private keys, seed phrases, exchange passwords, or OTP forwarding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79037-2D37-45B8-A113-C1977B5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EB0AD-A83C-447C-8ED6-EFC0546E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Customer attestation stored with timestamp and IP/device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F80AF-FFCB-4147-8826-3C04DCE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590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2427"/>
          </a:solidFill>
          <a:ln xmlns:a="http://schemas.openxmlformats.org/drawingml/2006/main" w="9525">
            <a:solidFill>
              <a:srgbClr val="245B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31EFD-1C53-4DEC-8502-511A40DC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76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8C8"/>
                </a:solidFill>
              </a:defRPr>
            </a:pPr>
            <a:r>
              <a:rPr sz="1500" b="1">
                <a:solidFill>
                  <a:srgbClr val="4CC8C8"/>
                </a:solidFill>
              </a:rPr>
              <a:t>Why not auto-return?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D0D91-47F2-46F9-A869-26A348BE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76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1DF"/>
                </a:solidFill>
              </a:defRPr>
            </a:pPr>
            <a:r>
              <a:rPr sz="1350" b="0">
                <a:solidFill>
                  <a:srgbClr val="F7F1DF"/>
                </a:solidFill>
              </a:rPr>
              <a:t>CEX pooled wallets can prevent clean attribution back to the customer.</a:t>
            </a:r>
          </a:p>
        </p:txBody>
      </p:sp>
    </p:spTree>
    <p:extLst>
      <p:ext uri="{BB962C8B-B14F-4D97-AF65-F5344CB8AC3E}">
        <p14:creationId xmlns:p14="http://schemas.microsoft.com/office/powerpoint/2010/main" val="1675550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888EA-1F8E-4051-9A9B-EE2B74E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F3FEE-C7BA-4102-9903-B19ACA9E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C4687-29CD-4DEC-8C36-BE541D4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77B1E-B496-48D9-8572-A8E85E7B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8DFD4-1D65-42CC-894A-BA2E2223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99525-D943-439D-9FB5-EE52BD2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Step 4-5: validation and destination-wallet KYT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7CFD5-03E6-4F38-80D9-CD4E7F8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The refund wallet is screened before any staff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EE050-8EB6-4DD3-90AF-2087128C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07765"/>
                </a:solidFill>
              </a:defRPr>
            </a:pPr>
            <a:r>
              <a:rPr sz="1500" b="1">
                <a:solidFill>
                  <a:srgbClr val="807765"/>
                </a:solidFill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6AA21-0DB7-448F-9AA0-4EE15979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07765"/>
                </a:solidFill>
              </a:defRPr>
            </a:pPr>
            <a:r>
              <a:rPr sz="1500" b="1">
                <a:solidFill>
                  <a:srgbClr val="807765"/>
                </a:solidFill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D79CE-8E9F-4BA1-A79F-506F7461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07765"/>
                </a:solidFill>
              </a:defRPr>
            </a:pPr>
            <a:r>
              <a:rPr sz="1500" b="1">
                <a:solidFill>
                  <a:srgbClr val="807765"/>
                </a:solidFill>
              </a:rPr>
              <a:t>System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3130-6ABD-486F-A77E-A3483CC1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C5DBE-A7D2-4299-85F4-2EC8E372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D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B8C35-30E4-4016-8B71-962FB961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33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F"/>
                </a:solidFill>
              </a:defRPr>
            </a:pPr>
            <a:r>
              <a:rPr sz="1650" b="1">
                <a:solidFill>
                  <a:srgbClr val="F7F1DF"/>
                </a:solidFill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6621F-30DA-490A-BEFD-87F7E501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955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Address format, network rail, sanctions and exposure checks are clean.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E1F68-3C5E-4D32-A960-369C7A51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95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Proceed to treasury/compliance approval queue.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BE1FC-08BF-4EA9-9596-1F82E78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2366B-3647-4D77-A67C-58218AC6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0F888-9929-4C38-BD61-2031137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71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F"/>
                </a:solidFill>
              </a:defRPr>
            </a:pPr>
            <a:r>
              <a:rPr sz="1650" b="1">
                <a:solidFill>
                  <a:srgbClr val="F7F1DF"/>
                </a:solidFill>
              </a:rPr>
              <a:t>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15CF3-A2EC-45B8-9AE6-3F883552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Provider risk score or wallet pattern requires analyst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4D2F5-9B40-4BE9-A130-8138F509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Open compliance case; block payout until cleared.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86CF2-32B9-4CDA-8B6C-748F7B3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AF6E8-F139-48D2-B9A4-D695E876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4D4B4-4B9E-4908-A5A9-FD462DE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0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1DF"/>
                </a:solidFill>
              </a:defRPr>
            </a:pPr>
            <a:r>
              <a:rPr sz="1650" b="1">
                <a:solidFill>
                  <a:srgbClr val="F7F1DF"/>
                </a:solidFill>
              </a:rPr>
              <a:t>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7B047-2361-44F8-8D53-2E6FF35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719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Destination hits sanctions, fraud, mixer, scam, or high-risk exposure.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349AB-09C4-40A8-9F54-05574B04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719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Reject destination; require alternative wallet or legal escalation.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DF53A-5C8F-4301-B408-A3A1B9EF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924"/>
          </a:solidFill>
          <a:ln xmlns:a="http://schemas.openxmlformats.org/drawingml/2006/main" w="9525">
            <a:solidFill>
              <a:srgbClr val="2C49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32882-DDE4-4B24-9541-FF6BC904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EA8FE"/>
                </a:solidFill>
              </a:defRPr>
            </a:pPr>
            <a:r>
              <a:rPr sz="1650" b="1">
                <a:solidFill>
                  <a:srgbClr val="6EA8FE"/>
                </a:solidFill>
              </a:rPr>
              <a:t>Provider reference is mandatory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DEAF7-6952-449B-9E6E-FCEE7C9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8162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1DF"/>
                </a:solidFill>
              </a:defRPr>
            </a:pPr>
            <a:r>
              <a:rPr sz="1350" b="0">
                <a:solidFill>
                  <a:srgbClr val="F7F1DF"/>
                </a:solidFill>
              </a:rPr>
              <a:t>Store risk score, decision, provider reference, screenedAt, and analyst notes in the refund audit trail.</a:t>
            </a:r>
          </a:p>
        </p:txBody>
      </p:sp>
    </p:spTree>
    <p:extLst>
      <p:ext uri="{BB962C8B-B14F-4D97-AF65-F5344CB8AC3E}">
        <p14:creationId xmlns:p14="http://schemas.microsoft.com/office/powerpoint/2010/main" val="1421118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5C1EA-DA22-48BD-8BD5-499D4DCB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661C1-0EBE-4DF9-A8A1-DA8A4DA6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F3569-A30B-4419-9D35-2C30B0F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BA451-1C05-4B93-9C74-37B9084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2571D-3BBD-4650-B9CE-4006B467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7A96F-506C-43D6-ABAF-28BF55B5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Step 6: treasury and compliance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F68C6-6747-44C2-885E-7D6D2CDC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Customer action stops here; staff own the payout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B6E1A-A615-479A-88FE-8E61C7CD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54838-70F3-4967-AECF-897D137A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66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85D"/>
                </a:solidFill>
              </a:defRPr>
            </a:pPr>
            <a:r>
              <a:rPr sz="1650" b="1">
                <a:solidFill>
                  <a:srgbClr val="F0C85D"/>
                </a:solidFill>
              </a:rPr>
              <a:t>Original deposit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A1B03-D21E-4275-8D0C-7AF5E327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764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DepositRequest, sessionId, txHash, amount, 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BBAE9-5FA9-40B5-B5A2-818C2822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3014C-1E46-4624-8C03-0C861033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85D"/>
                </a:solidFill>
              </a:defRPr>
            </a:pPr>
            <a:r>
              <a:rPr sz="1650" b="1">
                <a:solidFill>
                  <a:srgbClr val="F0C85D"/>
                </a:solidFill>
              </a:rPr>
              <a:t>Customer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AE0B8-8761-49CF-9F29-AE9A7660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Refund reason, attestation, destination wallet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2AC00-F931-45C8-A966-615F6D90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9962D-6047-42FE-A6BF-D21F533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85D"/>
                </a:solidFill>
              </a:defRPr>
            </a:pPr>
            <a:r>
              <a:rPr sz="1650" b="1">
                <a:solidFill>
                  <a:srgbClr val="F0C85D"/>
                </a:solidFill>
              </a:rPr>
              <a:t>Risk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B9B0-DA99-4067-AA3C-ED50814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385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KYC status, source-wallet history, destination KYT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13375-5E7E-4BD7-B7D7-1FDA99C2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13A9D-A2B1-4804-92A1-9B9DDBA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85D"/>
                </a:solidFill>
              </a:defRPr>
            </a:pPr>
            <a:r>
              <a:rPr sz="1650" b="1">
                <a:solidFill>
                  <a:srgbClr val="F0C85D"/>
                </a:solidFill>
              </a:rPr>
              <a:t>Operational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D45EF-AC75-4D3D-9E1B-A3D58D97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9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WTA/vault balance, duplicate-refund check, case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63430-ED42-4403-9FFF-8817834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42862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249AD-B15F-4BCC-9E9A-5EA70AE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476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90287-B592-4430-836B-CC92352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Approval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3F55A-DCB7-4E2D-BC73-6E69194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9433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RBAC, maker-checker, quorum for high-value or exception cases, Macau access exclusion, operator device/location policy, and immutable action logs.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53894-83E2-48F3-9900-E72C16BD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286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1A0D"/>
          </a:solidFill>
          <a:ln xmlns:a="http://schemas.openxmlformats.org/drawingml/2006/main" w="9525">
            <a:solidFill>
              <a:srgbClr val="72522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064E7-15FA-424E-AE2E-2762479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55"/>
                </a:solidFill>
              </a:defRPr>
            </a:pPr>
            <a:r>
              <a:rPr sz="1650" b="1">
                <a:solidFill>
                  <a:srgbClr val="FFBF55"/>
                </a:solidFill>
              </a:rPr>
              <a:t>Approval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7A70E-B0B9-4D7B-BD71-1653D2F6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02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7F1DF"/>
                </a:solidFill>
              </a:defRPr>
            </a:pPr>
            <a:r>
              <a:rPr sz="1200" b="0">
                <a:solidFill>
                  <a:srgbClr val="F7F1DF"/>
                </a:solidFill>
              </a:rPr>
              <a:t>approved / rejected / manual_review</a:t>
            </a:r>
          </a:p>
          <a:p xmlns:a="http://schemas.openxmlformats.org/drawingml/2006/main">
            <a:pPr>
              <a:defRPr sz="1200" b="0">
                <a:solidFill>
                  <a:srgbClr val="F7F1DF"/>
                </a:solidFill>
              </a:defRPr>
            </a:pPr>
            <a:r>
              <a:rPr sz="1200" b="0">
                <a:solidFill>
                  <a:srgbClr val="F7F1DF"/>
                </a:solidFill>
              </a:rPr>
              <a:t>with approver IDs and timestamp</a:t>
            </a:r>
          </a:p>
        </p:txBody>
      </p:sp>
    </p:spTree>
    <p:extLst>
      <p:ext uri="{BB962C8B-B14F-4D97-AF65-F5344CB8AC3E}">
        <p14:creationId xmlns:p14="http://schemas.microsoft.com/office/powerpoint/2010/main" val="588945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7FE96-A63E-453D-856D-29790C2A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0963E-D438-4BBD-BC0A-79CD7510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0669C-5C11-4932-8A22-AE098D4A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30C70-9575-420F-8AB7-777C2F5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E1ACC-3DF9-4F32-A26E-A7E8B9CC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DDF5D-6834-403C-AD13-961BC44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Step 7: Hex Safe custody payout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D72B0-9C4F-4D78-A96B-14EDDF00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The backend adapter submits the transfer; customer H5 never touches custody 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1F52A-1D1D-4282-95B5-38F32A2C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12427-1518-452E-8A7C-F02F6A1A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CC8C8"/>
                </a:solidFill>
              </a:defRPr>
            </a:pPr>
            <a:r>
              <a:rPr sz="1800" b="1">
                <a:solidFill>
                  <a:srgbClr val="4CC8C8"/>
                </a:solidFill>
              </a:rPr>
              <a:t>HyperTransfer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A5C8D-6571-432B-A46C-CDDBF6F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creates payout request and calls custody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8273B-50A6-4D57-8F16-B0AD36B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07765"/>
                </a:solidFill>
              </a:defRPr>
            </a:pPr>
            <a:r>
              <a:rPr sz="1800" b="1">
                <a:solidFill>
                  <a:srgbClr val="807765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80AE3-91BF-4FB7-ACF7-C2449CD7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C85D"/>
                </a:solidFill>
              </a:defRPr>
            </a:pPr>
            <a:r>
              <a:rPr sz="1800" b="1">
                <a:solidFill>
                  <a:srgbClr val="F0C85D"/>
                </a:solidFill>
              </a:rPr>
              <a:t>Hex 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71253-0F88-4810-B4E5-60F23A1A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policy, approval, signing, broadcast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E1359-BF84-4238-A515-E1A5F692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229EE-46AC-45DB-848D-F1C565CD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1513D-1F70-4846-A94B-80049F9A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Whitelist /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C7F6E-8B35-45F4-B4FD-4DE89A6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800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If required by vault policy, add or select the whitelisted destination before transfer creation.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964D4-5AE3-4CBA-B4CE-C0A6DAB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3BBF8-4E13-4F9D-AA19-80FD96A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93C52-69BA-4A8B-8F40-1B41F46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956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Signing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F161B-9F09-454F-8EED-FDA26A1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76650"/>
            <a:ext cx="2800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Custody roles, maker-checker, quorum approval, and transaction policy are enforced by Hex Safe.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86891-876F-4FEA-B7E8-97B848E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93078-BAC8-4BAF-8C8E-32AE71E6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D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D767C-7F40-429D-BD66-A69C22F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Broadcast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158F1-FBE8-416A-B1B5-9DD6E7E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800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Store transferId, txHash, fee, chain, amount, status, and confirmation count.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37BBC-9A42-47E3-A20C-7171DF96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1DF"/>
                </a:solidFill>
              </a:defRPr>
            </a:pPr>
            <a:r>
              <a:rPr sz="1500" b="1">
                <a:solidFill>
                  <a:srgbClr val="F7F1DF"/>
                </a:solidFill>
              </a:rPr>
              <a:t>Production rule: frontend only displays status. It never stores keys, signs transactions, or calls provider secrets.</a:t>
            </a:r>
          </a:p>
        </p:txBody>
      </p:sp>
    </p:spTree>
    <p:extLst>
      <p:ext uri="{BB962C8B-B14F-4D97-AF65-F5344CB8AC3E}">
        <p14:creationId xmlns:p14="http://schemas.microsoft.com/office/powerpoint/2010/main" val="1784321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31D2D3-38FC-4A0C-AC6B-9717296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1FEC1-DCBD-4AA3-8EDE-2A88D46D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663A1-9DE1-458D-85E6-0FA0010A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D1264-6549-4717-A088-5A333EB3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AB1B3-D961-45CA-AB59-008C92A1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9B1F5-B787-4542-8A4A-A178591A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Step 8-9: webhook, reconciliation and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124D-AACC-4089-9A58-C38BAE79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A refund is not complete until custody status and books agree.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FC0A7-4804-40A7-89A2-63C5843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4DD69-FF95-47FF-A0C1-76FE94B0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2AE3D-3B90-4FAE-A60A-5F947227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Webhook / polling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AAA0-4B8C-4F79-B1AB-DA04621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086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Verify transfer.broadcasted, transfer.completed, transfer.failed, confirmation count, and provider status signatures.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7BAC8-0EBB-4C67-A0FE-927C3124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4836C-6D70-4D6F-97C8-83F6316B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D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740D3-8FC7-4EE1-A2FC-9375543D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E3CC4-1E2E-44BA-88D6-2EA32DDA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3086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Match refund case with custody transaction logs, WTA balance movement, monthly statement, and internal ledger.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AA906-8559-4EED-98B6-551CE8A4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4404E-2D17-49F1-B36A-3EE48A5A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90828-F9D4-4525-A1AB-62C67CF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Customer closeout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58799-4AF3-4913-B17C-265EAE26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3086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Notify customer only after completion evidence is stored. Failed or stuck transfers become exception cases.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7A370-EDFC-460F-B14A-7716D77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9829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F19"/>
          </a:solidFill>
          <a:ln xmlns:a="http://schemas.openxmlformats.org/drawingml/2006/main" w="9525">
            <a:solidFill>
              <a:srgbClr val="2A5C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78ADE-9A85-4A35-9187-42A93A15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0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D08C"/>
                </a:solidFill>
              </a:defRPr>
            </a:pPr>
            <a:r>
              <a:rPr sz="1800" b="1">
                <a:solidFill>
                  <a:srgbClr val="2FD08C"/>
                </a:solidFill>
              </a:rPr>
              <a:t>Audit pack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6E296-26E4-4788-9A9C-8A4BA82A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340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1DF"/>
                </a:solidFill>
              </a:defRPr>
            </a:pPr>
            <a:r>
              <a:rPr sz="1350" b="0">
                <a:solidFill>
                  <a:srgbClr val="F7F1DF"/>
                </a:solidFill>
              </a:rPr>
              <a:t>original txHash · refund destination · KYT reference · approval · transferId · payout txHash · statement match</a:t>
            </a:r>
          </a:p>
        </p:txBody>
      </p:sp>
    </p:spTree>
    <p:extLst>
      <p:ext uri="{BB962C8B-B14F-4D97-AF65-F5344CB8AC3E}">
        <p14:creationId xmlns:p14="http://schemas.microsoft.com/office/powerpoint/2010/main" val="1040513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61366-B4B9-4C7B-A772-7DA9A7B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C8BFF-742A-43E7-9520-D46912F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6271C-A566-42D4-87F1-3B2B095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276D8-0921-4485-977F-EFDE84D5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71026-7112-4F7D-AFD6-6D802CB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4693A-BD92-45D4-B7E3-630F0327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Current prototype vs production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1BFB6-4700-4C83-80D4-5A592BC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What is demoed now and what must be connected before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0822E-880B-4DBA-93D7-16DC24DC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2212"/>
          </a:solidFill>
          <a:ln xmlns:a="http://schemas.openxmlformats.org/drawingml/2006/main" w="9525">
            <a:solidFill>
              <a:srgbClr val="5D4B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58D16-33F7-49BC-A2FF-305024C8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C85D"/>
                </a:solidFill>
              </a:defRPr>
            </a:pPr>
            <a:r>
              <a:rPr sz="1350" b="1">
                <a:solidFill>
                  <a:srgbClr val="F0C85D"/>
                </a:solidFill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D050E-621F-46FF-BC70-E8990C1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38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C85D"/>
                </a:solidFill>
              </a:defRPr>
            </a:pPr>
            <a:r>
              <a:rPr sz="1350" b="1">
                <a:solidFill>
                  <a:srgbClr val="F0C85D"/>
                </a:solidFill>
              </a:rPr>
              <a:t>Prototype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4FE4F-4EF8-40A5-A2F0-8EAD16FD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383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C85D"/>
                </a:solidFill>
              </a:defRPr>
            </a:pPr>
            <a:r>
              <a:rPr sz="1350" b="1">
                <a:solidFill>
                  <a:srgbClr val="F0C85D"/>
                </a:solidFill>
              </a:rPr>
              <a:t>Production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87A75-55EF-439D-AB6C-EA10416B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2D27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B7619-7E39-403A-AF1F-D0BD154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1DF"/>
                </a:solidFill>
              </a:defRPr>
            </a:pPr>
            <a:r>
              <a:rPr sz="1350" b="1">
                <a:solidFill>
                  <a:srgbClr val="F7F1DF"/>
                </a:solidFill>
              </a:rPr>
              <a:t>Customer refund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B88F8-7AD0-4D9A-BD87-673C277B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Available at /refund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C3E06-A2A1-40C9-83E6-A903252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907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Add multi-order selection and 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5A944-5B42-4ED6-97B6-3A3FE165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00D"/>
          </a:solidFill>
          <a:ln xmlns:a="http://schemas.openxmlformats.org/drawingml/2006/main" w="9525">
            <a:solidFill>
              <a:srgbClr val="2D271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93B2A-2623-4736-AEAB-625AB83A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1DF"/>
                </a:solidFill>
              </a:defRPr>
            </a:pPr>
            <a:r>
              <a:rPr sz="1350" b="1">
                <a:solidFill>
                  <a:srgbClr val="F7F1DF"/>
                </a:solidFill>
              </a:rPr>
              <a:t>Destination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5D365-3734-45CB-92A4-003C1CF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813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ERC-20 / TRC-20 format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78CC3-7B1F-429F-AE54-21E15CE6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8132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Add wallet ownership proof for high-risk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0DF15-30BB-408E-80B7-62468C3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2D27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4DFD7-1E62-4FAC-99F1-1FB0A74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1DF"/>
                </a:solidFill>
              </a:defRPr>
            </a:pPr>
            <a:r>
              <a:rPr sz="1350" b="1">
                <a:solidFill>
                  <a:srgbClr val="F7F1DF"/>
                </a:solidFill>
              </a:rPr>
              <a:t>Destination KYT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FD83D-EAF2-4FAB-AA26-DDABE85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Deterministic mock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EDF4D-93FA-4898-B6D6-FF015B1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18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Connect KYT provider or Sumsub Crypto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626E6-561E-4DDC-8FD7-3906E7CE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00D"/>
          </a:solidFill>
          <a:ln xmlns:a="http://schemas.openxmlformats.org/drawingml/2006/main" w="9525">
            <a:solidFill>
              <a:srgbClr val="2D271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8D4DF-BE78-4236-901F-F39782C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1DF"/>
                </a:solidFill>
              </a:defRPr>
            </a:pPr>
            <a:r>
              <a:rPr sz="1350" b="1">
                <a:solidFill>
                  <a:srgbClr val="F7F1DF"/>
                </a:solidFill>
              </a:rPr>
              <a:t>Approval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22E3A-9DD8-49D7-8CB1-7D530632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624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Available in /casino-ops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600DC-40FA-4105-862F-DB38CDD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6242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Add staff RBAC, maker-checker, rejection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37FDD-6819-4DB5-A944-1EB53323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2D271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C3B1B7-C7BA-4F4C-B0F6-A5BA34C7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1DF"/>
                </a:solidFill>
              </a:defRPr>
            </a:pPr>
            <a:r>
              <a:rPr sz="1350" b="1">
                <a:solidFill>
                  <a:srgbClr val="F7F1DF"/>
                </a:solidFill>
              </a:rPr>
              <a:t>Custody payout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9FAD7-5362-4463-8190-7A9ADC6F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5297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Mock transferId and txHash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6082EF-D760-4B53-AFE3-589A0EA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5297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Connect Hex Safe withdrawal / transfer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5A8F43-6835-4BD4-B06C-58A3FED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00D"/>
          </a:solidFill>
          <a:ln xmlns:a="http://schemas.openxmlformats.org/drawingml/2006/main" w="9525">
            <a:solidFill>
              <a:srgbClr val="2D271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27D85-F16E-45C8-98AC-7FC16062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4352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1DF"/>
                </a:solidFill>
              </a:defRPr>
            </a:pPr>
            <a:r>
              <a:rPr sz="1350" b="1">
                <a:solidFill>
                  <a:srgbClr val="F7F1DF"/>
                </a:solidFill>
              </a:rPr>
              <a:t>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CDAC9-759E-4C09-B0D1-D9415C2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435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Local auditTrail in refund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C81242-A885-4886-A77F-1EF5E04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43525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AD93"/>
                </a:solidFill>
              </a:defRPr>
            </a:pPr>
            <a:r>
              <a:rPr sz="1200" b="0">
                <a:solidFill>
                  <a:srgbClr val="B9AD93"/>
                </a:solidFill>
              </a:rPr>
              <a:t>Persist to backend, reconcile with statements</a:t>
            </a:r>
          </a:p>
        </p:txBody>
      </p:sp>
    </p:spTree>
    <p:extLst>
      <p:ext uri="{BB962C8B-B14F-4D97-AF65-F5344CB8AC3E}">
        <p14:creationId xmlns:p14="http://schemas.microsoft.com/office/powerpoint/2010/main" val="1641646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78914-7942-4F58-940E-15F04BF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B9E9E-8BDA-45CB-BF79-794570AA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2474E-C535-4960-8B8D-609CFAE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4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CC168-18CB-465A-86FB-BA1BF4E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F45"/>
                </a:solidFill>
              </a:defRPr>
            </a:pPr>
            <a:r>
              <a:rPr sz="1200" b="1">
                <a:solidFill>
                  <a:srgbClr val="D9AF45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2882E-DF80-4526-8A84-0C345D6F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6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07765"/>
                </a:solidFill>
              </a:defRPr>
            </a:pPr>
            <a:r>
              <a:rPr sz="1200" b="1">
                <a:solidFill>
                  <a:srgbClr val="80776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CEE1E-664D-4EBA-8C46-B82AFB11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1DF"/>
                </a:solidFill>
              </a:defRPr>
            </a:pPr>
            <a:r>
              <a:rPr sz="2850" b="1">
                <a:solidFill>
                  <a:srgbClr val="F7F1DF"/>
                </a:solidFill>
              </a:rPr>
              <a:t>Reference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4FF12-627C-4151-8A10-0056ACD9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The process is grounded in project documentation and comparable crypto payment refund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81655-5319-41A2-816E-8DD04CC8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5120C"/>
          </a:solidFill>
          <a:ln xmlns:a="http://schemas.openxmlformats.org/drawingml/2006/main" w="9525">
            <a:solidFill>
              <a:srgbClr val="3B33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221D3-B234-459A-A66B-D2C93741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95A75-6600-4803-BC27-99BDE342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1DF"/>
                </a:solidFill>
              </a:defRPr>
            </a:pPr>
            <a:r>
              <a:rPr sz="1800" b="1">
                <a:solidFill>
                  <a:srgbClr val="F7F1DF"/>
                </a:solidFill>
              </a:rPr>
              <a:t>Internal HyperTransfer 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9E05A-AD2E-4D26-B34C-AA05955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6101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Meeting notes require refund address verification, wallet ownership checks, destination-wallet KYT, treasury approval, payout controls, and audit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B9AD93"/>
                </a:solidFill>
              </a:defRPr>
            </a:pPr>
            <a:r>
              <a:rPr sz="1275" b="0">
                <a:solidFill>
                  <a:srgbClr val="B9AD93"/>
                </a:solidFill>
              </a:rPr>
              <a:t>ProjectInfo/design.md defines payout APIs, custody transfer, approval status, and txHash closeout.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B1F8F-1D9F-4608-B861-A3EB6829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1DF"/>
                </a:solidFill>
              </a:defRPr>
            </a:pPr>
            <a:r>
              <a:rPr sz="2250" b="1">
                <a:solidFill>
                  <a:srgbClr val="F7F1DF"/>
                </a:solidFill>
              </a:rPr>
              <a:t>Public references checked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4068A-7798-4188-92B9-03A9774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4B388-426B-4CFD-A8C8-CFE9E540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BitPay: customer-supplied refund address and shopper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E7D80-6BDF-4682-9408-8CEF2863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79B92-DB43-4077-876E-0C8D6DE3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Crypto.com Pay: merchant dashboard refund and wallet-address collection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29E97-D39F-45E2-B08F-A20589F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A4B19-ADE3-47E0-A136-F19EE054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Cobo: one-time refund link, risk controls, webhooks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C46F4-83B1-494C-8438-398ED96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E8240-4105-488E-89E1-6E65F50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BVNK: auto-refund exists but CEX pooled wallet caveat applies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B482B-C1EB-4772-A78E-70F1B6E4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2FFFD-6F8B-407E-9E60-8EF52DB3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AD93"/>
                </a:solidFill>
              </a:defRPr>
            </a:pPr>
            <a:r>
              <a:rPr sz="1350" b="0">
                <a:solidFill>
                  <a:srgbClr val="B9AD93"/>
                </a:solidFill>
              </a:rPr>
              <a:t>Coinbase: crypto transfers are final and require careful destination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2BFCC-B92B-4184-BE1A-6256FE7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D08C"/>
                </a:solidFill>
              </a:defRPr>
            </a:pPr>
            <a:r>
              <a:rPr sz="1650" b="1">
                <a:solidFill>
                  <a:srgbClr val="2FD08C"/>
                </a:solidFill>
              </a:rPr>
              <a:t>Working conclusion: HyperTransfer should collect a customer-confirmed refund destination and process it as a controlled payout, not a blind reversal.</a:t>
            </a:r>
          </a:p>
        </p:txBody>
      </p:sp>
    </p:spTree>
    <p:extLst>
      <p:ext uri="{BB962C8B-B14F-4D97-AF65-F5344CB8AC3E}">
        <p14:creationId xmlns:p14="http://schemas.microsoft.com/office/powerpoint/2010/main" val="2009713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2026-06-21T12:17:51.3440000Z</dcterms:created>
  <dcterms:modified xsi:type="dcterms:W3CDTF">2026-06-21T12:17:51.3440000Z</dcterms:modified>
</coreProperties>
</file>
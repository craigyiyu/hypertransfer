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30ebc3ef1d4fb8" /><Relationship Type="http://schemas.openxmlformats.org/officeDocument/2006/relationships/extended-properties" Target="/docProps/app.xml" Id="R4ba60f88a64c48f4" /><Relationship Type="http://schemas.openxmlformats.org/officeDocument/2006/relationships/officeDocument" Target="/ppt/presentation.xml" Id="R9a2341e2f9304d6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f451490ece43ed"/>
  </p:sldMasterIdLst>
  <p:notesMasterIdLst>
    <p:notesMasterId xmlns:r="http://schemas.openxmlformats.org/officeDocument/2006/relationships" r:id="R64bdb54474a643e8"/>
  </p:notesMasterIdLst>
  <p:sldIdLst>
    <p:sldId xmlns:r="http://schemas.openxmlformats.org/officeDocument/2006/relationships" id="256" r:id="R4e349bcd3ff14e3c"/>
    <p:sldId xmlns:r="http://schemas.openxmlformats.org/officeDocument/2006/relationships" id="257" r:id="R52018f63b2c54168"/>
    <p:sldId xmlns:r="http://schemas.openxmlformats.org/officeDocument/2006/relationships" id="258" r:id="R11a920caa5664b60"/>
    <p:sldId xmlns:r="http://schemas.openxmlformats.org/officeDocument/2006/relationships" id="259" r:id="Rfe0793cd0cc04821"/>
    <p:sldId xmlns:r="http://schemas.openxmlformats.org/officeDocument/2006/relationships" id="260" r:id="R643e5a4b5f824e3c"/>
    <p:sldId xmlns:r="http://schemas.openxmlformats.org/officeDocument/2006/relationships" id="261" r:id="R782644e108644e8d"/>
    <p:sldId xmlns:r="http://schemas.openxmlformats.org/officeDocument/2006/relationships" id="262" r:id="R601a4b118fd345f2"/>
    <p:sldId xmlns:r="http://schemas.openxmlformats.org/officeDocument/2006/relationships" id="263" r:id="R72828ec362954a09"/>
    <p:sldId xmlns:r="http://schemas.openxmlformats.org/officeDocument/2006/relationships" id="264" r:id="Rc0886b110cbc45a9"/>
    <p:sldId xmlns:r="http://schemas.openxmlformats.org/officeDocument/2006/relationships" id="265" r:id="R22cedb2fc8674732"/>
    <p:sldId xmlns:r="http://schemas.openxmlformats.org/officeDocument/2006/relationships" id="266" r:id="R65883872fd9845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605058429b40de" /><Relationship Type="http://schemas.openxmlformats.org/officeDocument/2006/relationships/slideMaster" Target="/ppt/slideMasters/slideMaster1.xml" Id="R91f451490ece43ed" /><Relationship Type="http://schemas.openxmlformats.org/officeDocument/2006/relationships/notesMaster" Target="/ppt/notesMasters/notesMaster1.xml" Id="R64bdb54474a643e8" /><Relationship Type="http://schemas.openxmlformats.org/officeDocument/2006/relationships/presProps" Target="/ppt/presProps.xml" Id="Ra2c62e2a09a64790" /><Relationship Type="http://schemas.openxmlformats.org/officeDocument/2006/relationships/tableStyles" Target="/ppt/tableStyles.xml" Id="Ra3f97e2406b64b8e" /><Relationship Type="http://schemas.openxmlformats.org/officeDocument/2006/relationships/slide" Target="/ppt/slides/slide1.xml" Id="R4e349bcd3ff14e3c" /><Relationship Type="http://schemas.openxmlformats.org/officeDocument/2006/relationships/slide" Target="/ppt/slides/slide2.xml" Id="R52018f63b2c54168" /><Relationship Type="http://schemas.openxmlformats.org/officeDocument/2006/relationships/slide" Target="/ppt/slides/slide3.xml" Id="R11a920caa5664b60" /><Relationship Type="http://schemas.openxmlformats.org/officeDocument/2006/relationships/slide" Target="/ppt/slides/slide4.xml" Id="Rfe0793cd0cc04821" /><Relationship Type="http://schemas.openxmlformats.org/officeDocument/2006/relationships/slide" Target="/ppt/slides/slide5.xml" Id="R643e5a4b5f824e3c" /><Relationship Type="http://schemas.openxmlformats.org/officeDocument/2006/relationships/slide" Target="/ppt/slides/slide6.xml" Id="R782644e108644e8d" /><Relationship Type="http://schemas.openxmlformats.org/officeDocument/2006/relationships/slide" Target="/ppt/slides/slide7.xml" Id="R601a4b118fd345f2" /><Relationship Type="http://schemas.openxmlformats.org/officeDocument/2006/relationships/slide" Target="/ppt/slides/slide8.xml" Id="R72828ec362954a09" /><Relationship Type="http://schemas.openxmlformats.org/officeDocument/2006/relationships/slide" Target="/ppt/slides/slide9.xml" Id="Rc0886b110cbc45a9" /><Relationship Type="http://schemas.openxmlformats.org/officeDocument/2006/relationships/slide" Target="/ppt/slides/slide10.xml" Id="R22cedb2fc8674732" /><Relationship Type="http://schemas.openxmlformats.org/officeDocument/2006/relationships/slide" Target="/ppt/slides/slide11.xml" Id="R65883872fd9845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8cc80cb8464b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a9a88d4b414273" /><Relationship Type="http://schemas.openxmlformats.org/officeDocument/2006/relationships/notesMaster" Target="/ppt/notesMasters/notesMaster1.xml" Id="Rcf2b47e3206a45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c671f6088847e1" /><Relationship Type="http://schemas.openxmlformats.org/officeDocument/2006/relationships/notesMaster" Target="/ppt/notesMasters/notesMaster1.xml" Id="Rd3f5d872726142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43b924e1eb4d4b" /><Relationship Type="http://schemas.openxmlformats.org/officeDocument/2006/relationships/notesMaster" Target="/ppt/notesMasters/notesMaster1.xml" Id="R4ceb2a2367774a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2ac76f88e942b0" /><Relationship Type="http://schemas.openxmlformats.org/officeDocument/2006/relationships/notesMaster" Target="/ppt/notesMasters/notesMaster1.xml" Id="R97c11ee6ef294b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4f7e733b034f97" /><Relationship Type="http://schemas.openxmlformats.org/officeDocument/2006/relationships/notesMaster" Target="/ppt/notesMasters/notesMaster1.xml" Id="R402dc24f3a92465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9f1163ac7e4bfe" /><Relationship Type="http://schemas.openxmlformats.org/officeDocument/2006/relationships/notesMaster" Target="/ppt/notesMasters/notesMaster1.xml" Id="R909b5f8c9be140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0654a746814027" /><Relationship Type="http://schemas.openxmlformats.org/officeDocument/2006/relationships/notesMaster" Target="/ppt/notesMasters/notesMaster1.xml" Id="R2023e12bfc4c486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91013bd52254e75" /><Relationship Type="http://schemas.openxmlformats.org/officeDocument/2006/relationships/notesMaster" Target="/ppt/notesMasters/notesMaster1.xml" Id="R9affd17c4bb143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944a7bb6ba492a" /><Relationship Type="http://schemas.openxmlformats.org/officeDocument/2006/relationships/notesMaster" Target="/ppt/notesMasters/notesMaster1.xml" Id="Re98294cb7f3145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37fa36c6634a78" /><Relationship Type="http://schemas.openxmlformats.org/officeDocument/2006/relationships/notesMaster" Target="/ppt/notesMasters/notesMaster1.xml" Id="R4620c4cc851d4e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83b9c0a68b4b18" /><Relationship Type="http://schemas.openxmlformats.org/officeDocument/2006/relationships/notesMaster" Target="/ppt/notesMasters/notesMaster1.xml" Id="Rcb75eebc045142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dd271f860e49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a40284283442c9" /><Relationship Type="http://schemas.openxmlformats.org/officeDocument/2006/relationships/slideLayout" Target="/ppt/slideLayouts/slideLayout1.xml" Id="Rb91292a41b4446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1292a41b4446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6e46837564173" /><Relationship Type="http://schemas.openxmlformats.org/officeDocument/2006/relationships/notesSlide" Target="/ppt/notesSlides/notesSlide1.xml" Id="R5effa5df908043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ff336dcde447f" /><Relationship Type="http://schemas.openxmlformats.org/officeDocument/2006/relationships/notesSlide" Target="/ppt/notesSlides/notesSlide2.xml" Id="Rc9cc25dcb20848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4adc5965374b50" /><Relationship Type="http://schemas.openxmlformats.org/officeDocument/2006/relationships/notesSlide" Target="/ppt/notesSlides/notesSlide3.xml" Id="R8677bf8e610e45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8be77b49224b71" /><Relationship Type="http://schemas.openxmlformats.org/officeDocument/2006/relationships/notesSlide" Target="/ppt/notesSlides/notesSlide4.xml" Id="R23ac139ffc144c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ce874c3d244397" /><Relationship Type="http://schemas.openxmlformats.org/officeDocument/2006/relationships/notesSlide" Target="/ppt/notesSlides/notesSlide5.xml" Id="R2136d10f585f444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0739f80764b0f" /><Relationship Type="http://schemas.openxmlformats.org/officeDocument/2006/relationships/notesSlide" Target="/ppt/notesSlides/notesSlide6.xml" Id="Rf4449b9135364b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0d77837b54eeb" /><Relationship Type="http://schemas.openxmlformats.org/officeDocument/2006/relationships/notesSlide" Target="/ppt/notesSlides/notesSlide7.xml" Id="R211e730a1a9540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aaff24929c487d" /><Relationship Type="http://schemas.openxmlformats.org/officeDocument/2006/relationships/notesSlide" Target="/ppt/notesSlides/notesSlide8.xml" Id="Rd64af761837b47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3dee60cb3e4124" /><Relationship Type="http://schemas.openxmlformats.org/officeDocument/2006/relationships/notesSlide" Target="/ppt/notesSlides/notesSlide9.xml" Id="R460b71884d9a4d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e1a00c5ed428a" /><Relationship Type="http://schemas.openxmlformats.org/officeDocument/2006/relationships/notesSlide" Target="/ppt/notesSlides/notesSlide10.xml" Id="Re2c59f7f27694e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1a84e44914288" /><Relationship Type="http://schemas.openxmlformats.org/officeDocument/2006/relationships/notesSlide" Target="/ppt/notesSlides/notesSlide11.xml" Id="R7356fb035af74ad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00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C59640-D68C-4937-B28B-D74EA30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AB8F0-AF29-48D5-BFC7-83D2D2F1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30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E2A83F-C976-49DC-AD83-6ED2848D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0"/>
            <a:ext cx="571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AA716-2C18-4B0D-B527-6670653D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8A83F"/>
                </a:solidFill>
              </a:defRPr>
            </a:pPr>
            <a:r>
              <a:rPr sz="1950" b="1">
                <a:solidFill>
                  <a:srgbClr val="D8A83F"/>
                </a:solidFill>
              </a:rPr>
              <a:t>HyperTransfer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E9895-12CB-45E5-A556-72D25F31B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762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8E9"/>
                </a:solidFill>
              </a:defRPr>
            </a:pPr>
            <a:r>
              <a:rPr sz="3900" b="1">
                <a:solidFill>
                  <a:srgbClr val="FFF8E9"/>
                </a:solidFill>
              </a:rPr>
              <a:t>Refund Process</a:t>
            </a:r>
          </a:p>
          <a:p xmlns:a="http://schemas.openxmlformats.org/drawingml/2006/main">
            <a:pPr>
              <a:defRPr sz="3900" b="1">
                <a:solidFill>
                  <a:srgbClr val="FFF8E9"/>
                </a:solidFill>
              </a:defRPr>
            </a:pPr>
            <a:r>
              <a:rPr sz="3900" b="1">
                <a:solidFill>
                  <a:srgbClr val="FFF8E9"/>
                </a:solidFill>
              </a:rPr>
              <a:t>Security Controls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BF20F-EEE3-4DA2-868C-75659FD8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D8CFBD"/>
                </a:solidFill>
              </a:defRPr>
            </a:pPr>
            <a:r>
              <a:rPr sz="1725" b="0">
                <a:solidFill>
                  <a:srgbClr val="D8CFBD"/>
                </a:solidFill>
              </a:rPr>
              <a:t>Client-ready security flow for Phase 1 stablecoin refunds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D9F2A4-36A6-460A-8F75-7DB0C544E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000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C2A"/>
          </a:solidFill>
          <a:ln xmlns:a="http://schemas.openxmlformats.org/drawingml/2006/main" w="0">
            <a:solidFill>
              <a:srgbClr val="0D3C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16B193-739B-462D-9712-9DAEBD5A7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719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AF0B8"/>
                </a:solidFill>
              </a:defRPr>
            </a:pPr>
            <a:r>
              <a:rPr sz="1125" b="1">
                <a:solidFill>
                  <a:srgbClr val="8AF0B8"/>
                </a:solidFill>
              </a:rPr>
              <a:t>USDT / USDC 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E38F6-35C2-4E0C-84C6-FFAA1359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886200"/>
            <a:ext cx="24765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3D42"/>
          </a:solidFill>
          <a:ln xmlns:a="http://schemas.openxmlformats.org/drawingml/2006/main" w="0">
            <a:solidFill>
              <a:srgbClr val="073D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984765-88FC-493C-8C0B-788AE7C8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71925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3EEF1"/>
                </a:solidFill>
              </a:defRPr>
            </a:pPr>
            <a:r>
              <a:rPr sz="1125" b="1">
                <a:solidFill>
                  <a:srgbClr val="93EEF1"/>
                </a:solidFill>
              </a:rPr>
              <a:t>ERC-20 / TRC-20 rails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2D5F8-C8CD-48A9-9672-8C79F624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86200"/>
            <a:ext cx="2000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2A10"/>
          </a:solidFill>
          <a:ln xmlns:a="http://schemas.openxmlformats.org/drawingml/2006/main" w="0">
            <a:solidFill>
              <a:srgbClr val="3D2A1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418D80-8450-4B9E-B418-7D906782A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71925"/>
            <a:ext cx="1733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0C45C"/>
                </a:solidFill>
              </a:defRPr>
            </a:pPr>
            <a:r>
              <a:rPr sz="1125" b="1">
                <a:solidFill>
                  <a:srgbClr val="F0C45C"/>
                </a:solidFill>
              </a:rPr>
              <a:t>Controlled payout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64D59-B73C-40FF-B035-FFEB6BBB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428750"/>
            <a:ext cx="3314700" cy="38100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8E9"/>
          </a:solidFill>
          <a:ln xmlns:a="http://schemas.openxmlformats.org/drawingml/2006/main" w="9525">
            <a:solidFill>
              <a:srgbClr val="5A4B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3BC8B-4F2A-48F4-A287-B562D446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669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1512"/>
                </a:solidFill>
              </a:defRPr>
            </a:pPr>
            <a:r>
              <a:rPr sz="1950" b="1">
                <a:solidFill>
                  <a:srgbClr val="171512"/>
                </a:solidFill>
              </a:rPr>
              <a:t>Core stance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310DC2-AD58-4C42-997F-CCB44682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57450"/>
            <a:ext cx="2428875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A refund is not a blockchain reversal.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It is a controlled custody payout gated by customer-confirmed destination, KYT, staff approval, Hex Safe execution, and reconciliation.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68BD4-5AAE-4184-89B3-D3CEF0C0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958B7D"/>
                </a:solidFill>
              </a:defRPr>
            </a:pPr>
            <a:r>
              <a:rPr sz="1125" b="0">
                <a:solidFill>
                  <a:srgbClr val="958B7D"/>
                </a:solidFill>
              </a:rPr>
              <a:t>2026-06-21 · v3</a:t>
            </a:r>
          </a:p>
        </p:txBody>
      </p:sp>
    </p:spTree>
    <p:extLst>
      <p:ext uri="{BB962C8B-B14F-4D97-AF65-F5344CB8AC3E}">
        <p14:creationId xmlns:p14="http://schemas.microsoft.com/office/powerpoint/2010/main" val="10752252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0079F1-B3DC-4072-945B-A4D384F7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47A831-EA40-4E3F-9A22-7ECBA4891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188055-D517-4F50-8EA3-E0F62F3B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7D59D-A6E8-4EF2-B507-778FBC10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3B5505-35C3-4FAE-9478-2691E3452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2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9F91"/>
                </a:solidFill>
              </a:defRPr>
            </a:pPr>
            <a:r>
              <a:rPr sz="1200" b="1">
                <a:solidFill>
                  <a:srgbClr val="A99F91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172B3-4E3A-4D60-B961-6B637D3A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512"/>
                </a:solidFill>
              </a:defRPr>
            </a:pPr>
            <a:r>
              <a:rPr sz="2925" b="1">
                <a:solidFill>
                  <a:srgbClr val="171512"/>
                </a:solidFill>
              </a:rPr>
              <a:t>Security stance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C3147E-4644-4141-AC83-B08739FF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574D"/>
                </a:solidFill>
              </a:defRPr>
            </a:pPr>
            <a:r>
              <a:rPr sz="1500" b="0">
                <a:solidFill>
                  <a:srgbClr val="5D574D"/>
                </a:solidFill>
              </a:rPr>
              <a:t>A refund is handled as an outbound value-transfer workflow.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2A536-BF7A-41AF-9416-26662DDD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E69851-19AD-4A67-904B-4A62DF2AB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90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84848"/>
                </a:solidFill>
              </a:defRPr>
            </a:pPr>
            <a:r>
              <a:rPr sz="1425" b="1">
                <a:solidFill>
                  <a:srgbClr val="B84848"/>
                </a:solidFill>
              </a:rPr>
              <a:t>No blind reversal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83963-FA71-4FF7-83E2-47008815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57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Do not auto-return to source address. Exchange pooled wallets can break attribution.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81D698-BFC5-45F9-8573-372FBB2E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4761E-F955-4BEC-B2A8-534D1C7A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90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7B83"/>
                </a:solidFill>
              </a:defRPr>
            </a:pPr>
            <a:r>
              <a:rPr sz="1425" b="1">
                <a:solidFill>
                  <a:srgbClr val="007B83"/>
                </a:solidFill>
              </a:rPr>
              <a:t>Verified destination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6E7C7A-383F-4C91-A181-F6270C83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90800"/>
            <a:ext cx="2057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Customer confirms the refund wallet in an authenticated 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48229-5D52-4237-B00C-CB510B1E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CAAB7E-5DA6-44C4-AE84-9A5DA421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5F9D"/>
                </a:solidFill>
              </a:defRPr>
            </a:pPr>
            <a:r>
              <a:rPr sz="1425" b="1">
                <a:solidFill>
                  <a:srgbClr val="275F9D"/>
                </a:solidFill>
              </a:rPr>
              <a:t>KYT before approval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5CDE8-4F15-4096-AEB9-A844480F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2057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Screen destination-wallet risk before treasury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6FB6A5-F3EB-41A3-8E8D-A04D8014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00250"/>
            <a:ext cx="24765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DBF5E5-4E28-41CD-8AC9-AF5D192E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190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D8F23"/>
                </a:solidFill>
              </a:defRPr>
            </a:pPr>
            <a:r>
              <a:rPr sz="1425" b="1">
                <a:solidFill>
                  <a:srgbClr val="BD8F23"/>
                </a:solidFill>
              </a:rPr>
              <a:t>Staff-controlled payout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FAC600-5674-4931-95EF-76F8670A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90800"/>
            <a:ext cx="20574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Treasury and compliance approve before custody transfer.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D4A66-C0E3-4B76-ACDC-51C91CCC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99441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E120C1-6DE4-464D-82A3-C970AD084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A83F"/>
                </a:solidFill>
              </a:defRPr>
            </a:pPr>
            <a:r>
              <a:rPr sz="1650" b="1">
                <a:solidFill>
                  <a:srgbClr val="D8A83F"/>
                </a:solidFill>
              </a:rPr>
              <a:t>Safe refund equation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211863-CC87-43AC-A637-89B4C58A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6725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8E9"/>
                </a:solidFill>
              </a:defRPr>
            </a:pPr>
            <a:r>
              <a:rPr sz="1275" b="1">
                <a:solidFill>
                  <a:srgbClr val="FFF8E9"/>
                </a:solidFill>
              </a:rPr>
              <a:t>eligible deposit + customer-confirmed destination + KYT pass + maker-checker approval + custody completion</a:t>
            </a:r>
          </a:p>
        </p:txBody>
      </p:sp>
    </p:spTree>
    <p:extLst>
      <p:ext uri="{BB962C8B-B14F-4D97-AF65-F5344CB8AC3E}">
        <p14:creationId xmlns:p14="http://schemas.microsoft.com/office/powerpoint/2010/main" val="1532904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5B8416-6EF7-4CB0-88F8-E1C1F036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F1848-5291-454D-A9A1-C41DD7CD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1895C-210B-49E0-B84C-E3FCC75B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7D80A-F4E4-448E-85EC-CBB2FA29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1178F-E197-47B2-BB54-805033FE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2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9F91"/>
                </a:solidFill>
              </a:defRPr>
            </a:pPr>
            <a:r>
              <a:rPr sz="1200" b="1">
                <a:solidFill>
                  <a:srgbClr val="A99F91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86D9C-5230-42E6-96D8-950FE09C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512"/>
                </a:solidFill>
              </a:defRPr>
            </a:pPr>
            <a:r>
              <a:rPr sz="2925" b="1">
                <a:solidFill>
                  <a:srgbClr val="171512"/>
                </a:solidFill>
              </a:rPr>
              <a:t>End-to-end control 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A7646B-A0AB-43E1-A7E2-33EE6A26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574D"/>
                </a:solidFill>
              </a:defRPr>
            </a:pPr>
            <a:r>
              <a:rPr sz="1500" b="0">
                <a:solidFill>
                  <a:srgbClr val="5D574D"/>
                </a:solidFill>
              </a:rPr>
              <a:t>Nine gates from refund request to audit-ready closeout.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FB8065-CC95-47A0-901A-BF50C681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E7D5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37655-ABE3-45CE-82FC-8A197423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D8F23"/>
                </a:solidFill>
              </a:defRPr>
            </a:pPr>
            <a:r>
              <a:rPr sz="1350" b="1">
                <a:solidFill>
                  <a:srgbClr val="BD8F23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C65878-7A70-46FB-A150-41DF998C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512"/>
                </a:solidFill>
              </a:defRPr>
            </a:pPr>
            <a:r>
              <a:rPr sz="1275" b="1">
                <a:solidFill>
                  <a:srgbClr val="171512"/>
                </a:solidFill>
              </a:rPr>
              <a:t>Refund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18EF5-3A54-4A4F-B7E5-105971E1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43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574D"/>
                </a:solidFill>
              </a:defRPr>
            </a:pPr>
            <a:r>
              <a:rPr sz="1050" b="0">
                <a:solidFill>
                  <a:srgbClr val="5D574D"/>
                </a:solidFill>
              </a:rPr>
              <a:t>Customer H5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9C2FC6-F6DB-4397-AFBA-40C0730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1336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574D"/>
                </a:solidFill>
              </a:defRPr>
            </a:pPr>
            <a:r>
              <a:rPr sz="1800" b="1">
                <a:solidFill>
                  <a:srgbClr val="5D574D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1BD0AE-78B5-4EAF-AC4F-B97B8002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E7D5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7809E6-9260-4335-828B-C1182D4B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57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D8F23"/>
                </a:solidFill>
              </a:defRPr>
            </a:pPr>
            <a:r>
              <a:rPr sz="1350" b="1">
                <a:solidFill>
                  <a:srgbClr val="BD8F23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07AD5-7B41-4476-AF0F-D8912BF1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0383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512"/>
                </a:solidFill>
              </a:defRPr>
            </a:pPr>
            <a:r>
              <a:rPr sz="1275" b="1">
                <a:solidFill>
                  <a:srgbClr val="171512"/>
                </a:solidFill>
              </a:rPr>
              <a:t>Eligibility check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F2C740-F648-4C74-98B3-544237F3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43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574D"/>
                </a:solidFill>
              </a:defRPr>
            </a:pPr>
            <a:r>
              <a:rPr sz="1050" b="0">
                <a:solidFill>
                  <a:srgbClr val="5D574D"/>
                </a:solidFill>
              </a:rPr>
              <a:t>Backend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E6756D-99EF-42A1-8199-5EA5A0FB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574D"/>
                </a:solidFill>
              </a:defRPr>
            </a:pPr>
            <a:r>
              <a:rPr sz="1800" b="1">
                <a:solidFill>
                  <a:srgbClr val="5D574D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4E741-C2C1-4BC9-A1B5-D75C8025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050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FF0F1"/>
          </a:solidFill>
          <a:ln xmlns:a="http://schemas.openxmlformats.org/drawingml/2006/main" w="9525">
            <a:solidFill>
              <a:srgbClr val="007B8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27D1A-4CB1-4542-8B2D-6AE36EA6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57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83"/>
                </a:solidFill>
              </a:defRPr>
            </a:pPr>
            <a:r>
              <a:rPr sz="1350" b="1">
                <a:solidFill>
                  <a:srgbClr val="007B83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67F4D-EA83-430F-9C4E-CBF8A479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383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512"/>
                </a:solidFill>
              </a:defRPr>
            </a:pPr>
            <a:r>
              <a:rPr sz="1275" b="1">
                <a:solidFill>
                  <a:srgbClr val="171512"/>
                </a:solidFill>
              </a:rPr>
              <a:t>Address collection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463310-BFEC-4A21-AC25-A753AC20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574D"/>
                </a:solidFill>
              </a:defRPr>
            </a:pPr>
            <a:r>
              <a:rPr sz="1050" b="0">
                <a:solidFill>
                  <a:srgbClr val="5D574D"/>
                </a:solidFill>
              </a:rPr>
              <a:t>Customer H5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665030-3C86-4D57-BF74-B55A132E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FF0F1"/>
          </a:solidFill>
          <a:ln xmlns:a="http://schemas.openxmlformats.org/drawingml/2006/main" w="9525">
            <a:solidFill>
              <a:srgbClr val="007B8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8B7136-9B42-436E-B15B-89C1DD1E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71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83"/>
                </a:solidFill>
              </a:defRPr>
            </a:pPr>
            <a:r>
              <a:rPr sz="1350" b="1">
                <a:solidFill>
                  <a:srgbClr val="007B83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F7703B-58A7-4E29-A78C-518DDF9D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512"/>
                </a:solidFill>
              </a:defRPr>
            </a:pPr>
            <a:r>
              <a:rPr sz="1275" b="1">
                <a:solidFill>
                  <a:srgbClr val="171512"/>
                </a:solidFill>
              </a:rPr>
              <a:t>Format validation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AC371C-3546-4532-B7AA-73A2DC73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57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574D"/>
                </a:solidFill>
              </a:defRPr>
            </a:pPr>
            <a:r>
              <a:rPr sz="1050" b="0">
                <a:solidFill>
                  <a:srgbClr val="5D574D"/>
                </a:solidFill>
              </a:rPr>
              <a:t>Backend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59B115-797C-4C23-8F01-F9143E1E4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048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574D"/>
                </a:solidFill>
              </a:defRPr>
            </a:pPr>
            <a:r>
              <a:rPr sz="1800" b="1">
                <a:solidFill>
                  <a:srgbClr val="5D574D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F9C960-6E21-405C-8774-42E3080D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194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EBF6"/>
          </a:solidFill>
          <a:ln xmlns:a="http://schemas.openxmlformats.org/drawingml/2006/main" w="9525">
            <a:solidFill>
              <a:srgbClr val="275F9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9F494C-0620-4CA6-8C8D-88F2733A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75F9D"/>
                </a:solidFill>
              </a:defRPr>
            </a:pPr>
            <a:r>
              <a:rPr sz="1350" b="1">
                <a:solidFill>
                  <a:srgbClr val="275F9D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C64832-FDF4-4503-A139-D64DDD23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9527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512"/>
                </a:solidFill>
              </a:defRPr>
            </a:pPr>
            <a:r>
              <a:rPr sz="1275" b="1">
                <a:solidFill>
                  <a:srgbClr val="171512"/>
                </a:solidFill>
              </a:rPr>
              <a:t>Destination KYT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C28615-83FC-4823-9339-F67392E1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57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574D"/>
                </a:solidFill>
              </a:defRPr>
            </a:pPr>
            <a:r>
              <a:rPr sz="1050" b="0">
                <a:solidFill>
                  <a:srgbClr val="5D574D"/>
                </a:solidFill>
              </a:rPr>
              <a:t>Provider adapter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C4D749-6F27-4EF0-A5F8-D1B90DE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574D"/>
                </a:solidFill>
              </a:defRPr>
            </a:pPr>
            <a:r>
              <a:rPr sz="1800" b="1">
                <a:solidFill>
                  <a:srgbClr val="5D574D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77C1A73-4BE6-49FD-AD19-8FCC9005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194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E7D5"/>
          </a:solidFill>
          <a:ln xmlns:a="http://schemas.openxmlformats.org/drawingml/2006/main" w="9525">
            <a:solidFill>
              <a:srgbClr val="B36A1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3182BD-21C1-45D0-957A-8DFBC13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718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36A13"/>
                </a:solidFill>
              </a:defRPr>
            </a:pPr>
            <a:r>
              <a:rPr sz="1350" b="1">
                <a:solidFill>
                  <a:srgbClr val="B36A13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03BB2D1-9E11-41F7-9DAC-0EEDC003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527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512"/>
                </a:solidFill>
              </a:defRPr>
            </a:pPr>
            <a:r>
              <a:rPr sz="1275" b="1">
                <a:solidFill>
                  <a:srgbClr val="171512"/>
                </a:solidFill>
              </a:rPr>
              <a:t>Staff approval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8C5A7C-9A05-4CC5-AE0E-65FCF898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575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574D"/>
                </a:solidFill>
              </a:defRPr>
            </a:pPr>
            <a:r>
              <a:rPr sz="1050" b="0">
                <a:solidFill>
                  <a:srgbClr val="5D574D"/>
                </a:solidFill>
              </a:rPr>
              <a:t>Casino Ops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ACA8E5-3F13-43A7-98A4-7A9000F40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E7D5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7196BB-6C4C-4323-B3A8-44968068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D8F23"/>
                </a:solidFill>
              </a:defRPr>
            </a:pPr>
            <a:r>
              <a:rPr sz="1350" b="1">
                <a:solidFill>
                  <a:srgbClr val="BD8F23"/>
                </a:solidFill>
              </a:rPr>
              <a:t>07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1A8F56A-51E3-454D-BDD4-C965AA82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671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512"/>
                </a:solidFill>
              </a:defRPr>
            </a:pPr>
            <a:r>
              <a:rPr sz="1275" b="1">
                <a:solidFill>
                  <a:srgbClr val="171512"/>
                </a:solidFill>
              </a:rPr>
              <a:t>Custody payout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D14662-FCDA-4AD9-BC8C-1E6714C3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71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574D"/>
                </a:solidFill>
              </a:defRPr>
            </a:pPr>
            <a:r>
              <a:rPr sz="1050" b="0">
                <a:solidFill>
                  <a:srgbClr val="5D574D"/>
                </a:solidFill>
              </a:rPr>
              <a:t>Hex Safe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A4DFE9-B2B5-493E-AA77-DBDA12D8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62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574D"/>
                </a:solidFill>
              </a:defRPr>
            </a:pPr>
            <a:r>
              <a:rPr sz="1800" b="1">
                <a:solidFill>
                  <a:srgbClr val="5D574D"/>
                </a:solidFill>
              </a:rPr>
              <a:t>→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AEA0C4-80DA-40E3-996D-B7C631E4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338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1F1E8"/>
          </a:solidFill>
          <a:ln xmlns:a="http://schemas.openxmlformats.org/drawingml/2006/main" w="9525">
            <a:solidFill>
              <a:srgbClr val="147C4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3F6966-5CD9-45A0-B709-8AA9100F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86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C4B"/>
                </a:solidFill>
              </a:defRPr>
            </a:pPr>
            <a:r>
              <a:rPr sz="1350" b="1">
                <a:solidFill>
                  <a:srgbClr val="147C4B"/>
                </a:solidFill>
              </a:rPr>
              <a:t>08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CAAD23B-91E6-4BF6-8F45-46210FAA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8671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512"/>
                </a:solidFill>
              </a:defRPr>
            </a:pPr>
            <a:r>
              <a:rPr sz="1275" b="1">
                <a:solidFill>
                  <a:srgbClr val="171512"/>
                </a:solidFill>
              </a:rPr>
              <a:t>Webhook complete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D2BD59-59CD-4724-A432-9BA2E9B1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71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574D"/>
                </a:solidFill>
              </a:defRPr>
            </a:pPr>
            <a:r>
              <a:rPr sz="1050" b="0">
                <a:solidFill>
                  <a:srgbClr val="5D574D"/>
                </a:solidFill>
              </a:rPr>
              <a:t>Custody/API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C61EFC6-3964-4D4C-8B7D-0BEEC023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624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D574D"/>
                </a:solidFill>
              </a:defRPr>
            </a:pPr>
            <a:r>
              <a:rPr sz="1800" b="1">
                <a:solidFill>
                  <a:srgbClr val="5D574D"/>
                </a:solidFill>
              </a:rPr>
              <a:t>→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2B045A-5487-4AD3-9051-9CE376DE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33800"/>
            <a:ext cx="3143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1F1E8"/>
          </a:solidFill>
          <a:ln xmlns:a="http://schemas.openxmlformats.org/drawingml/2006/main" w="9525">
            <a:solidFill>
              <a:srgbClr val="147C4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5FC2B1-94A7-4034-8FA9-898E4F1B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862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7C4B"/>
                </a:solidFill>
              </a:defRPr>
            </a:pPr>
            <a:r>
              <a:rPr sz="1350" b="1">
                <a:solidFill>
                  <a:srgbClr val="147C4B"/>
                </a:solidFill>
              </a:rPr>
              <a:t>09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3F17D6-4FB7-446E-9AB1-36DF51D7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6715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1512"/>
                </a:solidFill>
              </a:defRPr>
            </a:pPr>
            <a:r>
              <a:rPr sz="1275" b="1">
                <a:solidFill>
                  <a:srgbClr val="171512"/>
                </a:solidFill>
              </a:rPr>
              <a:t>Reconciliation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930F12-11A2-4C22-B279-79C1003F0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71950"/>
            <a:ext cx="240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D574D"/>
                </a:solidFill>
              </a:defRPr>
            </a:pPr>
            <a:r>
              <a:rPr sz="1050" b="0">
                <a:solidFill>
                  <a:srgbClr val="5D574D"/>
                </a:solidFill>
              </a:rPr>
              <a:t>Finance/Audit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F3F1670-6499-4466-A2DC-EEE04350C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668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ED0CF8C-A4B0-44EF-9E3E-F1806760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00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71512"/>
                </a:solidFill>
              </a:defRPr>
            </a:pPr>
            <a:r>
              <a:rPr sz="1575" b="1">
                <a:solidFill>
                  <a:srgbClr val="171512"/>
                </a:solidFill>
              </a:rPr>
              <a:t>Ownership split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F662B9-A437-4FCF-BCCA-1CAD6AB8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1816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Customer submits the request and destination. HyperTransfer orchestrates gates. Casino staff approve. Hex Safe executes custody transfer.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5E8D350-3A4B-408D-BEFF-16AFE9F8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7B7164"/>
                </a:solidFill>
              </a:defRPr>
            </a:pPr>
            <a:r>
              <a:rPr sz="975" b="0">
                <a:solidFill>
                  <a:srgbClr val="7B7164"/>
                </a:solidFill>
              </a:rPr>
              <a:t>Basis: HyperTransfer project docs + BitPay / Crypto.com Pay / Cobo / BVNK / Coinbase public refund guidance.</a:t>
            </a:r>
          </a:p>
        </p:txBody>
      </p:sp>
    </p:spTree>
    <p:extLst>
      <p:ext uri="{BB962C8B-B14F-4D97-AF65-F5344CB8AC3E}">
        <p14:creationId xmlns:p14="http://schemas.microsoft.com/office/powerpoint/2010/main" val="81828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FA7E82-6B1D-4CE3-BFB3-835014F3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4F13E3-47C5-43A6-8C95-CE2A426D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E59DB-CFEE-4C12-A585-069F212F5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F02CEC-728A-48EE-99B8-B533450C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5876D-B2C8-430D-BFD7-7456DBC1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2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9F91"/>
                </a:solidFill>
              </a:defRPr>
            </a:pPr>
            <a:r>
              <a:rPr sz="1200" b="1">
                <a:solidFill>
                  <a:srgbClr val="A99F91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4F247D-4357-4B2C-9DC4-43731B50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512"/>
                </a:solidFill>
              </a:defRPr>
            </a:pPr>
            <a:r>
              <a:rPr sz="2925" b="1">
                <a:solidFill>
                  <a:srgbClr val="171512"/>
                </a:solidFill>
              </a:rPr>
              <a:t>Request and eligibility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7BBA3-D4BD-41AA-A461-F8BA7F1F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574D"/>
                </a:solidFill>
              </a:defRPr>
            </a:pPr>
            <a:r>
              <a:rPr sz="1500" b="0">
                <a:solidFill>
                  <a:srgbClr val="5D574D"/>
                </a:solidFill>
              </a:rPr>
              <a:t>The refund case must be anchored to a real, owned deposit.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D886DD-2E1E-4636-9C86-07F8B924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762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13B1C4-7DBB-4D1E-97B7-247D909F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1512"/>
                </a:solidFill>
              </a:defRPr>
            </a:pPr>
            <a:r>
              <a:rPr sz="1950" b="1">
                <a:solidFill>
                  <a:srgbClr val="171512"/>
                </a:solidFill>
              </a:rPr>
              <a:t>Case binding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6C6D7-F509-4E13-8E6F-07FCE004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41676F-6A53-4F3E-8C34-B4C1D5B1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Original DepositRequest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5A0487-426E-4509-9E46-54BFB2FB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BCDA4-753C-42E6-9FB3-883B3160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813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Customer account ownership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449BAF-F91B-4539-8E9A-3F0FEA4C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1BF0F-D389-4D08-93D9-D3EB2468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54330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sessionId and txHash match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01ADF2-D9F6-4AC3-8804-535DB20C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6A2663-D632-45C9-AD6A-C529A009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9052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No prior refund on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59092C-CF33-4150-821E-7C35DB70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EBD425-4634-4A3A-ADA2-B990C9D8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6720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Eligible WTA / custody balance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B2BC0-F689-43E4-BDCC-CE22A7BA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24050"/>
            <a:ext cx="47625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A98C14-8026-4859-A5B4-AAE6305C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28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1512"/>
                </a:solidFill>
              </a:defRPr>
            </a:pPr>
            <a:r>
              <a:rPr sz="1950" b="1">
                <a:solidFill>
                  <a:srgbClr val="171512"/>
                </a:solidFill>
              </a:rPr>
              <a:t>Controls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2C6BAB-FCA2-480D-979E-36A66947E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040E2-336B-4697-B76E-616CE2A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81940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Block unrelated txHash entry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293CA5-E1B4-4A02-9E5C-6EEF60A3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B678E9-9DA4-4861-9E1D-D06CD760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813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Reject duplicate or closed cases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0D564A-A1DD-49E3-B553-934424FE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57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B7D540-F47D-4993-95CF-BB0C1202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4330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Capture reason and narrative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56D19B-8B41-41FD-951B-BBFF4AF3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19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DF520-2FEB-4026-8A01-782FA92E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0525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Store request timestamp and actor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0E1E48-A732-4386-A92D-13737FBF8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815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3E7504-5BB3-4AF0-9DFD-63EF7F11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67200"/>
            <a:ext cx="3581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D574D"/>
                </a:solidFill>
              </a:defRPr>
            </a:pPr>
            <a:r>
              <a:rPr sz="1275" b="0">
                <a:solidFill>
                  <a:srgbClr val="5D574D"/>
                </a:solidFill>
              </a:rPr>
              <a:t>Stop unsupported asset or 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7E7264-3203-4AA8-AEE9-99203401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62550"/>
            <a:ext cx="8572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7B30BF-FA72-4D0F-B6B0-48B01176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8A83F"/>
                </a:solidFill>
              </a:defRPr>
            </a:pPr>
            <a:r>
              <a:rPr sz="1350" b="1">
                <a:solidFill>
                  <a:srgbClr val="D8A83F"/>
                </a:solidFill>
              </a:rPr>
              <a:t>Phase 1 asset guardrail: USDT / USDC only; BTC and ETH are excluded.</a:t>
            </a:r>
          </a:p>
        </p:txBody>
      </p:sp>
    </p:spTree>
    <p:extLst>
      <p:ext uri="{BB962C8B-B14F-4D97-AF65-F5344CB8AC3E}">
        <p14:creationId xmlns:p14="http://schemas.microsoft.com/office/powerpoint/2010/main" val="19829392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2043F9-3336-4C24-AC34-A39F24EF9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2482E-F5C3-437C-AE6D-EF019AD89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FCAAD6-8772-4789-A9AF-8F13E760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5B763-855B-40E4-B531-536767EA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0C273-A34C-425A-A2B7-FE15AFEB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2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9F91"/>
                </a:solidFill>
              </a:defRPr>
            </a:pPr>
            <a:r>
              <a:rPr sz="1200" b="1">
                <a:solidFill>
                  <a:srgbClr val="A99F91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2CE4C-091E-4132-8633-752747F0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512"/>
                </a:solidFill>
              </a:defRPr>
            </a:pPr>
            <a:r>
              <a:rPr sz="2925" b="1">
                <a:solidFill>
                  <a:srgbClr val="171512"/>
                </a:solidFill>
              </a:rPr>
              <a:t>Customer-confirmed refund destination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0DD89-C002-4609-B31E-060573DC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574D"/>
                </a:solidFill>
              </a:defRPr>
            </a:pPr>
            <a:r>
              <a:rPr sz="1500" b="0">
                <a:solidFill>
                  <a:srgbClr val="5D574D"/>
                </a:solidFill>
              </a:rPr>
              <a:t>The destination wallet is collected through a controlled customer flow.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7A09A5-CE1B-46F4-A597-F3284DAC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2766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418A7-6622-416D-AB3E-DB083B2D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9B16D-FCFE-4E24-BD8F-3BAFA0DC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512"/>
                </a:solidFill>
              </a:defRPr>
            </a:pPr>
            <a:r>
              <a:rPr sz="1650" b="1">
                <a:solidFill>
                  <a:srgbClr val="171512"/>
                </a:solidFill>
              </a:rPr>
              <a:t>Customer session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9D0240-E74B-4A9E-BC20-7246D183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2571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Authenticated session or one-time refund link. High-risk cases require step-up MFA before submission.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DDFF4A-9BBF-4CBF-B45F-B2EE3938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32766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21062D-B814-426B-8DAD-41BC9D86E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240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5F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2EC7B6-3D4C-403E-B16F-F7803A3F8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512"/>
                </a:solidFill>
              </a:defRPr>
            </a:pPr>
            <a:r>
              <a:rPr sz="1650" b="1">
                <a:solidFill>
                  <a:srgbClr val="171512"/>
                </a:solidFill>
              </a:rPr>
              <a:t>Address checks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384404-03CC-4A56-8411-D5CA8B6A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2571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Validate rail and format: ERC-20 0x address or TRC-20 T address. Block wrong-network submissions.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AFD33-517C-474C-AA59-8917B6F0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32766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AC17AC-5B54-4F88-A93E-00BB537D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24050"/>
            <a:ext cx="57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9C031-F715-424C-9F7E-C8A82463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098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512"/>
                </a:solidFill>
              </a:defRPr>
            </a:pPr>
            <a:r>
              <a:rPr sz="1650" b="1">
                <a:solidFill>
                  <a:srgbClr val="171512"/>
                </a:solidFill>
              </a:rPr>
              <a:t>Customer attestation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27206-D9B9-4A51-B044-871A56B6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05100"/>
            <a:ext cx="2571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Store customer confirmation. Never ask for private keys, seed phrases, exchange passwords, or OTP forwarding.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B5BC5-5630-4E84-AB83-F25AD249E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76850"/>
            <a:ext cx="92583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FF0F1"/>
          </a:solidFill>
          <a:ln xmlns:a="http://schemas.openxmlformats.org/drawingml/2006/main" w="9525">
            <a:solidFill>
              <a:srgbClr val="007B8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61D7B-7A10-4C3F-89BF-E53449E1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4483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7B83"/>
                </a:solidFill>
              </a:defRPr>
            </a:pPr>
            <a:r>
              <a:rPr sz="1350" b="1">
                <a:solidFill>
                  <a:srgbClr val="007B83"/>
                </a:solidFill>
              </a:rPr>
              <a:t>Design choice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2395F-3037-4E1B-9470-7551289A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578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1512"/>
                </a:solidFill>
              </a:defRPr>
            </a:pPr>
            <a:r>
              <a:rPr sz="1200" b="0">
                <a:solidFill>
                  <a:srgbClr val="171512"/>
                </a:solidFill>
              </a:rPr>
              <a:t>Do not blind auto-return to original source address; CEX pooled wallets can break attribution.</a:t>
            </a:r>
          </a:p>
        </p:txBody>
      </p:sp>
    </p:spTree>
    <p:extLst>
      <p:ext uri="{BB962C8B-B14F-4D97-AF65-F5344CB8AC3E}">
        <p14:creationId xmlns:p14="http://schemas.microsoft.com/office/powerpoint/2010/main" val="1748943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EF413C-388E-4D0E-8447-8872F115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061EC1-B33D-496C-A2BC-09ECF5A1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92323C-678D-44C6-AD60-50D629C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9B770-484F-4826-813E-896F3641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25C83D-FA48-47BF-AB07-08CBB8EE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2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9F91"/>
                </a:solidFill>
              </a:defRPr>
            </a:pPr>
            <a:r>
              <a:rPr sz="1200" b="1">
                <a:solidFill>
                  <a:srgbClr val="A99F91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F760D-3594-46BA-9879-2F09EC97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512"/>
                </a:solidFill>
              </a:defRPr>
            </a:pPr>
            <a:r>
              <a:rPr sz="2925" b="1">
                <a:solidFill>
                  <a:srgbClr val="171512"/>
                </a:solidFill>
              </a:rPr>
              <a:t>Destination-wallet KYT decisioning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D6040-5DB2-47EA-B001-3F321DB9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574D"/>
                </a:solidFill>
              </a:defRPr>
            </a:pPr>
            <a:r>
              <a:rPr sz="1500" b="0">
                <a:solidFill>
                  <a:srgbClr val="5D574D"/>
                </a:solidFill>
              </a:rPr>
              <a:t>Refund wallets are screened before payout approval.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97C69A-9AC8-4B26-9B13-C25593C1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240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574D"/>
                </a:solidFill>
              </a:defRPr>
            </a:pPr>
            <a:r>
              <a:rPr sz="1275" b="1">
                <a:solidFill>
                  <a:srgbClr val="5D574D"/>
                </a:solidFill>
              </a:rPr>
              <a:t>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556EE6-0AF7-4C81-A193-0CAA6963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24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574D"/>
                </a:solidFill>
              </a:defRPr>
            </a:pPr>
            <a:r>
              <a:rPr sz="1275" b="1">
                <a:solidFill>
                  <a:srgbClr val="5D574D"/>
                </a:solidFill>
              </a:rPr>
              <a:t>Meaning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EFD0AA-35DB-45EC-BBC7-96769520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924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D574D"/>
                </a:solidFill>
              </a:defRPr>
            </a:pPr>
            <a:r>
              <a:rPr sz="1275" b="1">
                <a:solidFill>
                  <a:srgbClr val="5D574D"/>
                </a:solidFill>
              </a:rPr>
              <a:t>System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4B279D-F1F3-48B8-BCCE-BD4D2B08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066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2B7BB-0175-47CF-86E8-8146BA5F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7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336ED-CF9E-4EE5-A34A-B8B025E6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4955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617BE-AC8A-42E7-9576-17DBD436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860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Clean sanctions, exposure, and typology checks.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61ABDF-505B-487D-87FF-38FDE565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860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Proceed to treasury and compliance approval.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8A49E4-1B57-4107-8F4A-0518CF426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066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85852-B6F4-4139-8DD9-A71246D0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2DDFE6-8D51-4A2E-92BC-849D8115C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718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Manual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7267E7-6259-42EE-85F9-672F1CA3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623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Risk score or wallet pattern needs analyst review.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BEF62-9CF1-4F03-8936-3EA37808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3623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Open case and block payout until cleared.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9A9F6D-DD0C-4D0C-A16C-FC406E79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76700"/>
            <a:ext cx="1066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C23794-928D-4C34-9182-841679C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48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8B8D1-58C4-4BB4-B001-74FFD7A7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2481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1512"/>
                </a:solidFill>
              </a:defRPr>
            </a:pPr>
            <a:r>
              <a:rPr sz="1350" b="1">
                <a:solidFill>
                  <a:srgbClr val="171512"/>
                </a:solidFill>
              </a:rPr>
              <a:t>Reject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460C42-39E0-40BB-BA99-D658FF9A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Sanctions, scam, mixer, fraud, or high-risk hit.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F67B5C-32E0-4236-9504-E0EB66D6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3862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Reject destination or escalate urgent case.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F19442-5F39-4826-B667-289A8F91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14950"/>
            <a:ext cx="9525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EBF6"/>
          </a:solidFill>
          <a:ln xmlns:a="http://schemas.openxmlformats.org/drawingml/2006/main" w="9525">
            <a:solidFill>
              <a:srgbClr val="275F9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F40EAF-F24A-4D72-80F9-D5D65A19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7687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75F9D"/>
                </a:solidFill>
              </a:defRPr>
            </a:pPr>
            <a:r>
              <a:rPr sz="1425" b="1">
                <a:solidFill>
                  <a:srgbClr val="275F9D"/>
                </a:solidFill>
              </a:rPr>
              <a:t>Mandatory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589B8F-5DE9-4213-9D43-335378E3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4864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1512"/>
                </a:solidFill>
              </a:defRPr>
            </a:pPr>
            <a:r>
              <a:rPr sz="1200" b="0">
                <a:solidFill>
                  <a:srgbClr val="171512"/>
                </a:solidFill>
              </a:rPr>
              <a:t>provider reference · decision · risk score · screenedAt · analyst notes</a:t>
            </a:r>
          </a:p>
        </p:txBody>
      </p:sp>
    </p:spTree>
    <p:extLst>
      <p:ext uri="{BB962C8B-B14F-4D97-AF65-F5344CB8AC3E}">
        <p14:creationId xmlns:p14="http://schemas.microsoft.com/office/powerpoint/2010/main" val="17460339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5B6086-7026-493C-91F3-3E0A58A6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B91FA-A6DF-47FE-9959-C06BE45C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AD665D-B99F-4742-B35A-B67748FB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C23E2-D346-4388-8CDD-5E41A124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989DB-D375-4B3B-96B8-96FF022E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2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9F91"/>
                </a:solidFill>
              </a:defRPr>
            </a:pPr>
            <a:r>
              <a:rPr sz="1200" b="1">
                <a:solidFill>
                  <a:srgbClr val="A99F91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CB6A0-9CD2-4E77-B933-DE124676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512"/>
                </a:solidFill>
              </a:defRPr>
            </a:pPr>
            <a:r>
              <a:rPr sz="2925" b="1">
                <a:solidFill>
                  <a:srgbClr val="171512"/>
                </a:solidFill>
              </a:rPr>
              <a:t>Treasury and compliance approval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A06551-047A-42CE-9079-5634C6D3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574D"/>
                </a:solidFill>
              </a:defRPr>
            </a:pPr>
            <a:r>
              <a:rPr sz="1500" b="0">
                <a:solidFill>
                  <a:srgbClr val="5D574D"/>
                </a:solidFill>
              </a:rPr>
              <a:t>Customer action stops here; staff own the payout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FC3378-13C4-4C43-AEA1-CDB4898A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81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F1B07-0815-48A7-A979-132146D3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050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D8F23"/>
                </a:solidFill>
              </a:defRPr>
            </a:pPr>
            <a:r>
              <a:rPr sz="1350" b="1">
                <a:solidFill>
                  <a:srgbClr val="BD8F23"/>
                </a:solidFill>
              </a:rPr>
              <a:t>Original deposit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4AE64-3FAA-40B9-94E2-ACB1E459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095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DepositRequest, sessionId,</a:t>
            </a:r>
          </a:p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txHash, amount, rail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05DE08-BF1C-4A5F-82F4-B1A9D6CD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581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45480-6EE6-4606-B016-3B4F17930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860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D8F23"/>
                </a:solidFill>
              </a:defRPr>
            </a:pPr>
            <a:r>
              <a:rPr sz="1350" b="1">
                <a:solidFill>
                  <a:srgbClr val="BD8F23"/>
                </a:solidFill>
              </a:rPr>
              <a:t>Customer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ACC2B-C57F-4B8C-83E3-2209577C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8765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reason code, attestation,</a:t>
            </a:r>
          </a:p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destination wallet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75846-A2EA-4040-B616-1FECE88AB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581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E87A7E-31D9-43E3-B6C8-6030DD59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671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D8F23"/>
                </a:solidFill>
              </a:defRPr>
            </a:pPr>
            <a:r>
              <a:rPr sz="1350" b="1">
                <a:solidFill>
                  <a:srgbClr val="BD8F23"/>
                </a:solidFill>
              </a:rPr>
              <a:t>Risk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986C20-37DB-454C-9F49-CA014644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576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KYC status, source-wallet history,</a:t>
            </a:r>
          </a:p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destination KYT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F69E3-FDA9-4C8E-B9CA-0F3A9808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5810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90F62-CDBB-4B53-A3E5-C0F2CAF4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481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D8F23"/>
                </a:solidFill>
              </a:defRPr>
            </a:pPr>
            <a:r>
              <a:rPr sz="1350" b="1">
                <a:solidFill>
                  <a:srgbClr val="BD8F23"/>
                </a:solidFill>
              </a:rPr>
              <a:t>Ops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2F086-760C-42C7-A04D-471D5BC6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386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WTA/vault balance, duplicate check,</a:t>
            </a:r>
          </a:p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case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FDE19-7CCA-47EC-8EA7-0F22BA90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43100"/>
            <a:ext cx="423862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A98D21-0EFB-4AE5-97B4-FDFB55D5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43100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36A1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CA97C-8080-4419-B0D1-5AF4D139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479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1512"/>
                </a:solidFill>
              </a:defRPr>
            </a:pPr>
            <a:r>
              <a:rPr sz="1800" b="1">
                <a:solidFill>
                  <a:srgbClr val="171512"/>
                </a:solidFill>
              </a:rPr>
              <a:t>Approval 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BC8A5-230A-41C3-B3B1-80FCC218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3238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RBAC, maker-checker, quorum for high-value or exception cases.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Macau access exclusion, operator device/location policy, and immutable action logs.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5CE29F-E2EA-4E9D-A972-3C4F3886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48200"/>
            <a:ext cx="4238625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F1762E-C406-452D-ACB8-349DCD0F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8958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8A83F"/>
                </a:solidFill>
              </a:defRPr>
            </a:pPr>
            <a:r>
              <a:rPr sz="1575" b="1">
                <a:solidFill>
                  <a:srgbClr val="D8A83F"/>
                </a:solidFill>
              </a:rPr>
              <a:t>Approval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FED82B-A699-49EF-8F74-ACF00A746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006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8E9"/>
                </a:solidFill>
              </a:defRPr>
            </a:pPr>
            <a:r>
              <a:rPr sz="1200" b="0">
                <a:solidFill>
                  <a:srgbClr val="FFF8E9"/>
                </a:solidFill>
              </a:rPr>
              <a:t>approved / rejected / manual_review</a:t>
            </a:r>
          </a:p>
          <a:p xmlns:a="http://schemas.openxmlformats.org/drawingml/2006/main">
            <a:pPr>
              <a:defRPr sz="1200" b="0">
                <a:solidFill>
                  <a:srgbClr val="FFF8E9"/>
                </a:solidFill>
              </a:defRPr>
            </a:pPr>
            <a:r>
              <a:rPr sz="1200" b="0">
                <a:solidFill>
                  <a:srgbClr val="FFF8E9"/>
                </a:solidFill>
              </a:rPr>
              <a:t>with approver IDs and timestamp</a:t>
            </a:r>
          </a:p>
        </p:txBody>
      </p:sp>
    </p:spTree>
    <p:extLst>
      <p:ext uri="{BB962C8B-B14F-4D97-AF65-F5344CB8AC3E}">
        <p14:creationId xmlns:p14="http://schemas.microsoft.com/office/powerpoint/2010/main" val="20464653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6D508C-601C-40B3-AC0D-CDFA82F4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C287BF-0608-4076-946E-CD99E46C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5568C4-04E5-49E7-A26B-267392C9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780463-1DF9-48D1-9156-39648763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C0A66-3E4E-4224-98B3-0A99B7E3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2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9F91"/>
                </a:solidFill>
              </a:defRPr>
            </a:pPr>
            <a:r>
              <a:rPr sz="1200" b="1">
                <a:solidFill>
                  <a:srgbClr val="A99F91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611A7-96BC-49F7-AD75-931CC231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512"/>
                </a:solidFill>
              </a:defRPr>
            </a:pPr>
            <a:r>
              <a:rPr sz="2925" b="1">
                <a:solidFill>
                  <a:srgbClr val="171512"/>
                </a:solidFill>
              </a:rPr>
              <a:t>Hex Safe custody payout execution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17972-5475-4078-9BCE-69DCA785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574D"/>
                </a:solidFill>
              </a:defRPr>
            </a:pPr>
            <a:r>
              <a:rPr sz="1500" b="0">
                <a:solidFill>
                  <a:srgbClr val="5D574D"/>
                </a:solidFill>
              </a:rPr>
              <a:t>The backend adapter submits the transfer; customer H5 never touches custody APIs.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EFCE4A-A12B-4181-85E8-D6ED586C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7B8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7EBC1-AAA9-44AC-B790-8ED6B71E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7B83"/>
                </a:solidFill>
              </a:defRPr>
            </a:pPr>
            <a:r>
              <a:rPr sz="1500" b="1">
                <a:solidFill>
                  <a:srgbClr val="007B83"/>
                </a:solidFill>
              </a:rPr>
              <a:t>Backend adapter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7C815-E786-41FB-A642-50672C4F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194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Creates payout transfer request.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0573D2-60F2-4066-952B-CC5E045D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D574D"/>
                </a:solidFill>
              </a:defRPr>
            </a:pPr>
            <a:r>
              <a:rPr sz="1950" b="1">
                <a:solidFill>
                  <a:srgbClr val="5D574D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E75BBE-3F18-4B06-8676-7EF514CF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9550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AD0A29-F43A-4D5E-8283-1071ABD9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BD8F23"/>
                </a:solidFill>
              </a:defRPr>
            </a:pPr>
            <a:r>
              <a:rPr sz="1500" b="1">
                <a:solidFill>
                  <a:srgbClr val="BD8F23"/>
                </a:solidFill>
              </a:rPr>
              <a:t>Hex Safe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5C4411-5973-4D5D-A713-6CA7D399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194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Applies whitelist, roles, limits, quorum.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597B8-4A35-4C96-9801-1CE6EDE9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098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D574D"/>
                </a:solidFill>
              </a:defRPr>
            </a:pPr>
            <a:r>
              <a:rPr sz="1950" b="1">
                <a:solidFill>
                  <a:srgbClr val="5D574D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5B63A3-0606-47AE-A54C-43D3CC62E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9550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75F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975643-FEBE-4D86-A28A-82662BEB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75F9D"/>
                </a:solidFill>
              </a:defRPr>
            </a:pPr>
            <a:r>
              <a:rPr sz="1500" b="1">
                <a:solidFill>
                  <a:srgbClr val="275F9D"/>
                </a:solidFill>
              </a:rPr>
              <a:t>Signing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2833DD-7984-457F-8A3E-CAFBD22B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8194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Custody-controlled signature.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E4E007-CDA9-4831-8E52-418AF418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098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5D574D"/>
                </a:solidFill>
              </a:defRPr>
            </a:pPr>
            <a:r>
              <a:rPr sz="1950" b="1">
                <a:solidFill>
                  <a:srgbClr val="5D574D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82E3F3-5DDA-4701-B63F-8D1022E1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095500"/>
            <a:ext cx="2286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7C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8B6E1E-00FF-45CA-9EDD-99BD0B5D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812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C4B"/>
                </a:solidFill>
              </a:defRPr>
            </a:pPr>
            <a:r>
              <a:rPr sz="1500" b="1">
                <a:solidFill>
                  <a:srgbClr val="147C4B"/>
                </a:solidFill>
              </a:rPr>
              <a:t>Broadcast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F128B9-0D8F-4CEA-8A17-D2FAB053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194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Returns txHash and chain status.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71C8B-88E3-462A-90EF-559EDD79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9906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BD8F2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5476EB-FE25-4D23-8D65-89F3CC2F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8A83F"/>
                </a:solidFill>
              </a:defRPr>
            </a:pPr>
            <a:r>
              <a:rPr sz="1650" b="1">
                <a:solidFill>
                  <a:srgbClr val="D8A83F"/>
                </a:solidFill>
              </a:rPr>
              <a:t>Evidence captured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1B51F2-5517-4A4C-A5DC-1C90DAF3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95800"/>
            <a:ext cx="628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8E9"/>
                </a:solidFill>
              </a:defRPr>
            </a:pPr>
            <a:r>
              <a:rPr sz="1275" b="0">
                <a:solidFill>
                  <a:srgbClr val="FFF8E9"/>
                </a:solidFill>
              </a:rPr>
              <a:t>transferId · txHash · fee · asset · rail · amount · status · confirmation count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27D9F6-EF03-41CA-8FA4-00699183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600700"/>
            <a:ext cx="933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1512"/>
                </a:solidFill>
              </a:defRPr>
            </a:pPr>
            <a:r>
              <a:rPr sz="1200" b="1">
                <a:solidFill>
                  <a:srgbClr val="171512"/>
                </a:solidFill>
              </a:rPr>
              <a:t>Production rule: frontend displays status only. It never stores keys, signs transactions, or calls provider secrets.</a:t>
            </a:r>
          </a:p>
        </p:txBody>
      </p:sp>
    </p:spTree>
    <p:extLst>
      <p:ext uri="{BB962C8B-B14F-4D97-AF65-F5344CB8AC3E}">
        <p14:creationId xmlns:p14="http://schemas.microsoft.com/office/powerpoint/2010/main" val="107277244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13C186-0E6B-423B-8DC7-CFBCDF8B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9CFBD9-0DB0-4555-B343-EEE20A0A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2DAB52-B959-46DB-967B-3C56AF69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03FAAE-9CE6-4B23-8A51-95C027D5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60A2E-B210-462D-A4E3-94F0A534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2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9F91"/>
                </a:solidFill>
              </a:defRPr>
            </a:pPr>
            <a:r>
              <a:rPr sz="1200" b="1">
                <a:solidFill>
                  <a:srgbClr val="A99F91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D0BF6-2109-4E8D-B06C-2D2FF655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512"/>
                </a:solidFill>
              </a:defRPr>
            </a:pPr>
            <a:r>
              <a:rPr sz="2925" b="1">
                <a:solidFill>
                  <a:srgbClr val="171512"/>
                </a:solidFill>
              </a:rPr>
              <a:t>Webhook, reconciliation and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87E9FC-D2ED-4F1E-9777-1C8655A9E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574D"/>
                </a:solidFill>
              </a:defRPr>
            </a:pPr>
            <a:r>
              <a:rPr sz="1500" b="0">
                <a:solidFill>
                  <a:srgbClr val="5D574D"/>
                </a:solidFill>
              </a:rPr>
              <a:t>A refund is complete only when custody status and books agree.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E2571A-F7DB-4802-ADEC-B3942351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31432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94225-F31D-404C-8B4F-498708B1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571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B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857F0-0F2F-4B8B-ADAD-79B24BD9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47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512"/>
                </a:solidFill>
              </a:defRPr>
            </a:pPr>
            <a:r>
              <a:rPr sz="1650" b="1">
                <a:solidFill>
                  <a:srgbClr val="171512"/>
                </a:solidFill>
              </a:rPr>
              <a:t>Webhook / polling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0F1F3-5CE8-4D8E-A066-F21A51D4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Verify broadcasted, completed, failed, confirmation count, and provider status. Stuck transfers become exception cases.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860BE6-F554-4FF9-9EE5-6935F6CC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43100"/>
            <a:ext cx="31432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9CC16B-AB0E-4B3E-BA03-3B306A42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43100"/>
            <a:ext cx="571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C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041E9-A3BD-4614-B371-9D39C70F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47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512"/>
                </a:solidFill>
              </a:defRPr>
            </a:pPr>
            <a:r>
              <a:rPr sz="1650" b="1">
                <a:solidFill>
                  <a:srgbClr val="171512"/>
                </a:solidFill>
              </a:rPr>
              <a:t>Reconciliation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C8258E-77DB-4D97-AB21-D9FE7BB8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38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Match refund case with custody logs, WTA movement, monthly statement, and internal ledger.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A5529-5E84-4C9E-9FB6-4EBB003C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3143250" cy="253365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5C96F-9809-467F-B5FD-ACFBA37A4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43100"/>
            <a:ext cx="571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8CD12F-C956-4136-ABEF-E60EC69EC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47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512"/>
                </a:solidFill>
              </a:defRPr>
            </a:pPr>
            <a:r>
              <a:rPr sz="1650" b="1">
                <a:solidFill>
                  <a:srgbClr val="171512"/>
                </a:solidFill>
              </a:rPr>
              <a:t>Customer closeout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ADB2D6-903D-4C97-8DC1-F7C149B3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24150"/>
            <a:ext cx="2381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Notify customer only after completion evidence is stored and case status is closed.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09DE3D-2E84-4CC7-9DFC-C978C96B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91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1F1E8"/>
          </a:solidFill>
          <a:ln xmlns:a="http://schemas.openxmlformats.org/drawingml/2006/main" w="9525">
            <a:solidFill>
              <a:srgbClr val="147C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37A90D-51F3-4E78-A269-D43D8EA9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911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47C4B"/>
                </a:solidFill>
              </a:defRPr>
            </a:pPr>
            <a:r>
              <a:rPr sz="1500" b="1">
                <a:solidFill>
                  <a:srgbClr val="147C4B"/>
                </a:solidFill>
              </a:rPr>
              <a:t>Audit pack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7872B5-1339-4F67-93CD-65CFF9F9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006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71512"/>
                </a:solidFill>
              </a:defRPr>
            </a:pPr>
            <a:r>
              <a:rPr sz="1200" b="0">
                <a:solidFill>
                  <a:srgbClr val="171512"/>
                </a:solidFill>
              </a:rPr>
              <a:t>original txHash · refund destination · KYT ref · approval · transferId · payout txHash · statement match</a:t>
            </a:r>
          </a:p>
        </p:txBody>
      </p:sp>
    </p:spTree>
    <p:extLst>
      <p:ext uri="{BB962C8B-B14F-4D97-AF65-F5344CB8AC3E}">
        <p14:creationId xmlns:p14="http://schemas.microsoft.com/office/powerpoint/2010/main" val="8476420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0C90AE-310E-4F48-A480-77ED6F98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2A01A-C7E0-42C5-B1B4-1D97612E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FE2F3-05F4-421F-A93A-D484CD71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89B37-1977-45EC-AFC5-6B8E1557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EAA9B-4CC8-432C-A61F-CBEF4C3A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2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9F91"/>
                </a:solidFill>
              </a:defRPr>
            </a:pPr>
            <a:r>
              <a:rPr sz="1200" b="1">
                <a:solidFill>
                  <a:srgbClr val="A99F91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1BAE8-60D0-4366-BA56-2FFE2C3D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512"/>
                </a:solidFill>
              </a:defRPr>
            </a:pPr>
            <a:r>
              <a:rPr sz="2925" b="1">
                <a:solidFill>
                  <a:srgbClr val="171512"/>
                </a:solidFill>
              </a:rPr>
              <a:t>Prototype now vs production next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EE92C-53A6-4FFF-8E55-A8569056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574D"/>
                </a:solidFill>
              </a:defRPr>
            </a:pPr>
            <a:r>
              <a:rPr sz="1500" b="0">
                <a:solidFill>
                  <a:srgbClr val="5D574D"/>
                </a:solidFill>
              </a:rPr>
              <a:t>What is available now and what must be connected before launch.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44C1BB-1E56-437D-B97C-5B8165C1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11100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16561-2232-4BFE-9B8C-6F2F28FB9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Area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09AFA0-FB42-454F-A848-EF6D415C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Prototype now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87C9D7-5B49-46D3-ACD7-213CCC1D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Production next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1FBF1-1882-43D5-A580-BC5949454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DDF7A6-DEC0-4AB7-8915-20C66E5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512"/>
                </a:solidFill>
              </a:defRPr>
            </a:pPr>
            <a:r>
              <a:rPr sz="1125" b="1">
                <a:solidFill>
                  <a:srgbClr val="171512"/>
                </a:solidFill>
              </a:rPr>
              <a:t>Customer refund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F9BE0-752E-4C75-8B28-B8974165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24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Available at /refund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CB9E2C-3F13-4115-A98B-FEB23EA1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241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Add multi-order selection and notifications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BC8BD-C5BB-4C0C-AA8B-1D5C4F7CC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3E8801-3A9D-4CAA-B575-FC671A7C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670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512"/>
                </a:solidFill>
              </a:defRPr>
            </a:pPr>
            <a:r>
              <a:rPr sz="1125" b="1">
                <a:solidFill>
                  <a:srgbClr val="171512"/>
                </a:solidFill>
              </a:rPr>
              <a:t>Destination validation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0D6982-CEFA-45C9-B396-C79F1CAD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575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ERC-20 / TRC-20 format checks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C6F4E9-8F59-4F9B-B5E9-27CC19CB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575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Add ownership proof for high-risk cases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0B9F56-8D47-433E-AA7A-891B8EFF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CD7E2-0F29-47BA-BDFF-D09349966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512"/>
                </a:solidFill>
              </a:defRPr>
            </a:pPr>
            <a:r>
              <a:rPr sz="1125" b="1">
                <a:solidFill>
                  <a:srgbClr val="171512"/>
                </a:solidFill>
              </a:rPr>
              <a:t>Destination KYT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B1C3E9-8A72-49D4-8749-6A71B48B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909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Deterministic mock adapter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DD277-B2D3-4638-B699-B375BF88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909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Connect KYT provider or Sumsub Crypto 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EE7A047-5080-4A5C-AC9F-8C69A1A8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AABCB6-895E-431F-BD50-C82B5269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33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512"/>
                </a:solidFill>
              </a:defRPr>
            </a:pPr>
            <a:r>
              <a:rPr sz="1125" b="1">
                <a:solidFill>
                  <a:srgbClr val="171512"/>
                </a:solidFill>
              </a:rPr>
              <a:t>Approval queue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329DA5-65C2-4F2F-8766-8ED2D65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243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Available in /casino-ops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43189D-7FC4-48E4-A16C-97992E02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243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Add staff RBAC and maker-checker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53F0A5-36FA-408F-A198-C6D9B30F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B25219-603E-4B09-B886-68FB0AE9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512"/>
                </a:solidFill>
              </a:defRPr>
            </a:pPr>
            <a:r>
              <a:rPr sz="1125" b="1">
                <a:solidFill>
                  <a:srgbClr val="171512"/>
                </a:solidFill>
              </a:rPr>
              <a:t>Custody payout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9E5638-005F-438F-B046-A347275E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57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Mock transferId and txHash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F27940-0E41-42C5-A8EA-A7FB56332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577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Connect Hex Safe transfer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A22A0A-AFF4-4A1E-AC00-AEFE4439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858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7F96739-1642-47B1-ACC0-1D521EA3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006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71512"/>
                </a:solidFill>
              </a:defRPr>
            </a:pPr>
            <a:r>
              <a:rPr sz="1125" b="1">
                <a:solidFill>
                  <a:srgbClr val="171512"/>
                </a:solidFill>
              </a:rPr>
              <a:t>Audit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B6221B-BFEB-470C-83A4-F86D6881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191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Local auditTrail in refund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B181ED-40D5-4834-9C13-AA44BEC7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911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Persist to backend and reconcile with statements</a:t>
            </a:r>
          </a:p>
        </p:txBody>
      </p:sp>
    </p:spTree>
    <p:extLst>
      <p:ext uri="{BB962C8B-B14F-4D97-AF65-F5344CB8AC3E}">
        <p14:creationId xmlns:p14="http://schemas.microsoft.com/office/powerpoint/2010/main" val="10724870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23A666-136E-4AAF-8E77-1074B5A0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B4B81-0C58-4A83-8542-7FEEAAEA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00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F33334-782E-4D5D-86A9-E557CB4C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A43B1-C74A-4DC8-B8DB-A3E8BBA4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8A83F"/>
                </a:solidFill>
              </a:defRPr>
            </a:pPr>
            <a:r>
              <a:rPr sz="1200" b="1">
                <a:solidFill>
                  <a:srgbClr val="D8A83F"/>
                </a:solidFill>
              </a:rPr>
              <a:t>HyperTransfer · Refund Process Security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57021-925F-4F3F-86EA-A5B2B0B9F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15240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9F91"/>
                </a:solidFill>
              </a:defRPr>
            </a:pPr>
            <a:r>
              <a:rPr sz="1200" b="1">
                <a:solidFill>
                  <a:srgbClr val="A99F91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FD956-AA9D-465E-9C16-0D3A4BBB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71512"/>
                </a:solidFill>
              </a:defRPr>
            </a:pPr>
            <a:r>
              <a:rPr sz="2925" b="1">
                <a:solidFill>
                  <a:srgbClr val="171512"/>
                </a:solidFill>
              </a:rPr>
              <a:t>Reference basis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24E7A-E8E6-4136-BAF0-3B77A4B5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D574D"/>
                </a:solidFill>
              </a:defRPr>
            </a:pPr>
            <a:r>
              <a:rPr sz="1500" b="0">
                <a:solidFill>
                  <a:srgbClr val="5D574D"/>
                </a:solidFill>
              </a:rPr>
              <a:t>Grounded in project requirements and comparable crypto payment refund patterns.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F727C3-91FB-410C-B3F1-479CF68F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76250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C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43EF8-A6EC-4CB9-9776-952E40CF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71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82B45F-19B5-48DC-9B4D-87536441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2885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1512"/>
                </a:solidFill>
              </a:defRPr>
            </a:pPr>
            <a:r>
              <a:rPr sz="1650" b="1">
                <a:solidFill>
                  <a:srgbClr val="171512"/>
                </a:solidFill>
              </a:rPr>
              <a:t>Internal HyperTransfer basis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3DAD3-24ED-468E-882B-C215CBFB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3714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Meeting notes require refund address verification, wallet ownership checks, destination-wallet KYT, treasury approval, payout controls, and audit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5D574D"/>
                </a:solidFill>
              </a:defRPr>
            </a:pPr>
            <a:r>
              <a:rPr sz="1125" b="0">
                <a:solidFill>
                  <a:srgbClr val="5D574D"/>
                </a:solidFill>
              </a:rPr>
              <a:t>ProjectInfo/design.md defines payout APIs, custody transfer, approval status, and txHash closeout.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30AA4-02B8-4331-B3A4-1B44CE8E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00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1512"/>
                </a:solidFill>
              </a:defRPr>
            </a:pPr>
            <a:r>
              <a:rPr sz="1950" b="1">
                <a:solidFill>
                  <a:srgbClr val="171512"/>
                </a:solidFill>
              </a:rPr>
              <a:t>Public references checked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59F5F7-8BD9-4E0B-9DAE-71F14208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24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92DC8-DF66-4F1C-A503-3E400B92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BitPay: shopper verification and refund address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46458-05E2-4274-83EF-C337026A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623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070F06-8F69-436A-9A2D-493F7FC3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480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Crypto.com Pay: dashboard refund workflow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3B1DB-298A-4CCE-BDBE-498AD7ED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00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690B7-C48A-4279-8D34-233E2A082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861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Cobo: one-time refund link and webhooks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28927B-317D-4F3C-8E14-FDC938F4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386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A1811-3CAF-40EB-B46F-86B3302F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2430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BVNK: auto-refund caveat for CEX wallets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BFB27-4A51-4602-B44E-8C9CF28E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767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8F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C6833C-E37B-4720-9B57-30E17855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62450"/>
            <a:ext cx="4629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574D"/>
                </a:solidFill>
              </a:defRPr>
            </a:pPr>
            <a:r>
              <a:rPr sz="1200" b="0">
                <a:solidFill>
                  <a:srgbClr val="5D574D"/>
                </a:solidFill>
              </a:rPr>
              <a:t>Coinbase: crypto transfers require careful destination handling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625443-A7FA-464B-B15F-AB6D41F3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9944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00E"/>
          </a:solidFill>
          <a:ln xmlns:a="http://schemas.openxmlformats.org/drawingml/2006/main" w="9525">
            <a:solidFill>
              <a:srgbClr val="147C4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0C8BE9-8D51-4CA3-B6E8-A73C7C71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007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EF0B6"/>
                </a:solidFill>
              </a:defRPr>
            </a:pPr>
            <a:r>
              <a:rPr sz="1200" b="1">
                <a:solidFill>
                  <a:srgbClr val="8EF0B6"/>
                </a:solidFill>
              </a:rPr>
              <a:t>Working conclusion: collect a customer-confirmed destination and process refund as a controlled payout.</a:t>
            </a:r>
          </a:p>
        </p:txBody>
      </p:sp>
    </p:spTree>
    <p:extLst>
      <p:ext uri="{BB962C8B-B14F-4D97-AF65-F5344CB8AC3E}">
        <p14:creationId xmlns:p14="http://schemas.microsoft.com/office/powerpoint/2010/main" val="7900439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2026-06-21T13:57:14.1780000Z</dcterms:created>
  <dcterms:modified xsi:type="dcterms:W3CDTF">2026-06-21T13:57:14.1780000Z</dcterms:modified>
</coreProperties>
</file>
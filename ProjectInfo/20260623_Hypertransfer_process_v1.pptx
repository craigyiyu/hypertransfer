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15240000" cy="85725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34"/>
  </p:normalViewPr>
  <p:slideViewPr>
    <p:cSldViewPr snapToGrid="0">
      <p:cViewPr>
        <p:scale>
          <a:sx n="134" d="100"/>
          <a:sy n="134" d="100"/>
        </p:scale>
        <p:origin x="168" y="-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10">
            <a:extLst>
              <a:ext uri="{FF2B5EF4-FFF2-40B4-BE49-F238E27FC236}">
                <a16:creationId xmlns:a16="http://schemas.microsoft.com/office/drawing/2014/main" id="{99BD86A5-0A19-4869-9963-BF2FD6D554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76200"/>
          </a:xfrm>
          <a:prstGeom prst="rect">
            <a:avLst/>
          </a:prstGeom>
          <a:solidFill>
            <a:srgbClr val="D6A93C"/>
          </a:solidFill>
          <a:ln w="0">
            <a:solidFill>
              <a:srgbClr val="D6A93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1E6E24-1BBE-4D5B-90AC-C4C1A371C8C4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6A93C"/>
                </a:solidFill>
              </a:defRPr>
            </a:pPr>
            <a:r>
              <a:rPr sz="1050" b="1">
                <a:solidFill>
                  <a:srgbClr val="D6A93C"/>
                </a:solidFill>
              </a:rPr>
              <a:t>HYPERTRANSFER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8F49AE-2BDB-4D29-885C-B5070A18A29D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143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32033"/>
                </a:solidFill>
              </a:defRPr>
            </a:pPr>
            <a:r>
              <a:rPr sz="2550" b="1">
                <a:solidFill>
                  <a:srgbClr val="132033"/>
                </a:solidFill>
              </a:rPr>
              <a:t>HyperTransfer end-to-end process diagram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0FC158-A39E-4D96-A5FA-80F0CEDFCE8E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952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27089"/>
                </a:solidFill>
              </a:defRPr>
            </a:pPr>
            <a:r>
              <a:rPr sz="1200" b="0" dirty="0">
                <a:solidFill>
                  <a:srgbClr val="627089"/>
                </a:solidFill>
              </a:rPr>
              <a:t>One-page view from invite approval to deposit settlement and refund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4530D56-105C-45ED-B4C1-EE0DC45C9E2F}"/>
              </a:ext>
            </a:extLst>
          </p:cNvPr>
          <p:cNvSpPr>
            <a:spLocks noGrp="1"/>
          </p:cNvSpPr>
          <p:nvPr/>
        </p:nvSpPr>
        <p:spPr>
          <a:xfrm>
            <a:off x="571500" y="1990725"/>
            <a:ext cx="1571625" cy="819150"/>
          </a:xfrm>
          <a:prstGeom prst="roundRect">
            <a:avLst>
              <a:gd name="adj" fmla="val 13953"/>
            </a:avLst>
          </a:prstGeom>
          <a:solidFill>
            <a:srgbClr val="EAF2FF"/>
          </a:solidFill>
          <a:ln w="9525">
            <a:solidFill>
              <a:srgbClr val="C6D8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5D9EAF-99BF-44C3-9D49-E2EC9D6FC0AF}"/>
              </a:ext>
            </a:extLst>
          </p:cNvPr>
          <p:cNvSpPr>
            <a:spLocks noGrp="1"/>
          </p:cNvSpPr>
          <p:nvPr/>
        </p:nvSpPr>
        <p:spPr>
          <a:xfrm>
            <a:off x="723900" y="2105025"/>
            <a:ext cx="12668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32033"/>
                </a:solidFill>
              </a:defRPr>
            </a:pPr>
            <a:r>
              <a:rPr sz="1125" b="1">
                <a:solidFill>
                  <a:srgbClr val="132033"/>
                </a:solidFill>
              </a:rPr>
              <a:t>Access request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F3E0DB-FDAE-4715-8546-D0808D0FFE93}"/>
              </a:ext>
            </a:extLst>
          </p:cNvPr>
          <p:cNvSpPr>
            <a:spLocks noGrp="1"/>
          </p:cNvSpPr>
          <p:nvPr/>
        </p:nvSpPr>
        <p:spPr>
          <a:xfrm>
            <a:off x="723900" y="2486025"/>
            <a:ext cx="1266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089"/>
                </a:solidFill>
              </a:defRPr>
            </a:pPr>
            <a:r>
              <a:rPr sz="750" b="0" dirty="0">
                <a:solidFill>
                  <a:srgbClr val="627089"/>
                </a:solidFill>
              </a:rPr>
              <a:t>Manager submits Patron details and email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63D69D78-E7C4-4B3E-90F3-C75AFEB5CFA1}"/>
              </a:ext>
            </a:extLst>
          </p:cNvPr>
          <p:cNvSpPr>
            <a:spLocks noGrp="1"/>
          </p:cNvSpPr>
          <p:nvPr/>
        </p:nvSpPr>
        <p:spPr>
          <a:xfrm>
            <a:off x="2428875" y="1914525"/>
            <a:ext cx="1143000" cy="990600"/>
          </a:xfrm>
          <a:prstGeom prst="diamond">
            <a:avLst/>
          </a:prstGeom>
          <a:solidFill>
            <a:srgbClr val="FFF4CF"/>
          </a:solidFill>
          <a:ln w="9525">
            <a:solidFill>
              <a:srgbClr val="D6A93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02B7AE-81B5-4202-9679-04BF4E80525C}"/>
              </a:ext>
            </a:extLst>
          </p:cNvPr>
          <p:cNvSpPr>
            <a:spLocks noGrp="1"/>
          </p:cNvSpPr>
          <p:nvPr/>
        </p:nvSpPr>
        <p:spPr>
          <a:xfrm>
            <a:off x="2638425" y="2100262"/>
            <a:ext cx="723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132033"/>
                </a:solidFill>
              </a:defRPr>
            </a:pPr>
            <a:r>
              <a:rPr sz="900" b="1" dirty="0">
                <a:solidFill>
                  <a:srgbClr val="132033"/>
                </a:solidFill>
              </a:rPr>
              <a:t>Approved?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382F08C-9AC9-4E68-8AE4-702C7D93D57E}"/>
              </a:ext>
            </a:extLst>
          </p:cNvPr>
          <p:cNvSpPr>
            <a:spLocks noGrp="1"/>
          </p:cNvSpPr>
          <p:nvPr/>
        </p:nvSpPr>
        <p:spPr>
          <a:xfrm>
            <a:off x="3905250" y="1990725"/>
            <a:ext cx="1571625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8A719C-CAFF-40D6-B634-C4256A09AE1B}"/>
              </a:ext>
            </a:extLst>
          </p:cNvPr>
          <p:cNvSpPr>
            <a:spLocks noGrp="1"/>
          </p:cNvSpPr>
          <p:nvPr/>
        </p:nvSpPr>
        <p:spPr>
          <a:xfrm>
            <a:off x="4057650" y="2105025"/>
            <a:ext cx="12668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32033"/>
                </a:solidFill>
              </a:defRPr>
            </a:pPr>
            <a:r>
              <a:rPr sz="1125" b="1">
                <a:solidFill>
                  <a:srgbClr val="132033"/>
                </a:solidFill>
              </a:rPr>
              <a:t>QR / link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1416F3-B283-4ADD-AE35-DC2F9B5B7B71}"/>
              </a:ext>
            </a:extLst>
          </p:cNvPr>
          <p:cNvSpPr>
            <a:spLocks noGrp="1"/>
          </p:cNvSpPr>
          <p:nvPr/>
        </p:nvSpPr>
        <p:spPr>
          <a:xfrm>
            <a:off x="4057650" y="2486025"/>
            <a:ext cx="1266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089"/>
                </a:solidFill>
              </a:defRPr>
            </a:pPr>
            <a:r>
              <a:rPr sz="750" b="0" dirty="0">
                <a:solidFill>
                  <a:srgbClr val="627089"/>
                </a:solidFill>
              </a:rPr>
              <a:t>Single-use or time-limited; </a:t>
            </a:r>
            <a:r>
              <a:rPr lang="en-US" sz="750" dirty="0">
                <a:solidFill>
                  <a:srgbClr val="627089"/>
                </a:solidFill>
              </a:rPr>
              <a:t>Send it </a:t>
            </a:r>
            <a:r>
              <a:rPr sz="750" b="0" dirty="0">
                <a:solidFill>
                  <a:srgbClr val="627089"/>
                </a:solidFill>
              </a:rPr>
              <a:t>to </a:t>
            </a:r>
            <a:r>
              <a:rPr lang="en-US" sz="750" b="0" dirty="0">
                <a:solidFill>
                  <a:srgbClr val="627089"/>
                </a:solidFill>
              </a:rPr>
              <a:t>patron </a:t>
            </a:r>
            <a:r>
              <a:rPr sz="750" b="0" dirty="0">
                <a:solidFill>
                  <a:srgbClr val="627089"/>
                </a:solidFill>
              </a:rPr>
              <a:t>email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D5FB5BE-BB5B-4B6B-A25C-30FCC2C46AC2}"/>
              </a:ext>
            </a:extLst>
          </p:cNvPr>
          <p:cNvSpPr>
            <a:spLocks noGrp="1"/>
          </p:cNvSpPr>
          <p:nvPr/>
        </p:nvSpPr>
        <p:spPr>
          <a:xfrm>
            <a:off x="5762625" y="1990725"/>
            <a:ext cx="1571625" cy="819150"/>
          </a:xfrm>
          <a:prstGeom prst="roundRect">
            <a:avLst>
              <a:gd name="adj" fmla="val 13953"/>
            </a:avLst>
          </a:prstGeom>
          <a:solidFill>
            <a:srgbClr val="E7F8F1"/>
          </a:solidFill>
          <a:ln w="9525">
            <a:solidFill>
              <a:srgbClr val="CCEED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97D37D-6097-48E0-88D3-07AC6A09ADF0}"/>
              </a:ext>
            </a:extLst>
          </p:cNvPr>
          <p:cNvSpPr>
            <a:spLocks noGrp="1"/>
          </p:cNvSpPr>
          <p:nvPr/>
        </p:nvSpPr>
        <p:spPr>
          <a:xfrm>
            <a:off x="5915025" y="2105025"/>
            <a:ext cx="12668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32033"/>
                </a:solidFill>
              </a:defRPr>
            </a:pPr>
            <a:r>
              <a:rPr sz="1125" b="1">
                <a:solidFill>
                  <a:srgbClr val="132033"/>
                </a:solidFill>
              </a:rPr>
              <a:t>Email OTP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C68FBB-0C92-4298-9FCE-BB4102715DAC}"/>
              </a:ext>
            </a:extLst>
          </p:cNvPr>
          <p:cNvSpPr>
            <a:spLocks noGrp="1"/>
          </p:cNvSpPr>
          <p:nvPr/>
        </p:nvSpPr>
        <p:spPr>
          <a:xfrm>
            <a:off x="5915025" y="2486025"/>
            <a:ext cx="1266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089"/>
                </a:solidFill>
              </a:defRPr>
            </a:pPr>
            <a:r>
              <a:rPr sz="750" b="0" dirty="0">
                <a:solidFill>
                  <a:srgbClr val="627089"/>
                </a:solidFill>
              </a:rPr>
              <a:t>Patron </a:t>
            </a:r>
            <a:r>
              <a:rPr lang="en-US" sz="750" dirty="0">
                <a:solidFill>
                  <a:srgbClr val="627089"/>
                </a:solidFill>
              </a:rPr>
              <a:t>login using</a:t>
            </a:r>
            <a:r>
              <a:rPr sz="750" b="0" dirty="0">
                <a:solidFill>
                  <a:srgbClr val="627089"/>
                </a:solidFill>
              </a:rPr>
              <a:t> application email and OTP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3A3CEE6-4B42-460C-82F9-B9533B08B965}"/>
              </a:ext>
            </a:extLst>
          </p:cNvPr>
          <p:cNvSpPr>
            <a:spLocks noGrp="1"/>
          </p:cNvSpPr>
          <p:nvPr/>
        </p:nvSpPr>
        <p:spPr>
          <a:xfrm>
            <a:off x="7620000" y="1990725"/>
            <a:ext cx="1571625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CFF492-BA0A-4027-8A05-CD1DB417CD5D}"/>
              </a:ext>
            </a:extLst>
          </p:cNvPr>
          <p:cNvSpPr>
            <a:spLocks noGrp="1"/>
          </p:cNvSpPr>
          <p:nvPr/>
        </p:nvSpPr>
        <p:spPr>
          <a:xfrm>
            <a:off x="7772400" y="2105025"/>
            <a:ext cx="12668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32033"/>
                </a:solidFill>
              </a:defRPr>
            </a:pPr>
            <a:r>
              <a:rPr sz="1125" b="1">
                <a:solidFill>
                  <a:srgbClr val="132033"/>
                </a:solidFill>
              </a:rPr>
              <a:t>Account setup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7761A4-08A9-4ACA-8822-89B4D33BA4C9}"/>
              </a:ext>
            </a:extLst>
          </p:cNvPr>
          <p:cNvSpPr>
            <a:spLocks noGrp="1"/>
          </p:cNvSpPr>
          <p:nvPr/>
        </p:nvSpPr>
        <p:spPr>
          <a:xfrm>
            <a:off x="7772400" y="2486025"/>
            <a:ext cx="1266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089"/>
                </a:solidFill>
              </a:defRPr>
            </a:pPr>
            <a:r>
              <a:rPr sz="750" b="0" dirty="0">
                <a:solidFill>
                  <a:srgbClr val="627089"/>
                </a:solidFill>
              </a:rPr>
              <a:t>Profile, password, optional 2FA</a:t>
            </a:r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E9332149-E874-4A09-8AC3-6A02B922DDA6}"/>
              </a:ext>
            </a:extLst>
          </p:cNvPr>
          <p:cNvSpPr>
            <a:spLocks noGrp="1"/>
          </p:cNvSpPr>
          <p:nvPr/>
        </p:nvSpPr>
        <p:spPr>
          <a:xfrm>
            <a:off x="9477375" y="1914525"/>
            <a:ext cx="1143000" cy="990600"/>
          </a:xfrm>
          <a:prstGeom prst="diamond">
            <a:avLst/>
          </a:prstGeom>
          <a:solidFill>
            <a:srgbClr val="FFF4CF"/>
          </a:solidFill>
          <a:ln w="9525">
            <a:solidFill>
              <a:srgbClr val="D6A93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067789-6713-4B56-A3DF-C3B72A0C64B0}"/>
              </a:ext>
            </a:extLst>
          </p:cNvPr>
          <p:cNvSpPr>
            <a:spLocks noGrp="1"/>
          </p:cNvSpPr>
          <p:nvPr/>
        </p:nvSpPr>
        <p:spPr>
          <a:xfrm>
            <a:off x="9715500" y="2285320"/>
            <a:ext cx="723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132033"/>
                </a:solidFill>
              </a:defRPr>
            </a:pPr>
            <a:r>
              <a:rPr sz="900" b="1" dirty="0">
                <a:solidFill>
                  <a:srgbClr val="132033"/>
                </a:solidFill>
              </a:rPr>
              <a:t>KYC clear?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B2667E0-D112-4D1C-825C-FD5A18754832}"/>
              </a:ext>
            </a:extLst>
          </p:cNvPr>
          <p:cNvSpPr>
            <a:spLocks noGrp="1"/>
          </p:cNvSpPr>
          <p:nvPr/>
        </p:nvSpPr>
        <p:spPr>
          <a:xfrm>
            <a:off x="10953750" y="1990725"/>
            <a:ext cx="1571625" cy="819150"/>
          </a:xfrm>
          <a:prstGeom prst="roundRect">
            <a:avLst>
              <a:gd name="adj" fmla="val 13953"/>
            </a:avLst>
          </a:prstGeom>
          <a:solidFill>
            <a:srgbClr val="E7F8F1"/>
          </a:solidFill>
          <a:ln w="9525">
            <a:solidFill>
              <a:srgbClr val="CCEED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C49FBA8-B230-4950-94C8-E51670B11FB2}"/>
              </a:ext>
            </a:extLst>
          </p:cNvPr>
          <p:cNvSpPr>
            <a:spLocks noGrp="1"/>
          </p:cNvSpPr>
          <p:nvPr/>
        </p:nvSpPr>
        <p:spPr>
          <a:xfrm>
            <a:off x="11106150" y="2105025"/>
            <a:ext cx="12668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32033"/>
                </a:solidFill>
              </a:defRPr>
            </a:pPr>
            <a:r>
              <a:rPr sz="1125" b="1">
                <a:solidFill>
                  <a:srgbClr val="132033"/>
                </a:solidFill>
              </a:rPr>
              <a:t>Deposits enabled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C5DF3A-A7BF-4438-9720-2C152F9EDD0B}"/>
              </a:ext>
            </a:extLst>
          </p:cNvPr>
          <p:cNvSpPr>
            <a:spLocks noGrp="1"/>
          </p:cNvSpPr>
          <p:nvPr/>
        </p:nvSpPr>
        <p:spPr>
          <a:xfrm>
            <a:off x="11106150" y="2486025"/>
            <a:ext cx="1266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089"/>
                </a:solidFill>
              </a:defRPr>
            </a:pPr>
            <a:r>
              <a:rPr sz="750" b="0">
                <a:solidFill>
                  <a:srgbClr val="627089"/>
                </a:solidFill>
              </a:rPr>
              <a:t>Account moves from hold to active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256A53D-5E1E-496E-B79D-5E0615C6C5F5}"/>
              </a:ext>
            </a:extLst>
          </p:cNvPr>
          <p:cNvSpPr>
            <a:spLocks noGrp="1"/>
          </p:cNvSpPr>
          <p:nvPr/>
        </p:nvSpPr>
        <p:spPr>
          <a:xfrm>
            <a:off x="2333625" y="3057525"/>
            <a:ext cx="1381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DB3F50"/>
                </a:solidFill>
              </a:defRPr>
            </a:pPr>
            <a:r>
              <a:rPr sz="825" b="1">
                <a:solidFill>
                  <a:srgbClr val="DB3F50"/>
                </a:solidFill>
              </a:rPr>
              <a:t>No: reject or re-apply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9C76C8A-705F-4670-A3EF-084E02F82B38}"/>
              </a:ext>
            </a:extLst>
          </p:cNvPr>
          <p:cNvSpPr>
            <a:spLocks noGrp="1"/>
          </p:cNvSpPr>
          <p:nvPr/>
        </p:nvSpPr>
        <p:spPr>
          <a:xfrm>
            <a:off x="9334500" y="3057525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DB3F50"/>
                </a:solidFill>
              </a:defRPr>
            </a:pPr>
            <a:r>
              <a:rPr sz="825" b="1" dirty="0">
                <a:solidFill>
                  <a:srgbClr val="DB3F50"/>
                </a:solidFill>
              </a:rPr>
              <a:t>No: account on hold</a:t>
            </a:r>
            <a:endParaRPr lang="en-US" sz="825" b="1" dirty="0">
              <a:solidFill>
                <a:srgbClr val="DB3F50"/>
              </a:solidFill>
            </a:endParaRPr>
          </a:p>
          <a:p>
            <a:pPr algn="ctr">
              <a:defRPr sz="825" b="1">
                <a:solidFill>
                  <a:srgbClr val="DB3F50"/>
                </a:solidFill>
              </a:defRPr>
            </a:pPr>
            <a:r>
              <a:rPr lang="en-CN" sz="825" b="1" dirty="0">
                <a:solidFill>
                  <a:srgbClr val="DB3F50"/>
                </a:solidFill>
              </a:rPr>
              <a:t>KYC Status Valid for 6 months</a:t>
            </a:r>
            <a:endParaRPr sz="825" b="1" dirty="0">
              <a:solidFill>
                <a:srgbClr val="DB3F50"/>
              </a:solidFill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6449C49F-CF6C-48FA-8F11-88CE2C3AD93A}"/>
              </a:ext>
            </a:extLst>
          </p:cNvPr>
          <p:cNvSpPr>
            <a:spLocks noGrp="1"/>
          </p:cNvSpPr>
          <p:nvPr/>
        </p:nvSpPr>
        <p:spPr>
          <a:xfrm>
            <a:off x="732064" y="3935730"/>
            <a:ext cx="1571625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54BD933-3DDC-4FF4-8BEE-98302C31FA70}"/>
              </a:ext>
            </a:extLst>
          </p:cNvPr>
          <p:cNvSpPr>
            <a:spLocks noGrp="1"/>
          </p:cNvSpPr>
          <p:nvPr/>
        </p:nvSpPr>
        <p:spPr>
          <a:xfrm>
            <a:off x="884464" y="4050030"/>
            <a:ext cx="14192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32033"/>
                </a:solidFill>
              </a:defRPr>
            </a:pPr>
            <a:r>
              <a:rPr sz="1125" b="1" dirty="0">
                <a:solidFill>
                  <a:srgbClr val="132033"/>
                </a:solidFill>
              </a:rPr>
              <a:t>Select network</a:t>
            </a:r>
            <a:r>
              <a:rPr lang="en-US" sz="1125" b="1" dirty="0">
                <a:solidFill>
                  <a:srgbClr val="132033"/>
                </a:solidFill>
              </a:rPr>
              <a:t>, input wallet address </a:t>
            </a:r>
            <a:endParaRPr sz="1125" b="1" dirty="0">
              <a:solidFill>
                <a:srgbClr val="132033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42E6608-9426-4D95-BDB3-1F55CEA2F61F}"/>
              </a:ext>
            </a:extLst>
          </p:cNvPr>
          <p:cNvSpPr>
            <a:spLocks noGrp="1"/>
          </p:cNvSpPr>
          <p:nvPr/>
        </p:nvSpPr>
        <p:spPr>
          <a:xfrm>
            <a:off x="884464" y="4431030"/>
            <a:ext cx="1266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089"/>
                </a:solidFill>
              </a:defRPr>
            </a:pPr>
            <a:r>
              <a:rPr lang="en-US" sz="750" b="0" dirty="0">
                <a:solidFill>
                  <a:srgbClr val="627089"/>
                </a:solidFill>
              </a:rPr>
              <a:t>USDT is the only acceptable asset</a:t>
            </a:r>
            <a:endParaRPr sz="750" b="0" dirty="0">
              <a:solidFill>
                <a:srgbClr val="627089"/>
              </a:solidFill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8A5ECD4E-C98C-4C10-A7D4-AE0A74BA06EA}"/>
              </a:ext>
            </a:extLst>
          </p:cNvPr>
          <p:cNvSpPr>
            <a:spLocks noGrp="1"/>
          </p:cNvSpPr>
          <p:nvPr/>
        </p:nvSpPr>
        <p:spPr>
          <a:xfrm>
            <a:off x="3810000" y="3935730"/>
            <a:ext cx="1571625" cy="819150"/>
          </a:xfrm>
          <a:prstGeom prst="roundRect">
            <a:avLst>
              <a:gd name="adj" fmla="val 13953"/>
            </a:avLst>
          </a:prstGeom>
          <a:solidFill>
            <a:srgbClr val="FFF4CF"/>
          </a:solidFill>
          <a:ln w="9525">
            <a:solidFill>
              <a:srgbClr val="EDD89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D504812-227F-4106-B4F9-5E8E6F14B1CA}"/>
              </a:ext>
            </a:extLst>
          </p:cNvPr>
          <p:cNvSpPr>
            <a:spLocks noGrp="1"/>
          </p:cNvSpPr>
          <p:nvPr/>
        </p:nvSpPr>
        <p:spPr>
          <a:xfrm>
            <a:off x="3962400" y="4050030"/>
            <a:ext cx="12668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32033"/>
                </a:solidFill>
              </a:defRPr>
            </a:pPr>
            <a:r>
              <a:rPr sz="1125" b="1">
                <a:solidFill>
                  <a:srgbClr val="132033"/>
                </a:solidFill>
              </a:rPr>
              <a:t>1 USDT verification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03C99F1-404D-44CA-959E-F6A3B2C40856}"/>
              </a:ext>
            </a:extLst>
          </p:cNvPr>
          <p:cNvSpPr>
            <a:spLocks noGrp="1"/>
          </p:cNvSpPr>
          <p:nvPr/>
        </p:nvSpPr>
        <p:spPr>
          <a:xfrm>
            <a:off x="3962400" y="4431030"/>
            <a:ext cx="1266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089"/>
                </a:solidFill>
              </a:defRPr>
            </a:pPr>
            <a:r>
              <a:rPr sz="750" b="0">
                <a:solidFill>
                  <a:srgbClr val="627089"/>
                </a:solidFill>
              </a:rPr>
              <a:t>Proof of wallet control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D9BE8CD7-4877-4713-8FDA-7A47E233D25B}"/>
              </a:ext>
            </a:extLst>
          </p:cNvPr>
          <p:cNvSpPr>
            <a:spLocks noGrp="1"/>
          </p:cNvSpPr>
          <p:nvPr/>
        </p:nvSpPr>
        <p:spPr>
          <a:xfrm>
            <a:off x="5762625" y="3935730"/>
            <a:ext cx="1571625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E44D7EB-A145-4C6E-B022-CF5CC7D4A675}"/>
              </a:ext>
            </a:extLst>
          </p:cNvPr>
          <p:cNvSpPr>
            <a:spLocks noGrp="1"/>
          </p:cNvSpPr>
          <p:nvPr/>
        </p:nvSpPr>
        <p:spPr>
          <a:xfrm>
            <a:off x="5915025" y="4050030"/>
            <a:ext cx="12668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32033"/>
                </a:solidFill>
              </a:defRPr>
            </a:pPr>
            <a:r>
              <a:rPr sz="1125" b="1">
                <a:solidFill>
                  <a:srgbClr val="132033"/>
                </a:solidFill>
              </a:rPr>
              <a:t>Main deposit amount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C284898-40EE-4ADC-8AA6-8F03EB654D02}"/>
              </a:ext>
            </a:extLst>
          </p:cNvPr>
          <p:cNvSpPr>
            <a:spLocks noGrp="1"/>
          </p:cNvSpPr>
          <p:nvPr/>
        </p:nvSpPr>
        <p:spPr>
          <a:xfrm>
            <a:off x="5915025" y="4431030"/>
            <a:ext cx="1266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089"/>
                </a:solidFill>
              </a:defRPr>
            </a:pPr>
            <a:r>
              <a:rPr sz="750" b="0">
                <a:solidFill>
                  <a:srgbClr val="627089"/>
                </a:solidFill>
              </a:rPr>
              <a:t>Patron enters final amount</a:t>
            </a:r>
          </a:p>
        </p:txBody>
      </p:sp>
      <p:sp>
        <p:nvSpPr>
          <p:cNvPr id="50" name="Diamond 49">
            <a:extLst>
              <a:ext uri="{FF2B5EF4-FFF2-40B4-BE49-F238E27FC236}">
                <a16:creationId xmlns:a16="http://schemas.microsoft.com/office/drawing/2014/main" id="{C82C5706-A088-454A-B304-9D46673CE73D}"/>
              </a:ext>
            </a:extLst>
          </p:cNvPr>
          <p:cNvSpPr>
            <a:spLocks noGrp="1"/>
          </p:cNvSpPr>
          <p:nvPr/>
        </p:nvSpPr>
        <p:spPr>
          <a:xfrm>
            <a:off x="7572375" y="3869054"/>
            <a:ext cx="1143000" cy="990600"/>
          </a:xfrm>
          <a:prstGeom prst="diamond">
            <a:avLst/>
          </a:prstGeom>
          <a:solidFill>
            <a:srgbClr val="FFF4CF"/>
          </a:solidFill>
          <a:ln w="9525">
            <a:solidFill>
              <a:srgbClr val="D6A93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989AECA-6F9A-4683-AF87-00481A857EEA}"/>
              </a:ext>
            </a:extLst>
          </p:cNvPr>
          <p:cNvSpPr>
            <a:spLocks noGrp="1"/>
          </p:cNvSpPr>
          <p:nvPr/>
        </p:nvSpPr>
        <p:spPr>
          <a:xfrm>
            <a:off x="7781925" y="4173854"/>
            <a:ext cx="723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132033"/>
                </a:solidFill>
              </a:defRPr>
            </a:pPr>
            <a:r>
              <a:rPr sz="900" b="1">
                <a:solidFill>
                  <a:srgbClr val="132033"/>
                </a:solidFill>
              </a:rPr>
              <a:t>&gt;= USD </a:t>
            </a:r>
            <a:r>
              <a:rPr lang="en-US" sz="900" b="1">
                <a:solidFill>
                  <a:srgbClr val="132033"/>
                </a:solidFill>
              </a:rPr>
              <a:t>1</a:t>
            </a:r>
            <a:r>
              <a:rPr sz="900" b="1">
                <a:solidFill>
                  <a:srgbClr val="132033"/>
                </a:solidFill>
              </a:rPr>
              <a:t>k?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E7E2C5B6-EE84-497C-B0F7-BA1EC815CFC1}"/>
              </a:ext>
            </a:extLst>
          </p:cNvPr>
          <p:cNvSpPr>
            <a:spLocks noGrp="1"/>
          </p:cNvSpPr>
          <p:nvPr/>
        </p:nvSpPr>
        <p:spPr>
          <a:xfrm>
            <a:off x="8953500" y="3935729"/>
            <a:ext cx="2095500" cy="819150"/>
          </a:xfrm>
          <a:prstGeom prst="roundRect">
            <a:avLst>
              <a:gd name="adj" fmla="val 13953"/>
            </a:avLst>
          </a:prstGeom>
          <a:solidFill>
            <a:srgbClr val="E7F8F1"/>
          </a:solidFill>
          <a:ln w="9525">
            <a:solidFill>
              <a:srgbClr val="CCEED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D142F22-8120-4DA7-9AEF-3ED01358314D}"/>
              </a:ext>
            </a:extLst>
          </p:cNvPr>
          <p:cNvSpPr>
            <a:spLocks noGrp="1"/>
          </p:cNvSpPr>
          <p:nvPr/>
        </p:nvSpPr>
        <p:spPr>
          <a:xfrm>
            <a:off x="9105900" y="4050029"/>
            <a:ext cx="1790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32033"/>
                </a:solidFill>
              </a:defRPr>
            </a:pPr>
            <a:r>
              <a:rPr sz="1125" b="1" dirty="0">
                <a:solidFill>
                  <a:srgbClr val="132033"/>
                </a:solidFill>
              </a:rPr>
              <a:t>Receipt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2C6A76D-8726-4A1F-A0D3-DC5F12D744C5}"/>
              </a:ext>
            </a:extLst>
          </p:cNvPr>
          <p:cNvSpPr>
            <a:spLocks noGrp="1"/>
          </p:cNvSpPr>
          <p:nvPr/>
        </p:nvSpPr>
        <p:spPr>
          <a:xfrm>
            <a:off x="9105900" y="4431029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089"/>
                </a:solidFill>
              </a:defRPr>
            </a:pPr>
            <a:r>
              <a:rPr sz="750" b="0" dirty="0">
                <a:solidFill>
                  <a:srgbClr val="627089"/>
                </a:solidFill>
              </a:rPr>
              <a:t>Custodian confirms; </a:t>
            </a:r>
            <a:r>
              <a:rPr lang="en-US" sz="750" dirty="0">
                <a:solidFill>
                  <a:srgbClr val="627089"/>
                </a:solidFill>
              </a:rPr>
              <a:t>Move to vault / Forex order to Fiat account</a:t>
            </a:r>
            <a:endParaRPr sz="750" b="0" dirty="0">
              <a:solidFill>
                <a:srgbClr val="627089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B5F15A0-B919-406A-8DEA-02A722F6C65A}"/>
              </a:ext>
            </a:extLst>
          </p:cNvPr>
          <p:cNvSpPr>
            <a:spLocks noGrp="1"/>
          </p:cNvSpPr>
          <p:nvPr/>
        </p:nvSpPr>
        <p:spPr>
          <a:xfrm>
            <a:off x="7286625" y="4954904"/>
            <a:ext cx="2000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DB3F50"/>
                </a:solidFill>
              </a:defRPr>
            </a:pPr>
            <a:r>
              <a:rPr sz="825" b="1">
                <a:solidFill>
                  <a:srgbClr val="DB3F50"/>
                </a:solidFill>
              </a:rPr>
              <a:t>Yes: collect Travel Rule info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576C9B3B-CC96-4B41-BF71-20A815373780}"/>
              </a:ext>
            </a:extLst>
          </p:cNvPr>
          <p:cNvSpPr>
            <a:spLocks noGrp="1"/>
          </p:cNvSpPr>
          <p:nvPr/>
        </p:nvSpPr>
        <p:spPr>
          <a:xfrm>
            <a:off x="714375" y="5979728"/>
            <a:ext cx="1571625" cy="819150"/>
          </a:xfrm>
          <a:prstGeom prst="roundRect">
            <a:avLst>
              <a:gd name="adj" fmla="val 13953"/>
            </a:avLst>
          </a:prstGeom>
          <a:solidFill>
            <a:srgbClr val="FFF0F1"/>
          </a:solidFill>
          <a:ln w="9525">
            <a:solidFill>
              <a:srgbClr val="F3C8C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84C5A8C-BE1B-45BA-B1CA-594AE995D7B5}"/>
              </a:ext>
            </a:extLst>
          </p:cNvPr>
          <p:cNvSpPr>
            <a:spLocks noGrp="1"/>
          </p:cNvSpPr>
          <p:nvPr/>
        </p:nvSpPr>
        <p:spPr>
          <a:xfrm>
            <a:off x="866775" y="6094028"/>
            <a:ext cx="12668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32033"/>
                </a:solidFill>
              </a:defRPr>
            </a:pPr>
            <a:r>
              <a:rPr sz="1125" b="1">
                <a:solidFill>
                  <a:srgbClr val="132033"/>
                </a:solidFill>
              </a:rPr>
              <a:t>Refund request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CC5463C-AC3C-4625-9354-701AE74C1950}"/>
              </a:ext>
            </a:extLst>
          </p:cNvPr>
          <p:cNvSpPr>
            <a:spLocks noGrp="1"/>
          </p:cNvSpPr>
          <p:nvPr/>
        </p:nvSpPr>
        <p:spPr>
          <a:xfrm>
            <a:off x="866775" y="6475028"/>
            <a:ext cx="1266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089"/>
                </a:solidFill>
              </a:defRPr>
            </a:pPr>
            <a:r>
              <a:rPr sz="750" b="0" dirty="0">
                <a:solidFill>
                  <a:srgbClr val="627089"/>
                </a:solidFill>
              </a:rPr>
              <a:t>Patron </a:t>
            </a:r>
            <a:r>
              <a:rPr lang="en-US" sz="750" b="0" dirty="0">
                <a:solidFill>
                  <a:srgbClr val="627089"/>
                </a:solidFill>
              </a:rPr>
              <a:t>su</a:t>
            </a:r>
            <a:r>
              <a:rPr lang="en-US" sz="750" dirty="0">
                <a:solidFill>
                  <a:srgbClr val="627089"/>
                </a:solidFill>
              </a:rPr>
              <a:t>bmit request in </a:t>
            </a:r>
            <a:r>
              <a:rPr lang="en-US" sz="750" dirty="0" err="1">
                <a:solidFill>
                  <a:srgbClr val="627089"/>
                </a:solidFill>
              </a:rPr>
              <a:t>HyperTrasnfer</a:t>
            </a:r>
            <a:endParaRPr sz="750" b="0" dirty="0">
              <a:solidFill>
                <a:srgbClr val="627089"/>
              </a:solidFill>
            </a:endParaRPr>
          </a:p>
        </p:txBody>
      </p:sp>
      <p:sp>
        <p:nvSpPr>
          <p:cNvPr id="78" name="Diamond 77">
            <a:extLst>
              <a:ext uri="{FF2B5EF4-FFF2-40B4-BE49-F238E27FC236}">
                <a16:creationId xmlns:a16="http://schemas.microsoft.com/office/drawing/2014/main" id="{E26F9904-B5EB-4DEF-A43C-73207D1ECA05}"/>
              </a:ext>
            </a:extLst>
          </p:cNvPr>
          <p:cNvSpPr>
            <a:spLocks noGrp="1"/>
          </p:cNvSpPr>
          <p:nvPr/>
        </p:nvSpPr>
        <p:spPr>
          <a:xfrm>
            <a:off x="6250441" y="5953839"/>
            <a:ext cx="1143000" cy="990600"/>
          </a:xfrm>
          <a:prstGeom prst="diamond">
            <a:avLst/>
          </a:prstGeom>
          <a:solidFill>
            <a:srgbClr val="FFF4CF"/>
          </a:solidFill>
          <a:ln w="9525">
            <a:solidFill>
              <a:srgbClr val="D6A93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C9D3730-72DC-47FD-BD92-19D343F563CC}"/>
              </a:ext>
            </a:extLst>
          </p:cNvPr>
          <p:cNvSpPr>
            <a:spLocks noGrp="1"/>
          </p:cNvSpPr>
          <p:nvPr/>
        </p:nvSpPr>
        <p:spPr>
          <a:xfrm>
            <a:off x="6459991" y="6258639"/>
            <a:ext cx="723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132033"/>
                </a:solidFill>
              </a:defRPr>
            </a:pPr>
            <a:r>
              <a:rPr lang="en-US" sz="900" b="1" dirty="0">
                <a:solidFill>
                  <a:srgbClr val="132033"/>
                </a:solidFill>
              </a:rPr>
              <a:t>Sufficient Fund in Vault</a:t>
            </a:r>
            <a:endParaRPr sz="900" b="1" dirty="0">
              <a:solidFill>
                <a:srgbClr val="132033"/>
              </a:solidFill>
            </a:endParaRPr>
          </a:p>
        </p:txBody>
      </p:sp>
      <p:sp>
        <p:nvSpPr>
          <p:cNvPr id="80" name="Diamond 79">
            <a:extLst>
              <a:ext uri="{FF2B5EF4-FFF2-40B4-BE49-F238E27FC236}">
                <a16:creationId xmlns:a16="http://schemas.microsoft.com/office/drawing/2014/main" id="{DD51E724-21AB-4BFE-AB49-ED3DA72D2768}"/>
              </a:ext>
            </a:extLst>
          </p:cNvPr>
          <p:cNvSpPr>
            <a:spLocks noGrp="1"/>
          </p:cNvSpPr>
          <p:nvPr/>
        </p:nvSpPr>
        <p:spPr>
          <a:xfrm>
            <a:off x="3829730" y="5958431"/>
            <a:ext cx="1143000" cy="990600"/>
          </a:xfrm>
          <a:prstGeom prst="diamond">
            <a:avLst/>
          </a:prstGeom>
          <a:solidFill>
            <a:srgbClr val="FFF4CF"/>
          </a:solidFill>
          <a:ln w="9525">
            <a:solidFill>
              <a:srgbClr val="D6A93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09DE38F-E91D-41B3-876A-CE8DEC3E4F44}"/>
              </a:ext>
            </a:extLst>
          </p:cNvPr>
          <p:cNvSpPr>
            <a:spLocks noGrp="1"/>
          </p:cNvSpPr>
          <p:nvPr/>
        </p:nvSpPr>
        <p:spPr>
          <a:xfrm>
            <a:off x="4039280" y="6263231"/>
            <a:ext cx="723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132033"/>
                </a:solidFill>
              </a:defRPr>
            </a:pPr>
            <a:r>
              <a:rPr sz="900" b="1">
                <a:solidFill>
                  <a:srgbClr val="132033"/>
                </a:solidFill>
              </a:rPr>
              <a:t>Wallet clear?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875C06BA-0C6D-4E98-BBE0-920127738C2F}"/>
              </a:ext>
            </a:extLst>
          </p:cNvPr>
          <p:cNvSpPr>
            <a:spLocks noGrp="1"/>
          </p:cNvSpPr>
          <p:nvPr/>
        </p:nvSpPr>
        <p:spPr>
          <a:xfrm>
            <a:off x="7534275" y="6000750"/>
            <a:ext cx="1571625" cy="819150"/>
          </a:xfrm>
          <a:prstGeom prst="roundRect">
            <a:avLst>
              <a:gd name="adj" fmla="val 13953"/>
            </a:avLst>
          </a:prstGeom>
          <a:solidFill>
            <a:srgbClr val="E7F8F1"/>
          </a:solidFill>
          <a:ln w="9525">
            <a:solidFill>
              <a:srgbClr val="CCEED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B671F72-6B36-4821-9BA4-E6D59E6AA0F1}"/>
              </a:ext>
            </a:extLst>
          </p:cNvPr>
          <p:cNvSpPr>
            <a:spLocks noGrp="1"/>
          </p:cNvSpPr>
          <p:nvPr/>
        </p:nvSpPr>
        <p:spPr>
          <a:xfrm>
            <a:off x="7686675" y="6115050"/>
            <a:ext cx="12668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32033"/>
                </a:solidFill>
              </a:defRPr>
            </a:pPr>
            <a:r>
              <a:rPr sz="1125" b="1">
                <a:solidFill>
                  <a:srgbClr val="132033"/>
                </a:solidFill>
              </a:rPr>
              <a:t>Return funds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8560B31-9363-4365-9433-7F208E573C5D}"/>
              </a:ext>
            </a:extLst>
          </p:cNvPr>
          <p:cNvSpPr>
            <a:spLocks noGrp="1"/>
          </p:cNvSpPr>
          <p:nvPr/>
        </p:nvSpPr>
        <p:spPr>
          <a:xfrm>
            <a:off x="7686675" y="6496050"/>
            <a:ext cx="156005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089"/>
                </a:solidFill>
              </a:defRPr>
            </a:pPr>
            <a:r>
              <a:rPr sz="750" b="0" dirty="0">
                <a:solidFill>
                  <a:srgbClr val="627089"/>
                </a:solidFill>
              </a:rPr>
              <a:t>Custodian sends to original wallet</a:t>
            </a:r>
            <a:r>
              <a:rPr lang="en-US" sz="750" dirty="0">
                <a:solidFill>
                  <a:srgbClr val="627089"/>
                </a:solidFill>
              </a:rPr>
              <a:t>. Transfer ID saved against Request ID</a:t>
            </a:r>
            <a:endParaRPr sz="750" b="0" dirty="0">
              <a:solidFill>
                <a:srgbClr val="627089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C72C453-72AE-4427-AB11-28AC6E396711}"/>
              </a:ext>
            </a:extLst>
          </p:cNvPr>
          <p:cNvSpPr>
            <a:spLocks noGrp="1"/>
          </p:cNvSpPr>
          <p:nvPr/>
        </p:nvSpPr>
        <p:spPr>
          <a:xfrm>
            <a:off x="6155191" y="7077789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DB3F50"/>
                </a:solidFill>
              </a:defRPr>
            </a:pPr>
            <a:r>
              <a:rPr sz="825" b="1" dirty="0">
                <a:solidFill>
                  <a:srgbClr val="DB3F50"/>
                </a:solidFill>
              </a:rPr>
              <a:t>No: </a:t>
            </a:r>
            <a:r>
              <a:rPr lang="en-US" sz="825" b="1" dirty="0">
                <a:solidFill>
                  <a:srgbClr val="DB3F50"/>
                </a:solidFill>
              </a:rPr>
              <a:t>notify</a:t>
            </a:r>
            <a:r>
              <a:rPr sz="825" b="1" dirty="0">
                <a:solidFill>
                  <a:srgbClr val="DB3F50"/>
                </a:solidFill>
              </a:rPr>
              <a:t> </a:t>
            </a:r>
            <a:r>
              <a:rPr lang="en-US" sz="825" b="1" dirty="0">
                <a:solidFill>
                  <a:srgbClr val="DB3F50"/>
                </a:solidFill>
              </a:rPr>
              <a:t>ops to deposit </a:t>
            </a:r>
            <a:r>
              <a:rPr sz="825" b="1" dirty="0">
                <a:solidFill>
                  <a:srgbClr val="DB3F50"/>
                </a:solidFill>
              </a:rPr>
              <a:t>/ hold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FE03C17-53AE-47BE-9CBE-919030BF1979}"/>
              </a:ext>
            </a:extLst>
          </p:cNvPr>
          <p:cNvSpPr>
            <a:spLocks noGrp="1"/>
          </p:cNvSpPr>
          <p:nvPr/>
        </p:nvSpPr>
        <p:spPr>
          <a:xfrm>
            <a:off x="3571875" y="7108507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DB3F50"/>
                </a:solidFill>
              </a:defRPr>
            </a:pPr>
            <a:r>
              <a:rPr sz="825" b="1">
                <a:solidFill>
                  <a:srgbClr val="DB3F50"/>
                </a:solidFill>
              </a:rPr>
              <a:t>No: compliance hold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007B2E8F-60B2-452B-A785-1CD75986BC01}"/>
              </a:ext>
            </a:extLst>
          </p:cNvPr>
          <p:cNvSpPr>
            <a:spLocks noGrp="1"/>
          </p:cNvSpPr>
          <p:nvPr/>
        </p:nvSpPr>
        <p:spPr>
          <a:xfrm>
            <a:off x="714375" y="1613468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2F6FED"/>
                </a:solidFill>
              </a:defRPr>
            </a:pPr>
            <a:r>
              <a:rPr sz="1050" b="1" u="sng" dirty="0">
                <a:solidFill>
                  <a:srgbClr val="2F6FED"/>
                </a:solidFill>
              </a:rPr>
              <a:t>ACCESS + ACCOUNT</a:t>
            </a:r>
          </a:p>
        </p:txBody>
      </p:sp>
      <p:sp>
        <p:nvSpPr>
          <p:cNvPr id="105" name="Straight Connector 104">
            <a:extLst>
              <a:ext uri="{FF2B5EF4-FFF2-40B4-BE49-F238E27FC236}">
                <a16:creationId xmlns:a16="http://schemas.microsoft.com/office/drawing/2014/main" id="{EC5195EA-E5D1-4F19-AB13-10070A9B04DF}"/>
              </a:ext>
            </a:extLst>
          </p:cNvPr>
          <p:cNvSpPr>
            <a:spLocks noGrp="1"/>
          </p:cNvSpPr>
          <p:nvPr/>
        </p:nvSpPr>
        <p:spPr>
          <a:xfrm>
            <a:off x="2000250" y="1752600"/>
            <a:ext cx="10810875" cy="0"/>
          </a:xfrm>
          <a:prstGeom prst="line">
            <a:avLst/>
          </a:prstGeom>
          <a:noFill/>
          <a:ln w="9525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57F92BCC-B369-4CFD-AC58-A0EE632E25C0}"/>
              </a:ext>
            </a:extLst>
          </p:cNvPr>
          <p:cNvSpPr>
            <a:spLocks noGrp="1"/>
          </p:cNvSpPr>
          <p:nvPr/>
        </p:nvSpPr>
        <p:spPr>
          <a:xfrm>
            <a:off x="589189" y="3578543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D6A93C"/>
                </a:solidFill>
              </a:defRPr>
            </a:pPr>
            <a:r>
              <a:rPr sz="1050" b="1" u="sng" dirty="0">
                <a:solidFill>
                  <a:srgbClr val="D6A93C"/>
                </a:solidFill>
              </a:rPr>
              <a:t>DEPOSIT + SETTLEMENT</a:t>
            </a:r>
          </a:p>
        </p:txBody>
      </p:sp>
      <p:sp>
        <p:nvSpPr>
          <p:cNvPr id="107" name="Straight Connector 106">
            <a:extLst>
              <a:ext uri="{FF2B5EF4-FFF2-40B4-BE49-F238E27FC236}">
                <a16:creationId xmlns:a16="http://schemas.microsoft.com/office/drawing/2014/main" id="{21E610D7-BC4E-4867-B9E7-3EC26A5D1998}"/>
              </a:ext>
            </a:extLst>
          </p:cNvPr>
          <p:cNvSpPr>
            <a:spLocks noGrp="1"/>
          </p:cNvSpPr>
          <p:nvPr/>
        </p:nvSpPr>
        <p:spPr>
          <a:xfrm>
            <a:off x="2143125" y="3697605"/>
            <a:ext cx="10810875" cy="0"/>
          </a:xfrm>
          <a:prstGeom prst="line">
            <a:avLst/>
          </a:prstGeom>
          <a:noFill/>
          <a:ln w="9525">
            <a:solidFill>
              <a:srgbClr val="D6A93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89BB908B-F2D3-4AE4-B487-F668C96B0BE2}"/>
              </a:ext>
            </a:extLst>
          </p:cNvPr>
          <p:cNvSpPr>
            <a:spLocks noGrp="1"/>
          </p:cNvSpPr>
          <p:nvPr/>
        </p:nvSpPr>
        <p:spPr>
          <a:xfrm>
            <a:off x="714375" y="5646353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DB3F50"/>
                </a:solidFill>
              </a:defRPr>
            </a:pPr>
            <a:r>
              <a:rPr sz="1050" b="1" u="sng" dirty="0">
                <a:solidFill>
                  <a:srgbClr val="DB3F50"/>
                </a:solidFill>
              </a:rPr>
              <a:t>RETURN</a:t>
            </a:r>
          </a:p>
        </p:txBody>
      </p:sp>
      <p:sp>
        <p:nvSpPr>
          <p:cNvPr id="109" name="Straight Connector 108">
            <a:extLst>
              <a:ext uri="{FF2B5EF4-FFF2-40B4-BE49-F238E27FC236}">
                <a16:creationId xmlns:a16="http://schemas.microsoft.com/office/drawing/2014/main" id="{2D59B771-0AC9-4BFD-8595-B6E17C1CCCE8}"/>
              </a:ext>
            </a:extLst>
          </p:cNvPr>
          <p:cNvSpPr>
            <a:spLocks noGrp="1"/>
          </p:cNvSpPr>
          <p:nvPr/>
        </p:nvSpPr>
        <p:spPr>
          <a:xfrm>
            <a:off x="2072641" y="5741602"/>
            <a:ext cx="10881360" cy="1"/>
          </a:xfrm>
          <a:prstGeom prst="line">
            <a:avLst/>
          </a:prstGeom>
          <a:noFill/>
          <a:ln w="9525">
            <a:solidFill>
              <a:srgbClr val="DB3F50"/>
            </a:solidFill>
            <a:prstDash val="solid"/>
          </a:ln>
        </p:spPr>
        <p:txBody>
          <a:bodyPr/>
          <a:lstStyle/>
          <a:p>
            <a:endParaRPr lang="en-CN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ACF5ACF-01F3-6F14-615B-5584B9231A82}"/>
              </a:ext>
            </a:extLst>
          </p:cNvPr>
          <p:cNvSpPr>
            <a:spLocks noGrp="1"/>
          </p:cNvSpPr>
          <p:nvPr/>
        </p:nvSpPr>
        <p:spPr>
          <a:xfrm>
            <a:off x="2498271" y="2519362"/>
            <a:ext cx="1266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089"/>
                </a:solidFill>
              </a:defRPr>
            </a:pPr>
            <a:r>
              <a:rPr lang="en-US" sz="750" b="0" dirty="0">
                <a:solidFill>
                  <a:srgbClr val="627089"/>
                </a:solidFill>
              </a:rPr>
              <a:t>Internal &amp; </a:t>
            </a:r>
            <a:r>
              <a:rPr lang="en-US" sz="750" b="0" dirty="0" err="1">
                <a:solidFill>
                  <a:srgbClr val="627089"/>
                </a:solidFill>
              </a:rPr>
              <a:t>In’t</a:t>
            </a:r>
            <a:r>
              <a:rPr lang="en-US" sz="750" b="0" dirty="0">
                <a:solidFill>
                  <a:srgbClr val="627089"/>
                </a:solidFill>
              </a:rPr>
              <a:t> Marketing review request</a:t>
            </a:r>
            <a:endParaRPr sz="750" b="0" dirty="0">
              <a:solidFill>
                <a:srgbClr val="627089"/>
              </a:solidFill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0AF85E94-D928-13C3-400C-E4A72257498D}"/>
              </a:ext>
            </a:extLst>
          </p:cNvPr>
          <p:cNvSpPr>
            <a:spLocks noGrp="1"/>
          </p:cNvSpPr>
          <p:nvPr/>
        </p:nvSpPr>
        <p:spPr>
          <a:xfrm>
            <a:off x="9559018" y="2564946"/>
            <a:ext cx="1266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089"/>
                </a:solidFill>
              </a:defRPr>
            </a:pPr>
            <a:r>
              <a:rPr lang="en-US" sz="750" b="0" dirty="0" err="1">
                <a:solidFill>
                  <a:srgbClr val="627089"/>
                </a:solidFill>
              </a:rPr>
              <a:t>Sumsub</a:t>
            </a:r>
            <a:r>
              <a:rPr lang="en-US" sz="750" b="0" dirty="0">
                <a:solidFill>
                  <a:srgbClr val="627089"/>
                </a:solidFill>
              </a:rPr>
              <a:t> KYC screening</a:t>
            </a:r>
            <a:endParaRPr sz="750" b="0" dirty="0">
              <a:solidFill>
                <a:srgbClr val="627089"/>
              </a:solidFill>
            </a:endParaRPr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7F6B046B-75EC-1174-B8A8-E6B1B9978FA3}"/>
              </a:ext>
            </a:extLst>
          </p:cNvPr>
          <p:cNvSpPr>
            <a:spLocks noGrp="1"/>
          </p:cNvSpPr>
          <p:nvPr/>
        </p:nvSpPr>
        <p:spPr>
          <a:xfrm>
            <a:off x="2457450" y="3869054"/>
            <a:ext cx="1143000" cy="990600"/>
          </a:xfrm>
          <a:prstGeom prst="diamond">
            <a:avLst/>
          </a:prstGeom>
          <a:solidFill>
            <a:srgbClr val="FFF4CF"/>
          </a:solidFill>
          <a:ln w="9525">
            <a:solidFill>
              <a:srgbClr val="D6A93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9D451D2D-2A8B-D014-AD78-95EAB878FC61}"/>
              </a:ext>
            </a:extLst>
          </p:cNvPr>
          <p:cNvSpPr>
            <a:spLocks noGrp="1"/>
          </p:cNvSpPr>
          <p:nvPr/>
        </p:nvSpPr>
        <p:spPr>
          <a:xfrm>
            <a:off x="2667000" y="4054791"/>
            <a:ext cx="723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132033"/>
                </a:solidFill>
              </a:defRPr>
            </a:pPr>
            <a:r>
              <a:rPr lang="en-US" sz="900" b="1" dirty="0">
                <a:solidFill>
                  <a:srgbClr val="132033"/>
                </a:solidFill>
              </a:rPr>
              <a:t>Wallet Screening</a:t>
            </a:r>
            <a:endParaRPr sz="900" b="1" dirty="0">
              <a:solidFill>
                <a:srgbClr val="132033"/>
              </a:solidFill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3F52073E-159B-53AA-C2E2-FD673A656C50}"/>
              </a:ext>
            </a:extLst>
          </p:cNvPr>
          <p:cNvSpPr>
            <a:spLocks noGrp="1"/>
          </p:cNvSpPr>
          <p:nvPr/>
        </p:nvSpPr>
        <p:spPr>
          <a:xfrm>
            <a:off x="2608489" y="4546350"/>
            <a:ext cx="1266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089"/>
                </a:solidFill>
              </a:defRPr>
            </a:pPr>
            <a:r>
              <a:rPr lang="en-US" sz="750" b="0" dirty="0">
                <a:solidFill>
                  <a:srgbClr val="627089"/>
                </a:solidFill>
              </a:rPr>
              <a:t>Provided by </a:t>
            </a:r>
            <a:r>
              <a:rPr lang="en-US" sz="750" b="0" dirty="0" err="1">
                <a:solidFill>
                  <a:srgbClr val="627089"/>
                </a:solidFill>
              </a:rPr>
              <a:t>HexTrust</a:t>
            </a:r>
            <a:endParaRPr sz="750" b="0" dirty="0">
              <a:solidFill>
                <a:srgbClr val="627089"/>
              </a:solidFill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55785CD-72E7-08A3-2265-26AE95D58F23}"/>
              </a:ext>
            </a:extLst>
          </p:cNvPr>
          <p:cNvSpPr>
            <a:spLocks noGrp="1"/>
          </p:cNvSpPr>
          <p:nvPr/>
        </p:nvSpPr>
        <p:spPr>
          <a:xfrm>
            <a:off x="2333625" y="5024981"/>
            <a:ext cx="1381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DB3F50"/>
                </a:solidFill>
              </a:defRPr>
            </a:pPr>
            <a:r>
              <a:rPr sz="825" b="1">
                <a:solidFill>
                  <a:srgbClr val="DB3F50"/>
                </a:solidFill>
              </a:rPr>
              <a:t>No: reject or re-apply</a:t>
            </a:r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15B10394-0338-625B-E63D-116A25C9C36A}"/>
              </a:ext>
            </a:extLst>
          </p:cNvPr>
          <p:cNvSpPr>
            <a:spLocks noGrp="1"/>
          </p:cNvSpPr>
          <p:nvPr/>
        </p:nvSpPr>
        <p:spPr>
          <a:xfrm>
            <a:off x="11453812" y="3935729"/>
            <a:ext cx="1571625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049725E3-ED88-3D2C-EE8A-4C54B8BACCA6}"/>
              </a:ext>
            </a:extLst>
          </p:cNvPr>
          <p:cNvSpPr>
            <a:spLocks noGrp="1"/>
          </p:cNvSpPr>
          <p:nvPr/>
        </p:nvSpPr>
        <p:spPr>
          <a:xfrm>
            <a:off x="11606212" y="4050029"/>
            <a:ext cx="12668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32033"/>
                </a:solidFill>
              </a:defRPr>
            </a:pPr>
            <a:r>
              <a:rPr lang="en-US" sz="1125" b="1" dirty="0">
                <a:solidFill>
                  <a:srgbClr val="132033"/>
                </a:solidFill>
              </a:rPr>
              <a:t>Settlement</a:t>
            </a:r>
            <a:endParaRPr sz="1125" b="1" dirty="0">
              <a:solidFill>
                <a:srgbClr val="132033"/>
              </a:solidFill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A411822-B740-E111-0FF4-16C0243E11C3}"/>
              </a:ext>
            </a:extLst>
          </p:cNvPr>
          <p:cNvSpPr>
            <a:spLocks noGrp="1"/>
          </p:cNvSpPr>
          <p:nvPr/>
        </p:nvSpPr>
        <p:spPr>
          <a:xfrm>
            <a:off x="11504607" y="4431029"/>
            <a:ext cx="171185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089"/>
                </a:solidFill>
              </a:defRPr>
            </a:pPr>
            <a:r>
              <a:rPr lang="en-US" sz="750" b="0" dirty="0">
                <a:solidFill>
                  <a:srgbClr val="627089"/>
                </a:solidFill>
              </a:rPr>
              <a:t>Int’l Marketing Issue Marker, input reference into </a:t>
            </a:r>
            <a:r>
              <a:rPr lang="en-US" sz="750" b="0" dirty="0" err="1">
                <a:solidFill>
                  <a:srgbClr val="627089"/>
                </a:solidFill>
              </a:rPr>
              <a:t>HyperTransfer</a:t>
            </a:r>
            <a:endParaRPr sz="750" b="0" dirty="0">
              <a:solidFill>
                <a:srgbClr val="627089"/>
              </a:solidFill>
            </a:endParaRPr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5F91DB65-36F8-AC8D-A385-0B79379F1846}"/>
              </a:ext>
            </a:extLst>
          </p:cNvPr>
          <p:cNvSpPr>
            <a:spLocks noGrp="1"/>
          </p:cNvSpPr>
          <p:nvPr/>
        </p:nvSpPr>
        <p:spPr>
          <a:xfrm>
            <a:off x="2457450" y="5952580"/>
            <a:ext cx="1143000" cy="990600"/>
          </a:xfrm>
          <a:prstGeom prst="diamond">
            <a:avLst/>
          </a:prstGeom>
          <a:solidFill>
            <a:srgbClr val="FFF4CF"/>
          </a:solidFill>
          <a:ln w="9525">
            <a:solidFill>
              <a:srgbClr val="D6A93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114FBBD4-DF09-C07A-32AF-EA223966B205}"/>
              </a:ext>
            </a:extLst>
          </p:cNvPr>
          <p:cNvSpPr>
            <a:spLocks noGrp="1"/>
          </p:cNvSpPr>
          <p:nvPr/>
        </p:nvSpPr>
        <p:spPr>
          <a:xfrm>
            <a:off x="2608489" y="6629876"/>
            <a:ext cx="1266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089"/>
                </a:solidFill>
              </a:defRPr>
            </a:pPr>
            <a:r>
              <a:rPr lang="en-US" sz="750" b="0" dirty="0">
                <a:solidFill>
                  <a:srgbClr val="627089"/>
                </a:solidFill>
              </a:rPr>
              <a:t>By Management</a:t>
            </a:r>
            <a:endParaRPr sz="750" b="0" dirty="0">
              <a:solidFill>
                <a:srgbClr val="627089"/>
              </a:solidFill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4CD5DB62-CE7E-F7CB-90AA-310FB42A9C9B}"/>
              </a:ext>
            </a:extLst>
          </p:cNvPr>
          <p:cNvSpPr>
            <a:spLocks noGrp="1"/>
          </p:cNvSpPr>
          <p:nvPr/>
        </p:nvSpPr>
        <p:spPr>
          <a:xfrm>
            <a:off x="2333625" y="7108507"/>
            <a:ext cx="1381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DB3F50"/>
                </a:solidFill>
              </a:defRPr>
            </a:pPr>
            <a:r>
              <a:rPr sz="825" b="1">
                <a:solidFill>
                  <a:srgbClr val="DB3F50"/>
                </a:solidFill>
              </a:rPr>
              <a:t>No: reject or re-apply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A94659D0-C471-57FC-3E80-84C45289E545}"/>
              </a:ext>
            </a:extLst>
          </p:cNvPr>
          <p:cNvSpPr>
            <a:spLocks noGrp="1"/>
          </p:cNvSpPr>
          <p:nvPr/>
        </p:nvSpPr>
        <p:spPr>
          <a:xfrm>
            <a:off x="2662237" y="6136207"/>
            <a:ext cx="723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132033"/>
                </a:solidFill>
              </a:defRPr>
            </a:pPr>
            <a:r>
              <a:rPr sz="900" b="1" dirty="0">
                <a:solidFill>
                  <a:srgbClr val="132033"/>
                </a:solidFill>
              </a:rPr>
              <a:t>Approved?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7579BA07-B3EE-5D1A-1CE1-CA4763179971}"/>
              </a:ext>
            </a:extLst>
          </p:cNvPr>
          <p:cNvSpPr/>
          <p:nvPr/>
        </p:nvSpPr>
        <p:spPr>
          <a:xfrm>
            <a:off x="9189243" y="6017386"/>
            <a:ext cx="3833813" cy="1128778"/>
          </a:xfrm>
          <a:prstGeom prst="rect">
            <a:avLst/>
          </a:prstGeom>
          <a:noFill/>
          <a:ln w="1270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922B0CD-2A28-1237-7719-44F0F0C561EA}"/>
              </a:ext>
            </a:extLst>
          </p:cNvPr>
          <p:cNvSpPr txBox="1"/>
          <p:nvPr/>
        </p:nvSpPr>
        <p:spPr>
          <a:xfrm>
            <a:off x="9194718" y="6048648"/>
            <a:ext cx="12426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050" b="1" dirty="0"/>
              <a:t>Recommendation: 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1B9C127-FAA8-63A2-8C5F-2A541CB1A1C6}"/>
              </a:ext>
            </a:extLst>
          </p:cNvPr>
          <p:cNvSpPr txBox="1"/>
          <p:nvPr/>
        </p:nvSpPr>
        <p:spPr>
          <a:xfrm>
            <a:off x="9246890" y="6487212"/>
            <a:ext cx="3718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</a:t>
            </a:r>
            <a:r>
              <a:rPr lang="en-CN" sz="1200" dirty="0"/>
              <a:t>und can only be sent back to the original wallet address</a:t>
            </a:r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A1F03437-1E33-A163-AED9-4E4159DD704B}"/>
              </a:ext>
            </a:extLst>
          </p:cNvPr>
          <p:cNvSpPr>
            <a:spLocks noGrp="1"/>
          </p:cNvSpPr>
          <p:nvPr/>
        </p:nvSpPr>
        <p:spPr>
          <a:xfrm>
            <a:off x="5054033" y="5952580"/>
            <a:ext cx="1143000" cy="990600"/>
          </a:xfrm>
          <a:prstGeom prst="diamond">
            <a:avLst/>
          </a:prstGeom>
          <a:solidFill>
            <a:srgbClr val="FFF4CF"/>
          </a:solidFill>
          <a:ln w="9525">
            <a:solidFill>
              <a:srgbClr val="D6A93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EB5508E5-6ACD-4D70-A703-0525A976D218}"/>
              </a:ext>
            </a:extLst>
          </p:cNvPr>
          <p:cNvSpPr>
            <a:spLocks noGrp="1"/>
          </p:cNvSpPr>
          <p:nvPr/>
        </p:nvSpPr>
        <p:spPr>
          <a:xfrm>
            <a:off x="5292158" y="6323375"/>
            <a:ext cx="723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132033"/>
                </a:solidFill>
              </a:defRPr>
            </a:pPr>
            <a:r>
              <a:rPr sz="900" b="1" dirty="0">
                <a:solidFill>
                  <a:srgbClr val="132033"/>
                </a:solidFill>
              </a:rPr>
              <a:t>KYC clear?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ACCFBC1-B32B-E200-C512-5B4C8B0D71DA}"/>
              </a:ext>
            </a:extLst>
          </p:cNvPr>
          <p:cNvSpPr>
            <a:spLocks noGrp="1"/>
          </p:cNvSpPr>
          <p:nvPr/>
        </p:nvSpPr>
        <p:spPr>
          <a:xfrm>
            <a:off x="4911158" y="709558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DB3F50"/>
                </a:solidFill>
              </a:defRPr>
            </a:pPr>
            <a:r>
              <a:rPr sz="825" b="1" dirty="0">
                <a:solidFill>
                  <a:srgbClr val="DB3F50"/>
                </a:solidFill>
              </a:rPr>
              <a:t>No: account on hold</a:t>
            </a:r>
            <a:endParaRPr lang="en-US" sz="825" b="1" dirty="0">
              <a:solidFill>
                <a:srgbClr val="DB3F50"/>
              </a:solidFill>
            </a:endParaRPr>
          </a:p>
          <a:p>
            <a:pPr algn="ctr">
              <a:defRPr sz="825" b="1">
                <a:solidFill>
                  <a:srgbClr val="DB3F50"/>
                </a:solidFill>
              </a:defRPr>
            </a:pPr>
            <a:r>
              <a:rPr lang="en-CN" sz="825" b="1" dirty="0">
                <a:solidFill>
                  <a:srgbClr val="DB3F50"/>
                </a:solidFill>
              </a:rPr>
              <a:t>KYC Status Valid for 6 months</a:t>
            </a:r>
            <a:endParaRPr sz="825" b="1" dirty="0">
              <a:solidFill>
                <a:srgbClr val="DB3F50"/>
              </a:solidFill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A56070EB-08DC-7C6B-11FF-095CC76B04CB}"/>
              </a:ext>
            </a:extLst>
          </p:cNvPr>
          <p:cNvSpPr>
            <a:spLocks noGrp="1"/>
          </p:cNvSpPr>
          <p:nvPr/>
        </p:nvSpPr>
        <p:spPr>
          <a:xfrm>
            <a:off x="5135676" y="6603001"/>
            <a:ext cx="1266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089"/>
                </a:solidFill>
              </a:defRPr>
            </a:pPr>
            <a:r>
              <a:rPr lang="en-US" sz="750" b="0" dirty="0" err="1">
                <a:solidFill>
                  <a:srgbClr val="627089"/>
                </a:solidFill>
              </a:rPr>
              <a:t>Sumsub</a:t>
            </a:r>
            <a:r>
              <a:rPr lang="en-US" sz="750" b="0" dirty="0">
                <a:solidFill>
                  <a:srgbClr val="627089"/>
                </a:solidFill>
              </a:rPr>
              <a:t> KYC screening</a:t>
            </a:r>
            <a:endParaRPr sz="750" b="0" dirty="0">
              <a:solidFill>
                <a:srgbClr val="6270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7618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3568A0ED-08F6-4C0D-A7C5-DEBC6CA005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76200"/>
          </a:xfrm>
          <a:prstGeom prst="rect">
            <a:avLst/>
          </a:prstGeom>
          <a:solidFill>
            <a:srgbClr val="D6A93C"/>
          </a:solidFill>
          <a:ln w="0">
            <a:solidFill>
              <a:srgbClr val="D6A93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F31F4D-42D6-4196-9987-1901BE2D834E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6A93C"/>
                </a:solidFill>
              </a:defRPr>
            </a:pPr>
            <a:r>
              <a:rPr sz="1050" b="1">
                <a:solidFill>
                  <a:srgbClr val="D6A93C"/>
                </a:solidFill>
              </a:rPr>
              <a:t>HYPERTRANSFER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29DC7A-B933-4DFA-A5ED-B715016D9CBF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143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32033"/>
                </a:solidFill>
              </a:defRPr>
            </a:pPr>
            <a:r>
              <a:rPr sz="2550" b="1">
                <a:solidFill>
                  <a:srgbClr val="132033"/>
                </a:solidFill>
              </a:rPr>
              <a:t>Cross-functional swimlane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85224E-6F78-4D5E-A40F-89A1C4136E95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2095500" cy="552450"/>
          </a:xfrm>
          <a:prstGeom prst="rect">
            <a:avLst/>
          </a:prstGeom>
          <a:solidFill>
            <a:srgbClr val="152337"/>
          </a:solidFill>
          <a:ln w="9525">
            <a:solidFill>
              <a:srgbClr val="15233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C15F12-AC09-4211-8531-DEA3C74AD9A8}"/>
              </a:ext>
            </a:extLst>
          </p:cNvPr>
          <p:cNvSpPr>
            <a:spLocks noGrp="1"/>
          </p:cNvSpPr>
          <p:nvPr/>
        </p:nvSpPr>
        <p:spPr>
          <a:xfrm>
            <a:off x="723900" y="1771650"/>
            <a:ext cx="175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FD9800-973D-4230-BB64-57EFB043C1BD}"/>
              </a:ext>
            </a:extLst>
          </p:cNvPr>
          <p:cNvSpPr>
            <a:spLocks noGrp="1"/>
          </p:cNvSpPr>
          <p:nvPr/>
        </p:nvSpPr>
        <p:spPr>
          <a:xfrm>
            <a:off x="2647950" y="1581150"/>
            <a:ext cx="3000375" cy="552450"/>
          </a:xfrm>
          <a:prstGeom prst="rect">
            <a:avLst/>
          </a:prstGeom>
          <a:solidFill>
            <a:srgbClr val="152337"/>
          </a:solidFill>
          <a:ln w="9525">
            <a:solidFill>
              <a:srgbClr val="15233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0D2A1F-C7B0-4567-88A4-DC5AD8663221}"/>
              </a:ext>
            </a:extLst>
          </p:cNvPr>
          <p:cNvSpPr>
            <a:spLocks noGrp="1"/>
          </p:cNvSpPr>
          <p:nvPr/>
        </p:nvSpPr>
        <p:spPr>
          <a:xfrm>
            <a:off x="2800350" y="1676400"/>
            <a:ext cx="26955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D6A93C"/>
                </a:solidFill>
              </a:defRPr>
            </a:pPr>
            <a:r>
              <a:rPr sz="750" b="1">
                <a:solidFill>
                  <a:srgbClr val="D6A93C"/>
                </a:solidFill>
              </a:rPr>
              <a:t>PHASE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B702CB-4C70-4A3B-A62D-CF3A4EBC6C7E}"/>
              </a:ext>
            </a:extLst>
          </p:cNvPr>
          <p:cNvSpPr>
            <a:spLocks noGrp="1"/>
          </p:cNvSpPr>
          <p:nvPr/>
        </p:nvSpPr>
        <p:spPr>
          <a:xfrm>
            <a:off x="2800350" y="1838325"/>
            <a:ext cx="26955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Access Approval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D5616E-1088-40A3-8529-4F2DBF035CB2}"/>
              </a:ext>
            </a:extLst>
          </p:cNvPr>
          <p:cNvSpPr>
            <a:spLocks noGrp="1"/>
          </p:cNvSpPr>
          <p:nvPr/>
        </p:nvSpPr>
        <p:spPr>
          <a:xfrm>
            <a:off x="5648325" y="1581150"/>
            <a:ext cx="3000375" cy="552450"/>
          </a:xfrm>
          <a:prstGeom prst="rect">
            <a:avLst/>
          </a:prstGeom>
          <a:solidFill>
            <a:srgbClr val="152337"/>
          </a:solidFill>
          <a:ln w="9525">
            <a:solidFill>
              <a:srgbClr val="15233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99F1F0-0ABE-4152-BC89-206582C5A719}"/>
              </a:ext>
            </a:extLst>
          </p:cNvPr>
          <p:cNvSpPr>
            <a:spLocks noGrp="1"/>
          </p:cNvSpPr>
          <p:nvPr/>
        </p:nvSpPr>
        <p:spPr>
          <a:xfrm>
            <a:off x="5800725" y="1676400"/>
            <a:ext cx="26955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D6A93C"/>
                </a:solidFill>
              </a:defRPr>
            </a:pPr>
            <a:r>
              <a:rPr sz="750" b="1">
                <a:solidFill>
                  <a:srgbClr val="D6A93C"/>
                </a:solidFill>
              </a:rPr>
              <a:t>PHASE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B996C6-D54A-4847-B24F-1D05AFC31760}"/>
              </a:ext>
            </a:extLst>
          </p:cNvPr>
          <p:cNvSpPr>
            <a:spLocks noGrp="1"/>
          </p:cNvSpPr>
          <p:nvPr/>
        </p:nvSpPr>
        <p:spPr>
          <a:xfrm>
            <a:off x="5800725" y="1838325"/>
            <a:ext cx="26955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Secure Onboarding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0B279E-0238-4FA9-91F7-C924D82FB743}"/>
              </a:ext>
            </a:extLst>
          </p:cNvPr>
          <p:cNvSpPr>
            <a:spLocks noGrp="1"/>
          </p:cNvSpPr>
          <p:nvPr/>
        </p:nvSpPr>
        <p:spPr>
          <a:xfrm>
            <a:off x="8648700" y="1581150"/>
            <a:ext cx="3000375" cy="552450"/>
          </a:xfrm>
          <a:prstGeom prst="rect">
            <a:avLst/>
          </a:prstGeom>
          <a:solidFill>
            <a:srgbClr val="152337"/>
          </a:solidFill>
          <a:ln w="9525">
            <a:solidFill>
              <a:srgbClr val="15233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686534-45B4-438A-802F-597F17D90A24}"/>
              </a:ext>
            </a:extLst>
          </p:cNvPr>
          <p:cNvSpPr>
            <a:spLocks noGrp="1"/>
          </p:cNvSpPr>
          <p:nvPr/>
        </p:nvSpPr>
        <p:spPr>
          <a:xfrm>
            <a:off x="8801100" y="1676400"/>
            <a:ext cx="26955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D6A93C"/>
                </a:solidFill>
              </a:defRPr>
            </a:pPr>
            <a:r>
              <a:rPr sz="750" b="1">
                <a:solidFill>
                  <a:srgbClr val="D6A93C"/>
                </a:solidFill>
              </a:rPr>
              <a:t>PHASE 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BCBCCF-BC82-4CBE-A890-AF895B7CECE9}"/>
              </a:ext>
            </a:extLst>
          </p:cNvPr>
          <p:cNvSpPr>
            <a:spLocks noGrp="1"/>
          </p:cNvSpPr>
          <p:nvPr/>
        </p:nvSpPr>
        <p:spPr>
          <a:xfrm>
            <a:off x="8801100" y="1838325"/>
            <a:ext cx="26955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Deposit and Settle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0FFE94-2D27-4A5D-87A7-46008883C235}"/>
              </a:ext>
            </a:extLst>
          </p:cNvPr>
          <p:cNvSpPr>
            <a:spLocks noGrp="1"/>
          </p:cNvSpPr>
          <p:nvPr/>
        </p:nvSpPr>
        <p:spPr>
          <a:xfrm>
            <a:off x="11649075" y="1581150"/>
            <a:ext cx="3000375" cy="552450"/>
          </a:xfrm>
          <a:prstGeom prst="rect">
            <a:avLst/>
          </a:prstGeom>
          <a:solidFill>
            <a:srgbClr val="152337"/>
          </a:solidFill>
          <a:ln w="9525">
            <a:solidFill>
              <a:srgbClr val="15233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E2FD7D-3087-46FA-9D3B-2208CCF3E657}"/>
              </a:ext>
            </a:extLst>
          </p:cNvPr>
          <p:cNvSpPr>
            <a:spLocks noGrp="1"/>
          </p:cNvSpPr>
          <p:nvPr/>
        </p:nvSpPr>
        <p:spPr>
          <a:xfrm>
            <a:off x="11801475" y="1676400"/>
            <a:ext cx="26955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D6A93C"/>
                </a:solidFill>
              </a:defRPr>
            </a:pPr>
            <a:r>
              <a:rPr sz="750" b="1">
                <a:solidFill>
                  <a:srgbClr val="D6A93C"/>
                </a:solidFill>
              </a:rPr>
              <a:t>PHASE 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535DB6-6429-48B5-BD04-E33C02FCE71B}"/>
              </a:ext>
            </a:extLst>
          </p:cNvPr>
          <p:cNvSpPr>
            <a:spLocks noGrp="1"/>
          </p:cNvSpPr>
          <p:nvPr/>
        </p:nvSpPr>
        <p:spPr>
          <a:xfrm>
            <a:off x="11801475" y="1838325"/>
            <a:ext cx="26955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Refund and Return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94411C-12A7-4091-B492-19C8D0CACC51}"/>
              </a:ext>
            </a:extLst>
          </p:cNvPr>
          <p:cNvSpPr>
            <a:spLocks noGrp="1"/>
          </p:cNvSpPr>
          <p:nvPr/>
        </p:nvSpPr>
        <p:spPr>
          <a:xfrm>
            <a:off x="552450" y="2133600"/>
            <a:ext cx="2095500" cy="1200150"/>
          </a:xfrm>
          <a:prstGeom prst="rect">
            <a:avLst/>
          </a:prstGeom>
          <a:solidFill>
            <a:srgbClr val="E7F8F1"/>
          </a:solidFill>
          <a:ln w="9525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13A1E3-6A93-4E45-951C-955761E43AF8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1828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32033"/>
                </a:solidFill>
              </a:defRPr>
            </a:pPr>
            <a:r>
              <a:rPr sz="1200" b="1" dirty="0">
                <a:solidFill>
                  <a:srgbClr val="132033"/>
                </a:solidFill>
              </a:rPr>
              <a:t>Patron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5ED616-3182-46E1-90EC-13F54DF18463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1828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089"/>
                </a:solidFill>
              </a:defRPr>
            </a:pPr>
            <a:r>
              <a:rPr sz="1050" b="0" dirty="0">
                <a:solidFill>
                  <a:srgbClr val="627089"/>
                </a:solidFill>
              </a:rPr>
              <a:t>Customer action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9E4543-F9CA-40B4-BE34-8059A2FFE831}"/>
              </a:ext>
            </a:extLst>
          </p:cNvPr>
          <p:cNvSpPr>
            <a:spLocks noGrp="1"/>
          </p:cNvSpPr>
          <p:nvPr/>
        </p:nvSpPr>
        <p:spPr>
          <a:xfrm>
            <a:off x="2647950" y="2133600"/>
            <a:ext cx="3000375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B791D0-9023-46AF-8BB3-34A9D8A92086}"/>
              </a:ext>
            </a:extLst>
          </p:cNvPr>
          <p:cNvSpPr>
            <a:spLocks noGrp="1"/>
          </p:cNvSpPr>
          <p:nvPr/>
        </p:nvSpPr>
        <p:spPr>
          <a:xfrm>
            <a:off x="2762250" y="2228850"/>
            <a:ext cx="277177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132033"/>
                </a:solidFill>
              </a:defRPr>
            </a:pPr>
            <a:r>
              <a:rPr sz="825" b="0">
                <a:solidFill>
                  <a:srgbClr val="132033"/>
                </a:solidFill>
              </a:rPr>
              <a:t>—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EDC1FF-C6F9-44E9-8992-84A9B2A7DE21}"/>
              </a:ext>
            </a:extLst>
          </p:cNvPr>
          <p:cNvSpPr>
            <a:spLocks noGrp="1"/>
          </p:cNvSpPr>
          <p:nvPr/>
        </p:nvSpPr>
        <p:spPr>
          <a:xfrm>
            <a:off x="5648325" y="2133600"/>
            <a:ext cx="3000375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CN" sz="20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940A0D7-C8D5-4CED-81D1-9C403F3115C2}"/>
              </a:ext>
            </a:extLst>
          </p:cNvPr>
          <p:cNvSpPr>
            <a:spLocks noGrp="1"/>
          </p:cNvSpPr>
          <p:nvPr/>
        </p:nvSpPr>
        <p:spPr>
          <a:xfrm>
            <a:off x="5762625" y="2228850"/>
            <a:ext cx="277177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sz="1050" b="0" dirty="0">
                <a:solidFill>
                  <a:srgbClr val="132033"/>
                </a:solidFill>
              </a:rPr>
              <a:t>Enter email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sz="1050" b="0" dirty="0">
                <a:solidFill>
                  <a:srgbClr val="132033"/>
                </a:solidFill>
              </a:rPr>
              <a:t>Complete email OTP</a:t>
            </a:r>
            <a:endParaRPr lang="en-US" sz="1050" dirty="0">
              <a:solidFill>
                <a:srgbClr val="132033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lang="en-US" sz="1050" b="0" dirty="0">
                <a:solidFill>
                  <a:srgbClr val="132033"/>
                </a:solidFill>
              </a:rPr>
              <a:t>Setup 2FA</a:t>
            </a:r>
            <a:endParaRPr sz="1050" b="0" dirty="0">
              <a:solidFill>
                <a:srgbClr val="132033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sz="1050" b="0" dirty="0">
                <a:solidFill>
                  <a:srgbClr val="132033"/>
                </a:solidFill>
              </a:rPr>
              <a:t>Create account + KYC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AD7B6E-D013-4B6B-B538-4FBE121EA389}"/>
              </a:ext>
            </a:extLst>
          </p:cNvPr>
          <p:cNvSpPr>
            <a:spLocks noGrp="1"/>
          </p:cNvSpPr>
          <p:nvPr/>
        </p:nvSpPr>
        <p:spPr>
          <a:xfrm>
            <a:off x="8648700" y="2133600"/>
            <a:ext cx="3000375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C9DB77-E245-4447-A81E-E6EDC8C5438F}"/>
              </a:ext>
            </a:extLst>
          </p:cNvPr>
          <p:cNvSpPr>
            <a:spLocks noGrp="1"/>
          </p:cNvSpPr>
          <p:nvPr/>
        </p:nvSpPr>
        <p:spPr>
          <a:xfrm>
            <a:off x="8763000" y="2228850"/>
            <a:ext cx="277177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lang="en-US" sz="1050" b="0" dirty="0">
                <a:solidFill>
                  <a:srgbClr val="132033"/>
                </a:solidFill>
              </a:rPr>
              <a:t>Send Wallet for screening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sz="1050" b="0" dirty="0">
                <a:solidFill>
                  <a:srgbClr val="132033"/>
                </a:solidFill>
              </a:rPr>
              <a:t>Send 1 USDT verification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sz="1050" b="0" dirty="0">
                <a:solidFill>
                  <a:srgbClr val="132033"/>
                </a:solidFill>
              </a:rPr>
              <a:t>Send main deposit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sz="1050" b="0" dirty="0">
                <a:solidFill>
                  <a:srgbClr val="132033"/>
                </a:solidFill>
              </a:rPr>
              <a:t>Track settlement</a:t>
            </a:r>
            <a:r>
              <a:rPr lang="en-US" sz="1050" b="0" dirty="0">
                <a:solidFill>
                  <a:srgbClr val="132033"/>
                </a:solidFill>
              </a:rPr>
              <a:t> (marker ref)</a:t>
            </a:r>
            <a:endParaRPr sz="1050" b="0" dirty="0">
              <a:solidFill>
                <a:srgbClr val="132033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B91BE2E-CC29-44BB-82D2-8F6B9D477159}"/>
              </a:ext>
            </a:extLst>
          </p:cNvPr>
          <p:cNvSpPr>
            <a:spLocks noGrp="1"/>
          </p:cNvSpPr>
          <p:nvPr/>
        </p:nvSpPr>
        <p:spPr>
          <a:xfrm>
            <a:off x="11649075" y="2133600"/>
            <a:ext cx="3000375" cy="1200150"/>
          </a:xfrm>
          <a:prstGeom prst="rect">
            <a:avLst/>
          </a:prstGeom>
          <a:solidFill>
            <a:srgbClr val="FFF8F8"/>
          </a:solidFill>
          <a:ln w="9525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BF260E-C2B1-4211-A642-F5DB5D8EA455}"/>
              </a:ext>
            </a:extLst>
          </p:cNvPr>
          <p:cNvSpPr>
            <a:spLocks noGrp="1"/>
          </p:cNvSpPr>
          <p:nvPr/>
        </p:nvSpPr>
        <p:spPr>
          <a:xfrm>
            <a:off x="11763375" y="2228850"/>
            <a:ext cx="277177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sz="1050" b="0" dirty="0">
                <a:solidFill>
                  <a:srgbClr val="132033"/>
                </a:solidFill>
              </a:rPr>
              <a:t>Request refund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sz="1050" b="0" dirty="0">
                <a:solidFill>
                  <a:srgbClr val="132033"/>
                </a:solidFill>
              </a:rPr>
              <a:t>Confirm </a:t>
            </a:r>
            <a:r>
              <a:rPr lang="en-US" sz="1050" dirty="0">
                <a:solidFill>
                  <a:srgbClr val="132033"/>
                </a:solidFill>
              </a:rPr>
              <a:t>original</a:t>
            </a:r>
            <a:r>
              <a:rPr sz="1050" b="0" dirty="0">
                <a:solidFill>
                  <a:srgbClr val="132033"/>
                </a:solidFill>
              </a:rPr>
              <a:t> wallet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lang="en-US" sz="1050" dirty="0">
                <a:solidFill>
                  <a:srgbClr val="132033"/>
                </a:solidFill>
              </a:rPr>
              <a:t>Track payment status</a:t>
            </a:r>
            <a:endParaRPr sz="1050" b="0" dirty="0">
              <a:solidFill>
                <a:srgbClr val="132033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2E57F56-24DD-4189-B68E-80C54B779546}"/>
              </a:ext>
            </a:extLst>
          </p:cNvPr>
          <p:cNvSpPr>
            <a:spLocks noGrp="1"/>
          </p:cNvSpPr>
          <p:nvPr/>
        </p:nvSpPr>
        <p:spPr>
          <a:xfrm>
            <a:off x="552450" y="3333750"/>
            <a:ext cx="2095500" cy="1200150"/>
          </a:xfrm>
          <a:prstGeom prst="rect">
            <a:avLst/>
          </a:prstGeom>
          <a:solidFill>
            <a:srgbClr val="EAF2FF"/>
          </a:solidFill>
          <a:ln w="9525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6843D4E-E7EE-4AD6-BF5D-1F09433CC9EF}"/>
              </a:ext>
            </a:extLst>
          </p:cNvPr>
          <p:cNvSpPr>
            <a:spLocks noGrp="1"/>
          </p:cNvSpPr>
          <p:nvPr/>
        </p:nvSpPr>
        <p:spPr>
          <a:xfrm>
            <a:off x="685800" y="3543300"/>
            <a:ext cx="1828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32033"/>
                </a:solidFill>
              </a:defRPr>
            </a:pPr>
            <a:r>
              <a:rPr sz="1200" b="1">
                <a:solidFill>
                  <a:srgbClr val="132033"/>
                </a:solidFill>
              </a:rPr>
              <a:t>Relationship Manager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317B154-1295-4BCC-80F7-DBD56EDEB080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1828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089"/>
                </a:solidFill>
              </a:defRPr>
            </a:pPr>
            <a:r>
              <a:rPr sz="1050" b="0" dirty="0">
                <a:solidFill>
                  <a:srgbClr val="627089"/>
                </a:solidFill>
              </a:rPr>
              <a:t>Access sponsor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1996E8A-11B6-4DA5-8DB5-A2E4FA12259F}"/>
              </a:ext>
            </a:extLst>
          </p:cNvPr>
          <p:cNvSpPr>
            <a:spLocks noGrp="1"/>
          </p:cNvSpPr>
          <p:nvPr/>
        </p:nvSpPr>
        <p:spPr>
          <a:xfrm>
            <a:off x="2647950" y="3333750"/>
            <a:ext cx="3000375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79AAE9-4A88-47AA-8AEA-104611579BBF}"/>
              </a:ext>
            </a:extLst>
          </p:cNvPr>
          <p:cNvSpPr>
            <a:spLocks noGrp="1"/>
          </p:cNvSpPr>
          <p:nvPr/>
        </p:nvSpPr>
        <p:spPr>
          <a:xfrm>
            <a:off x="2762250" y="3429000"/>
            <a:ext cx="277177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sz="1050" b="0" dirty="0">
                <a:solidFill>
                  <a:srgbClr val="132033"/>
                </a:solidFill>
              </a:rPr>
              <a:t>Capture Patron details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sz="1050" b="0" dirty="0">
                <a:solidFill>
                  <a:srgbClr val="132033"/>
                </a:solidFill>
              </a:rPr>
              <a:t>Submit access request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F175D70-6BE4-4C51-8058-7BEACFFDFB34}"/>
              </a:ext>
            </a:extLst>
          </p:cNvPr>
          <p:cNvSpPr>
            <a:spLocks noGrp="1"/>
          </p:cNvSpPr>
          <p:nvPr/>
        </p:nvSpPr>
        <p:spPr>
          <a:xfrm>
            <a:off x="5648325" y="3333750"/>
            <a:ext cx="3000375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707EF78-88D7-4E7F-AEAC-0415F154C3C5}"/>
              </a:ext>
            </a:extLst>
          </p:cNvPr>
          <p:cNvSpPr>
            <a:spLocks noGrp="1"/>
          </p:cNvSpPr>
          <p:nvPr/>
        </p:nvSpPr>
        <p:spPr>
          <a:xfrm>
            <a:off x="5762625" y="3429000"/>
            <a:ext cx="277177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627089"/>
                </a:solidFill>
              </a:defRPr>
            </a:pPr>
            <a:r>
              <a:rPr sz="1050" b="0" dirty="0">
                <a:solidFill>
                  <a:srgbClr val="627089"/>
                </a:solidFill>
              </a:rPr>
              <a:t>No role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4749ABC-B930-45F3-84B3-16EAA4C0576E}"/>
              </a:ext>
            </a:extLst>
          </p:cNvPr>
          <p:cNvSpPr>
            <a:spLocks noGrp="1"/>
          </p:cNvSpPr>
          <p:nvPr/>
        </p:nvSpPr>
        <p:spPr>
          <a:xfrm>
            <a:off x="8648700" y="3333750"/>
            <a:ext cx="3000375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CN" sz="28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77B771-C8A1-4B79-9A29-338D78F5A26E}"/>
              </a:ext>
            </a:extLst>
          </p:cNvPr>
          <p:cNvSpPr>
            <a:spLocks noGrp="1"/>
          </p:cNvSpPr>
          <p:nvPr/>
        </p:nvSpPr>
        <p:spPr>
          <a:xfrm>
            <a:off x="8763000" y="3429000"/>
            <a:ext cx="277177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627089"/>
                </a:solidFill>
              </a:defRPr>
            </a:pPr>
            <a:r>
              <a:rPr sz="1050" b="0" dirty="0">
                <a:solidFill>
                  <a:srgbClr val="627089"/>
                </a:solidFill>
              </a:rPr>
              <a:t>No role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1796514-59BA-47E9-A229-12EDB396E463}"/>
              </a:ext>
            </a:extLst>
          </p:cNvPr>
          <p:cNvSpPr>
            <a:spLocks noGrp="1"/>
          </p:cNvSpPr>
          <p:nvPr/>
        </p:nvSpPr>
        <p:spPr>
          <a:xfrm>
            <a:off x="11649075" y="3333750"/>
            <a:ext cx="3000375" cy="1200150"/>
          </a:xfrm>
          <a:prstGeom prst="rect">
            <a:avLst/>
          </a:prstGeom>
          <a:solidFill>
            <a:srgbClr val="FFF8F8"/>
          </a:solidFill>
          <a:ln w="9525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CN" sz="28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CDBB0F1-9A2F-4D0D-BAE3-120C7A1A1E03}"/>
              </a:ext>
            </a:extLst>
          </p:cNvPr>
          <p:cNvSpPr>
            <a:spLocks noGrp="1"/>
          </p:cNvSpPr>
          <p:nvPr/>
        </p:nvSpPr>
        <p:spPr>
          <a:xfrm>
            <a:off x="11763375" y="3429000"/>
            <a:ext cx="277177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627089"/>
                </a:solidFill>
              </a:defRPr>
            </a:pPr>
            <a:r>
              <a:rPr sz="1050" b="0" dirty="0">
                <a:solidFill>
                  <a:srgbClr val="627089"/>
                </a:solidFill>
              </a:rPr>
              <a:t>No role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58AF86B-3AA8-497F-97FA-878CE558B530}"/>
              </a:ext>
            </a:extLst>
          </p:cNvPr>
          <p:cNvSpPr>
            <a:spLocks noGrp="1"/>
          </p:cNvSpPr>
          <p:nvPr/>
        </p:nvSpPr>
        <p:spPr>
          <a:xfrm>
            <a:off x="552450" y="4533900"/>
            <a:ext cx="2095500" cy="1200150"/>
          </a:xfrm>
          <a:prstGeom prst="rect">
            <a:avLst/>
          </a:prstGeom>
          <a:solidFill>
            <a:srgbClr val="FFF4CF"/>
          </a:solidFill>
          <a:ln w="9525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0E160F2-BC19-4439-828E-32CA6D29FB25}"/>
              </a:ext>
            </a:extLst>
          </p:cNvPr>
          <p:cNvSpPr>
            <a:spLocks noGrp="1"/>
          </p:cNvSpPr>
          <p:nvPr/>
        </p:nvSpPr>
        <p:spPr>
          <a:xfrm>
            <a:off x="685800" y="4743450"/>
            <a:ext cx="1828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32033"/>
                </a:solidFill>
              </a:defRPr>
            </a:pPr>
            <a:r>
              <a:rPr sz="1200" b="1">
                <a:solidFill>
                  <a:srgbClr val="132033"/>
                </a:solidFill>
              </a:rPr>
              <a:t>HyperTransfer Platform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3A4916C-E0B5-4802-BF5C-80F86123074C}"/>
              </a:ext>
            </a:extLst>
          </p:cNvPr>
          <p:cNvSpPr>
            <a:spLocks noGrp="1"/>
          </p:cNvSpPr>
          <p:nvPr/>
        </p:nvSpPr>
        <p:spPr>
          <a:xfrm>
            <a:off x="685800" y="5200650"/>
            <a:ext cx="1828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089"/>
                </a:solidFill>
              </a:defRPr>
            </a:pPr>
            <a:r>
              <a:rPr sz="1050" b="0">
                <a:solidFill>
                  <a:srgbClr val="627089"/>
                </a:solidFill>
              </a:rPr>
              <a:t>System orchestration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C73068A-54A9-4B21-B3E7-912321C2F7AA}"/>
              </a:ext>
            </a:extLst>
          </p:cNvPr>
          <p:cNvSpPr>
            <a:spLocks noGrp="1"/>
          </p:cNvSpPr>
          <p:nvPr/>
        </p:nvSpPr>
        <p:spPr>
          <a:xfrm>
            <a:off x="2647950" y="4533900"/>
            <a:ext cx="3000375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30D56C7-E51F-4CF2-B5CE-4EBB747D980E}"/>
              </a:ext>
            </a:extLst>
          </p:cNvPr>
          <p:cNvSpPr>
            <a:spLocks noGrp="1"/>
          </p:cNvSpPr>
          <p:nvPr/>
        </p:nvSpPr>
        <p:spPr>
          <a:xfrm>
            <a:off x="2762250" y="4629150"/>
            <a:ext cx="277177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sz="1050" b="0" dirty="0">
                <a:solidFill>
                  <a:srgbClr val="132033"/>
                </a:solidFill>
              </a:rPr>
              <a:t>Create time-limited QR/link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sz="1050" b="0" dirty="0">
                <a:solidFill>
                  <a:srgbClr val="132033"/>
                </a:solidFill>
              </a:rPr>
              <a:t>Bind to application email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sz="1050" b="0" dirty="0">
                <a:solidFill>
                  <a:srgbClr val="132033"/>
                </a:solidFill>
              </a:rPr>
              <a:t>Record audit trail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22C4DE6-3432-4DB7-9EBD-ED81091E1B4C}"/>
              </a:ext>
            </a:extLst>
          </p:cNvPr>
          <p:cNvSpPr>
            <a:spLocks noGrp="1"/>
          </p:cNvSpPr>
          <p:nvPr/>
        </p:nvSpPr>
        <p:spPr>
          <a:xfrm>
            <a:off x="5648325" y="4533900"/>
            <a:ext cx="3000375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D8A431F-1A0F-4407-90AE-2BD2CCC0D3D2}"/>
              </a:ext>
            </a:extLst>
          </p:cNvPr>
          <p:cNvSpPr>
            <a:spLocks noGrp="1"/>
          </p:cNvSpPr>
          <p:nvPr/>
        </p:nvSpPr>
        <p:spPr>
          <a:xfrm>
            <a:off x="5762625" y="4629150"/>
            <a:ext cx="277177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sz="1050" b="0" dirty="0">
                <a:solidFill>
                  <a:srgbClr val="132033"/>
                </a:solidFill>
              </a:rPr>
              <a:t>Match email to invitation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sz="1050" b="0" dirty="0">
                <a:solidFill>
                  <a:srgbClr val="132033"/>
                </a:solidFill>
              </a:rPr>
              <a:t>Send OTP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sz="1050" b="0" dirty="0">
                <a:solidFill>
                  <a:srgbClr val="132033"/>
                </a:solidFill>
              </a:rPr>
              <a:t>Gate KYC before deposits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AD070A8-B018-42E7-AB6B-9F52C997F1A5}"/>
              </a:ext>
            </a:extLst>
          </p:cNvPr>
          <p:cNvSpPr>
            <a:spLocks noGrp="1"/>
          </p:cNvSpPr>
          <p:nvPr/>
        </p:nvSpPr>
        <p:spPr>
          <a:xfrm>
            <a:off x="8648700" y="4533900"/>
            <a:ext cx="3000375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2430604-CCA3-40C7-9AA6-C9CCCCC5ECD0}"/>
              </a:ext>
            </a:extLst>
          </p:cNvPr>
          <p:cNvSpPr>
            <a:spLocks noGrp="1"/>
          </p:cNvSpPr>
          <p:nvPr/>
        </p:nvSpPr>
        <p:spPr>
          <a:xfrm>
            <a:off x="8763000" y="4629150"/>
            <a:ext cx="277177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sz="1050" b="0" dirty="0">
                <a:solidFill>
                  <a:srgbClr val="132033"/>
                </a:solidFill>
              </a:rPr>
              <a:t>Verify source wallet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sz="1050" b="0" dirty="0">
                <a:solidFill>
                  <a:srgbClr val="132033"/>
                </a:solidFill>
              </a:rPr>
              <a:t>Trigger Travel Rule at USD </a:t>
            </a:r>
            <a:r>
              <a:rPr lang="en-US" sz="1050" b="0" dirty="0">
                <a:solidFill>
                  <a:srgbClr val="132033"/>
                </a:solidFill>
              </a:rPr>
              <a:t>1</a:t>
            </a:r>
            <a:r>
              <a:rPr sz="1050" b="0" dirty="0">
                <a:solidFill>
                  <a:srgbClr val="132033"/>
                </a:solidFill>
              </a:rPr>
              <a:t>,000+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sz="1050" b="0" dirty="0">
                <a:solidFill>
                  <a:srgbClr val="132033"/>
                </a:solidFill>
              </a:rPr>
              <a:t>Track receipt and settlement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E8BA926-A63C-4D6E-8072-C977066F1945}"/>
              </a:ext>
            </a:extLst>
          </p:cNvPr>
          <p:cNvSpPr>
            <a:spLocks noGrp="1"/>
          </p:cNvSpPr>
          <p:nvPr/>
        </p:nvSpPr>
        <p:spPr>
          <a:xfrm>
            <a:off x="11649075" y="4533900"/>
            <a:ext cx="3000375" cy="1200150"/>
          </a:xfrm>
          <a:prstGeom prst="rect">
            <a:avLst/>
          </a:prstGeom>
          <a:solidFill>
            <a:srgbClr val="FFF8F8"/>
          </a:solidFill>
          <a:ln w="9525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1778B6A-D9BA-450A-936A-5DBAC7F6956B}"/>
              </a:ext>
            </a:extLst>
          </p:cNvPr>
          <p:cNvSpPr>
            <a:spLocks noGrp="1"/>
          </p:cNvSpPr>
          <p:nvPr/>
        </p:nvSpPr>
        <p:spPr>
          <a:xfrm>
            <a:off x="11763375" y="4629150"/>
            <a:ext cx="277177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lang="en-US" sz="1050" dirty="0">
                <a:solidFill>
                  <a:srgbClr val="132033"/>
                </a:solidFill>
              </a:rPr>
              <a:t>Send refund request to approver</a:t>
            </a:r>
            <a:endParaRPr lang="en-US" sz="1050" b="0" dirty="0">
              <a:solidFill>
                <a:srgbClr val="132033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sz="1050" b="0" dirty="0">
                <a:solidFill>
                  <a:srgbClr val="132033"/>
                </a:solidFill>
              </a:rPr>
              <a:t>Show verified wallet only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sz="1050" b="0" dirty="0">
                <a:solidFill>
                  <a:srgbClr val="132033"/>
                </a:solidFill>
              </a:rPr>
              <a:t>Check refund eligibility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sz="1050" b="0" dirty="0">
                <a:solidFill>
                  <a:srgbClr val="132033"/>
                </a:solidFill>
              </a:rPr>
              <a:t>Re-screen wallet</a:t>
            </a:r>
            <a:endParaRPr lang="en-US" sz="1050" b="0" dirty="0">
              <a:solidFill>
                <a:srgbClr val="132033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lang="en-CN" sz="1050" dirty="0">
                <a:solidFill>
                  <a:srgbClr val="132033"/>
                </a:solidFill>
              </a:rPr>
              <a:t>Initiate transfer</a:t>
            </a:r>
            <a:endParaRPr sz="1050" b="0" dirty="0">
              <a:solidFill>
                <a:srgbClr val="132033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200BAEE-7C25-4783-84C5-C2E349405026}"/>
              </a:ext>
            </a:extLst>
          </p:cNvPr>
          <p:cNvSpPr>
            <a:spLocks noGrp="1"/>
          </p:cNvSpPr>
          <p:nvPr/>
        </p:nvSpPr>
        <p:spPr>
          <a:xfrm>
            <a:off x="552450" y="5734050"/>
            <a:ext cx="2095500" cy="1200150"/>
          </a:xfrm>
          <a:prstGeom prst="rect">
            <a:avLst/>
          </a:prstGeom>
          <a:solidFill>
            <a:srgbClr val="FFF0F1"/>
          </a:solidFill>
          <a:ln w="9525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84F9D94-A4A8-44AB-88EF-968DFB15A651}"/>
              </a:ext>
            </a:extLst>
          </p:cNvPr>
          <p:cNvSpPr>
            <a:spLocks noGrp="1"/>
          </p:cNvSpPr>
          <p:nvPr/>
        </p:nvSpPr>
        <p:spPr>
          <a:xfrm>
            <a:off x="685800" y="5943600"/>
            <a:ext cx="1828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32033"/>
                </a:solidFill>
              </a:defRPr>
            </a:pPr>
            <a:r>
              <a:rPr sz="1200" b="1" dirty="0">
                <a:solidFill>
                  <a:srgbClr val="132033"/>
                </a:solidFill>
              </a:rPr>
              <a:t>Intl. Marketing / Compliance</a:t>
            </a:r>
            <a:r>
              <a:rPr lang="en-US" sz="1200" b="1" dirty="0">
                <a:solidFill>
                  <a:srgbClr val="132033"/>
                </a:solidFill>
              </a:rPr>
              <a:t> / Ops</a:t>
            </a:r>
            <a:endParaRPr sz="1200" b="1" dirty="0">
              <a:solidFill>
                <a:srgbClr val="132033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6B30333-C728-4AB5-BF5D-50E0953A0678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828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089"/>
                </a:solidFill>
              </a:defRPr>
            </a:pPr>
            <a:r>
              <a:rPr sz="1050" b="0">
                <a:solidFill>
                  <a:srgbClr val="627089"/>
                </a:solidFill>
              </a:rPr>
              <a:t>Human review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A552E06-AF78-4EF1-89EF-B9C63B423C70}"/>
              </a:ext>
            </a:extLst>
          </p:cNvPr>
          <p:cNvSpPr>
            <a:spLocks noGrp="1"/>
          </p:cNvSpPr>
          <p:nvPr/>
        </p:nvSpPr>
        <p:spPr>
          <a:xfrm>
            <a:off x="2647950" y="5734050"/>
            <a:ext cx="3000375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7B5E542-72CE-4BEB-88ED-D03A4CB98AF8}"/>
              </a:ext>
            </a:extLst>
          </p:cNvPr>
          <p:cNvSpPr>
            <a:spLocks noGrp="1"/>
          </p:cNvSpPr>
          <p:nvPr/>
        </p:nvSpPr>
        <p:spPr>
          <a:xfrm>
            <a:off x="2762250" y="5829300"/>
            <a:ext cx="277177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lang="en-US" sz="1050" b="0" dirty="0">
                <a:solidFill>
                  <a:srgbClr val="132033"/>
                </a:solidFill>
              </a:rPr>
              <a:t>Check membership status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sz="1050" b="0" dirty="0">
                <a:solidFill>
                  <a:srgbClr val="132033"/>
                </a:solidFill>
              </a:rPr>
              <a:t>Approve access request</a:t>
            </a:r>
            <a:endParaRPr lang="en-US" sz="1050" b="0" dirty="0">
              <a:solidFill>
                <a:srgbClr val="132033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endParaRPr sz="1050" b="0" dirty="0">
              <a:solidFill>
                <a:srgbClr val="132033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C2883DF-A652-4843-8B83-42C5D7AD3E5C}"/>
              </a:ext>
            </a:extLst>
          </p:cNvPr>
          <p:cNvSpPr>
            <a:spLocks noGrp="1"/>
          </p:cNvSpPr>
          <p:nvPr/>
        </p:nvSpPr>
        <p:spPr>
          <a:xfrm>
            <a:off x="5648325" y="5734050"/>
            <a:ext cx="3000375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5619C8E-99E9-48B8-95EB-CCD733C05848}"/>
              </a:ext>
            </a:extLst>
          </p:cNvPr>
          <p:cNvSpPr>
            <a:spLocks noGrp="1"/>
          </p:cNvSpPr>
          <p:nvPr/>
        </p:nvSpPr>
        <p:spPr>
          <a:xfrm>
            <a:off x="5762625" y="5829300"/>
            <a:ext cx="277177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sz="1050" b="0" dirty="0">
                <a:solidFill>
                  <a:srgbClr val="132033"/>
                </a:solidFill>
              </a:rPr>
              <a:t>Review KYC exceptions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6942386-7817-4AEA-B1EF-79E7CD832CF5}"/>
              </a:ext>
            </a:extLst>
          </p:cNvPr>
          <p:cNvSpPr>
            <a:spLocks noGrp="1"/>
          </p:cNvSpPr>
          <p:nvPr/>
        </p:nvSpPr>
        <p:spPr>
          <a:xfrm>
            <a:off x="8648700" y="5734050"/>
            <a:ext cx="3000375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2439DFA-17D3-4245-AF9D-37684C91A617}"/>
              </a:ext>
            </a:extLst>
          </p:cNvPr>
          <p:cNvSpPr>
            <a:spLocks noGrp="1"/>
          </p:cNvSpPr>
          <p:nvPr/>
        </p:nvSpPr>
        <p:spPr>
          <a:xfrm>
            <a:off x="8763000" y="5829300"/>
            <a:ext cx="277177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  <a:defRPr sz="825" b="0">
                <a:solidFill>
                  <a:srgbClr val="627089"/>
                </a:solidFill>
              </a:defRPr>
            </a:pPr>
            <a:r>
              <a:rPr lang="en-US" sz="1050" dirty="0"/>
              <a:t>Move Fund to Treasury Vault</a:t>
            </a:r>
            <a:endParaRPr sz="105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38070E-8CA0-4D45-B082-F98C340A5882}"/>
              </a:ext>
            </a:extLst>
          </p:cNvPr>
          <p:cNvSpPr>
            <a:spLocks noGrp="1"/>
          </p:cNvSpPr>
          <p:nvPr/>
        </p:nvSpPr>
        <p:spPr>
          <a:xfrm>
            <a:off x="11649075" y="5734050"/>
            <a:ext cx="3000375" cy="1200150"/>
          </a:xfrm>
          <a:prstGeom prst="rect">
            <a:avLst/>
          </a:prstGeom>
          <a:solidFill>
            <a:srgbClr val="FFF8F8"/>
          </a:solidFill>
          <a:ln w="9525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D072A22-B87F-401E-A41F-749EFF7C8661}"/>
              </a:ext>
            </a:extLst>
          </p:cNvPr>
          <p:cNvSpPr>
            <a:spLocks noGrp="1"/>
          </p:cNvSpPr>
          <p:nvPr/>
        </p:nvSpPr>
        <p:spPr>
          <a:xfrm>
            <a:off x="11763375" y="5829300"/>
            <a:ext cx="277177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lang="en-US" sz="1050" b="0" dirty="0">
                <a:solidFill>
                  <a:srgbClr val="132033"/>
                </a:solidFill>
              </a:rPr>
              <a:t>Refund </a:t>
            </a:r>
            <a:r>
              <a:rPr sz="1050" b="0" dirty="0">
                <a:solidFill>
                  <a:srgbClr val="132033"/>
                </a:solidFill>
              </a:rPr>
              <a:t>approves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sz="1050" b="0" dirty="0">
                <a:solidFill>
                  <a:srgbClr val="132033"/>
                </a:solidFill>
              </a:rPr>
              <a:t>Compliance clears risk alerts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8D54558-0D12-4136-8D16-16F95082ED8E}"/>
              </a:ext>
            </a:extLst>
          </p:cNvPr>
          <p:cNvSpPr>
            <a:spLocks noGrp="1"/>
          </p:cNvSpPr>
          <p:nvPr/>
        </p:nvSpPr>
        <p:spPr>
          <a:xfrm>
            <a:off x="552450" y="6934200"/>
            <a:ext cx="2095500" cy="1200150"/>
          </a:xfrm>
          <a:prstGeom prst="rect">
            <a:avLst/>
          </a:prstGeom>
          <a:solidFill>
            <a:srgbClr val="F0EDFF"/>
          </a:solidFill>
          <a:ln w="9525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09ED297-A9E0-434A-9948-AEBB7FED6726}"/>
              </a:ext>
            </a:extLst>
          </p:cNvPr>
          <p:cNvSpPr>
            <a:spLocks noGrp="1"/>
          </p:cNvSpPr>
          <p:nvPr/>
        </p:nvSpPr>
        <p:spPr>
          <a:xfrm>
            <a:off x="685800" y="7143750"/>
            <a:ext cx="1828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32033"/>
                </a:solidFill>
              </a:defRPr>
            </a:pPr>
            <a:r>
              <a:rPr sz="1200" b="1">
                <a:solidFill>
                  <a:srgbClr val="132033"/>
                </a:solidFill>
              </a:rPr>
              <a:t>Custodian / Finance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35F9224-24D9-4DC2-8470-E653D21B282F}"/>
              </a:ext>
            </a:extLst>
          </p:cNvPr>
          <p:cNvSpPr>
            <a:spLocks noGrp="1"/>
          </p:cNvSpPr>
          <p:nvPr/>
        </p:nvSpPr>
        <p:spPr>
          <a:xfrm>
            <a:off x="685800" y="7600950"/>
            <a:ext cx="1828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089"/>
                </a:solidFill>
              </a:defRPr>
            </a:pPr>
            <a:r>
              <a:rPr sz="1050" b="0">
                <a:solidFill>
                  <a:srgbClr val="627089"/>
                </a:solidFill>
              </a:rPr>
              <a:t>Asset control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0DE98E7-F22D-486A-A707-43F56AC8379C}"/>
              </a:ext>
            </a:extLst>
          </p:cNvPr>
          <p:cNvSpPr>
            <a:spLocks noGrp="1"/>
          </p:cNvSpPr>
          <p:nvPr/>
        </p:nvSpPr>
        <p:spPr>
          <a:xfrm>
            <a:off x="2647950" y="6934200"/>
            <a:ext cx="3000375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430CCB1-C871-49E7-938C-E91B2BC08AF1}"/>
              </a:ext>
            </a:extLst>
          </p:cNvPr>
          <p:cNvSpPr>
            <a:spLocks noGrp="1"/>
          </p:cNvSpPr>
          <p:nvPr/>
        </p:nvSpPr>
        <p:spPr>
          <a:xfrm>
            <a:off x="2762250" y="7029450"/>
            <a:ext cx="277177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627089"/>
                </a:solidFill>
              </a:defRPr>
            </a:pPr>
            <a:r>
              <a:rPr sz="1050" b="0" dirty="0">
                <a:solidFill>
                  <a:srgbClr val="627089"/>
                </a:solidFill>
              </a:rPr>
              <a:t>No role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BDAA448-940F-4463-A766-EC3AFAFABD2E}"/>
              </a:ext>
            </a:extLst>
          </p:cNvPr>
          <p:cNvSpPr>
            <a:spLocks noGrp="1"/>
          </p:cNvSpPr>
          <p:nvPr/>
        </p:nvSpPr>
        <p:spPr>
          <a:xfrm>
            <a:off x="5648325" y="6934200"/>
            <a:ext cx="3000375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7799B9E-C656-44C8-A839-9BCD47ECC97E}"/>
              </a:ext>
            </a:extLst>
          </p:cNvPr>
          <p:cNvSpPr>
            <a:spLocks noGrp="1"/>
          </p:cNvSpPr>
          <p:nvPr/>
        </p:nvSpPr>
        <p:spPr>
          <a:xfrm>
            <a:off x="5762625" y="7029450"/>
            <a:ext cx="277177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627089"/>
                </a:solidFill>
              </a:defRPr>
            </a:pPr>
            <a:r>
              <a:rPr lang="en-US" sz="1050" b="0" dirty="0"/>
              <a:t>Wallet Screening</a:t>
            </a:r>
            <a:endParaRPr sz="1050" b="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1EAED38-02CE-4C51-8005-7B82B3F1706E}"/>
              </a:ext>
            </a:extLst>
          </p:cNvPr>
          <p:cNvSpPr>
            <a:spLocks noGrp="1"/>
          </p:cNvSpPr>
          <p:nvPr/>
        </p:nvSpPr>
        <p:spPr>
          <a:xfrm>
            <a:off x="8648700" y="6934200"/>
            <a:ext cx="3000375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9A8337A-DA2F-4D0A-B935-FC9E0BAE7C32}"/>
              </a:ext>
            </a:extLst>
          </p:cNvPr>
          <p:cNvSpPr>
            <a:spLocks noGrp="1"/>
          </p:cNvSpPr>
          <p:nvPr/>
        </p:nvSpPr>
        <p:spPr>
          <a:xfrm>
            <a:off x="8763000" y="7029450"/>
            <a:ext cx="277177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lang="en-US" sz="1050" b="0" dirty="0">
                <a:solidFill>
                  <a:srgbClr val="132033"/>
                </a:solidFill>
              </a:rPr>
              <a:t>API</a:t>
            </a:r>
            <a:r>
              <a:rPr sz="1050" b="0" dirty="0">
                <a:solidFill>
                  <a:srgbClr val="132033"/>
                </a:solidFill>
              </a:rPr>
              <a:t> confirms receipt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1D29B52-54F2-446E-B89E-60F6B3D3B8EA}"/>
              </a:ext>
            </a:extLst>
          </p:cNvPr>
          <p:cNvSpPr>
            <a:spLocks noGrp="1"/>
          </p:cNvSpPr>
          <p:nvPr/>
        </p:nvSpPr>
        <p:spPr>
          <a:xfrm>
            <a:off x="11649075" y="6934200"/>
            <a:ext cx="3000375" cy="1200150"/>
          </a:xfrm>
          <a:prstGeom prst="rect">
            <a:avLst/>
          </a:prstGeom>
          <a:solidFill>
            <a:srgbClr val="FFF8F8"/>
          </a:solidFill>
          <a:ln w="9525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F8D9380-647D-4616-A4B5-B4DFAB659CB7}"/>
              </a:ext>
            </a:extLst>
          </p:cNvPr>
          <p:cNvSpPr>
            <a:spLocks noGrp="1"/>
          </p:cNvSpPr>
          <p:nvPr/>
        </p:nvSpPr>
        <p:spPr>
          <a:xfrm>
            <a:off x="11763375" y="7029450"/>
            <a:ext cx="277177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lang="en-US" sz="1050" b="0" dirty="0">
                <a:solidFill>
                  <a:srgbClr val="132033"/>
                </a:solidFill>
              </a:rPr>
              <a:t>Send payment as per instruction</a:t>
            </a:r>
          </a:p>
          <a:p>
            <a:pPr marL="171450" indent="-171450">
              <a:buFont typeface="Arial" panose="020B0604020202020204" pitchFamily="34" charset="0"/>
              <a:buChar char="•"/>
              <a:defRPr sz="825" b="0">
                <a:solidFill>
                  <a:srgbClr val="132033"/>
                </a:solidFill>
              </a:defRPr>
            </a:pPr>
            <a:r>
              <a:rPr lang="en-US" sz="1050" dirty="0">
                <a:solidFill>
                  <a:srgbClr val="132033"/>
                </a:solidFill>
              </a:rPr>
              <a:t>Move fund between vault as per instruction</a:t>
            </a:r>
          </a:p>
        </p:txBody>
      </p:sp>
    </p:spTree>
    <p:extLst>
      <p:ext uri="{BB962C8B-B14F-4D97-AF65-F5344CB8AC3E}">
        <p14:creationId xmlns:p14="http://schemas.microsoft.com/office/powerpoint/2010/main" val="65904376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435</Words>
  <Application>Microsoft Macintosh PowerPoint</Application>
  <DocSecurity>0</DocSecurity>
  <PresentationFormat>Custom</PresentationFormat>
  <Paragraphs>118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ChatGPT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</cp:lastModifiedBy>
  <cp:revision>2</cp:revision>
  <dcterms:created xsi:type="dcterms:W3CDTF">2026-06-22T15:25:43Z</dcterms:created>
  <dcterms:modified xsi:type="dcterms:W3CDTF">2026-06-23T03:30:34Z</dcterms:modified>
</cp:coreProperties>
</file>